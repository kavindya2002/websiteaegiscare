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5" r:id="rId8"/>
    <p:sldId id="262" r:id="rId9"/>
    <p:sldId id="263" r:id="rId10"/>
    <p:sldId id="264"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234" autoAdjust="0"/>
  </p:normalViewPr>
  <p:slideViewPr>
    <p:cSldViewPr snapToGrid="0" snapToObjects="1">
      <p:cViewPr varScale="1">
        <p:scale>
          <a:sx n="61" d="100"/>
          <a:sy n="61" d="100"/>
        </p:scale>
        <p:origin x="1493" y="5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7954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048438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a:effectLst/>
      </p:bgPr>
    </p:bg>
    <p:spTree>
      <p:nvGrpSpPr>
        <p:cNvPr id="1" name=""/>
        <p:cNvGrpSpPr/>
        <p:nvPr/>
      </p:nvGrpSpPr>
      <p:grpSpPr>
        <a:xfrm>
          <a:off x="0" y="0"/>
          <a:ext cx="0" cy="0"/>
          <a:chOff x="0" y="0"/>
          <a:chExt cx="0" cy="0"/>
        </a:xfrm>
      </p:grpSpPr>
      <p:sp>
        <p:nvSpPr>
          <p:cNvPr id="2" name="Text 0"/>
          <p:cNvSpPr/>
          <p:nvPr/>
        </p:nvSpPr>
        <p:spPr>
          <a:xfrm>
            <a:off x="822960" y="914400"/>
            <a:ext cx="10515600" cy="9144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AegisCare</a:t>
            </a:r>
            <a:endParaRPr lang="en-US" sz="4400" dirty="0"/>
          </a:p>
        </p:txBody>
      </p:sp>
      <p:sp>
        <p:nvSpPr>
          <p:cNvPr id="3" name="Text 1"/>
          <p:cNvSpPr/>
          <p:nvPr/>
        </p:nvSpPr>
        <p:spPr>
          <a:xfrm>
            <a:off x="822960" y="1600200"/>
            <a:ext cx="8686800" cy="1188720"/>
          </a:xfrm>
          <a:prstGeom prst="rect">
            <a:avLst/>
          </a:prstGeom>
          <a:noFill/>
          <a:ln/>
        </p:spPr>
        <p:txBody>
          <a:bodyPr wrap="square" lIns="0" tIns="0" rIns="0" bIns="0" rtlCol="0" anchor="ctr"/>
          <a:lstStyle/>
          <a:p>
            <a:pPr marL="0" indent="0">
              <a:lnSpc>
                <a:spcPct val="110000"/>
              </a:lnSpc>
              <a:buNone/>
            </a:pPr>
            <a:r>
              <a:rPr lang="en-US" sz="2400" dirty="0">
                <a:solidFill>
                  <a:srgbClr val="93A3B0"/>
                </a:solidFill>
                <a:latin typeface="Calibri" pitchFamily="34" charset="0"/>
                <a:ea typeface="Calibri" pitchFamily="34" charset="-122"/>
                <a:cs typeface="Calibri" pitchFamily="34" charset="-120"/>
              </a:rPr>
              <a:t>Multimodal Intelligent Fall Monitoring</a:t>
            </a:r>
            <a:endParaRPr lang="en-US" sz="2400" dirty="0"/>
          </a:p>
          <a:p>
            <a:pPr marL="0" indent="0">
              <a:lnSpc>
                <a:spcPct val="110000"/>
              </a:lnSpc>
              <a:buNone/>
            </a:pPr>
            <a:r>
              <a:rPr lang="en-US" sz="2400" dirty="0">
                <a:solidFill>
                  <a:srgbClr val="93A3B0"/>
                </a:solidFill>
                <a:latin typeface="Calibri" pitchFamily="34" charset="0"/>
                <a:ea typeface="Calibri" pitchFamily="34" charset="-122"/>
                <a:cs typeface="Calibri" pitchFamily="34" charset="-120"/>
              </a:rPr>
              <a:t>System for Elderly Care</a:t>
            </a:r>
            <a:endParaRPr lang="en-US" sz="2400" dirty="0"/>
          </a:p>
        </p:txBody>
      </p:sp>
      <p:sp>
        <p:nvSpPr>
          <p:cNvPr id="4" name="Text 2"/>
          <p:cNvSpPr/>
          <p:nvPr/>
        </p:nvSpPr>
        <p:spPr>
          <a:xfrm>
            <a:off x="822960" y="2880360"/>
            <a:ext cx="8686800" cy="320040"/>
          </a:xfrm>
          <a:prstGeom prst="rect">
            <a:avLst/>
          </a:prstGeom>
          <a:noFill/>
          <a:ln/>
        </p:spPr>
        <p:txBody>
          <a:bodyPr wrap="square" lIns="0" tIns="0" rIns="0" bIns="0" rtlCol="0" anchor="ctr"/>
          <a:lstStyle/>
          <a:p>
            <a:pPr marL="0" indent="0">
              <a:buNone/>
            </a:pPr>
            <a:r>
              <a:rPr lang="en-US" sz="1300" dirty="0">
                <a:solidFill>
                  <a:srgbClr val="00C2D1"/>
                </a:solidFill>
                <a:latin typeface="Calibri" pitchFamily="34" charset="0"/>
                <a:ea typeface="Calibri" pitchFamily="34" charset="-122"/>
                <a:cs typeface="Calibri" pitchFamily="34" charset="-120"/>
              </a:rPr>
              <a:t>Progress Presentation 2  •  Project ID: R26_IT_051</a:t>
            </a:r>
            <a:endParaRPr lang="en-US" sz="1300" dirty="0"/>
          </a:p>
        </p:txBody>
      </p:sp>
      <p:sp>
        <p:nvSpPr>
          <p:cNvPr id="5" name="Text 3"/>
          <p:cNvSpPr/>
          <p:nvPr/>
        </p:nvSpPr>
        <p:spPr>
          <a:xfrm>
            <a:off x="822960" y="3246120"/>
            <a:ext cx="8686800" cy="320040"/>
          </a:xfrm>
          <a:prstGeom prst="rect">
            <a:avLst/>
          </a:prstGeom>
          <a:noFill/>
          <a:ln/>
        </p:spPr>
        <p:txBody>
          <a:bodyPr wrap="square" lIns="0" tIns="0" rIns="0" bIns="0" rtlCol="0" anchor="ctr"/>
          <a:lstStyle/>
          <a:p>
            <a:pPr marL="0" indent="0">
              <a:buNone/>
            </a:pPr>
            <a:r>
              <a:rPr lang="en-US" sz="1300" dirty="0">
                <a:solidFill>
                  <a:srgbClr val="93A3B0"/>
                </a:solidFill>
                <a:latin typeface="Calibri" pitchFamily="34" charset="0"/>
                <a:ea typeface="Calibri" pitchFamily="34" charset="-122"/>
                <a:cs typeface="Calibri" pitchFamily="34" charset="-120"/>
              </a:rPr>
              <a:t>B.Sc. (Hons) Degree in Information Technology</a:t>
            </a:r>
            <a:endParaRPr lang="en-US" sz="1300" dirty="0"/>
          </a:p>
        </p:txBody>
      </p:sp>
      <p:sp>
        <p:nvSpPr>
          <p:cNvPr id="6" name="Shape 4"/>
          <p:cNvSpPr/>
          <p:nvPr/>
        </p:nvSpPr>
        <p:spPr>
          <a:xfrm>
            <a:off x="822960" y="4206240"/>
            <a:ext cx="2286000" cy="1005840"/>
          </a:xfrm>
          <a:prstGeom prst="roundRect">
            <a:avLst>
              <a:gd name="adj" fmla="val 7273"/>
            </a:avLst>
          </a:prstGeom>
          <a:solidFill>
            <a:srgbClr val="132A44"/>
          </a:solidFill>
          <a:ln/>
        </p:spPr>
      </p:sp>
      <p:sp>
        <p:nvSpPr>
          <p:cNvPr id="7" name="Text 5"/>
          <p:cNvSpPr/>
          <p:nvPr/>
        </p:nvSpPr>
        <p:spPr>
          <a:xfrm>
            <a:off x="822960" y="4370832"/>
            <a:ext cx="22860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Activity</a:t>
            </a:r>
            <a:endParaRPr lang="en-US" sz="1300" dirty="0"/>
          </a:p>
        </p:txBody>
      </p:sp>
      <p:sp>
        <p:nvSpPr>
          <p:cNvPr id="8" name="Text 6"/>
          <p:cNvSpPr/>
          <p:nvPr/>
        </p:nvSpPr>
        <p:spPr>
          <a:xfrm>
            <a:off x="822960" y="4709160"/>
            <a:ext cx="2286000" cy="320040"/>
          </a:xfrm>
          <a:prstGeom prst="rect">
            <a:avLst/>
          </a:prstGeom>
          <a:noFill/>
          <a:ln/>
        </p:spPr>
        <p:txBody>
          <a:bodyPr wrap="square" lIns="0" tIns="0" rIns="0" bIns="0" rtlCol="0" anchor="ctr"/>
          <a:lstStyle/>
          <a:p>
            <a:pPr marL="0" indent="0" algn="ctr">
              <a:buNone/>
            </a:pPr>
            <a:r>
              <a:rPr lang="en-US" sz="1100" dirty="0">
                <a:solidFill>
                  <a:srgbClr val="00C2D1"/>
                </a:solidFill>
                <a:latin typeface="Calibri" pitchFamily="34" charset="0"/>
                <a:ea typeface="Calibri" pitchFamily="34" charset="-122"/>
                <a:cs typeface="Calibri" pitchFamily="34" charset="-120"/>
              </a:rPr>
              <a:t>Recognition</a:t>
            </a:r>
            <a:endParaRPr lang="en-US" sz="1100" dirty="0"/>
          </a:p>
        </p:txBody>
      </p:sp>
      <p:sp>
        <p:nvSpPr>
          <p:cNvPr id="9" name="Shape 7"/>
          <p:cNvSpPr/>
          <p:nvPr/>
        </p:nvSpPr>
        <p:spPr>
          <a:xfrm>
            <a:off x="3337560" y="4206240"/>
            <a:ext cx="2286000" cy="1005840"/>
          </a:xfrm>
          <a:prstGeom prst="roundRect">
            <a:avLst>
              <a:gd name="adj" fmla="val 7273"/>
            </a:avLst>
          </a:prstGeom>
          <a:solidFill>
            <a:srgbClr val="132A44"/>
          </a:solidFill>
          <a:ln/>
        </p:spPr>
      </p:sp>
      <p:sp>
        <p:nvSpPr>
          <p:cNvPr id="10" name="Text 8"/>
          <p:cNvSpPr/>
          <p:nvPr/>
        </p:nvSpPr>
        <p:spPr>
          <a:xfrm>
            <a:off x="3337560" y="4370832"/>
            <a:ext cx="22860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Environmental</a:t>
            </a:r>
            <a:endParaRPr lang="en-US" sz="1300" dirty="0"/>
          </a:p>
        </p:txBody>
      </p:sp>
      <p:sp>
        <p:nvSpPr>
          <p:cNvPr id="11" name="Text 9"/>
          <p:cNvSpPr/>
          <p:nvPr/>
        </p:nvSpPr>
        <p:spPr>
          <a:xfrm>
            <a:off x="3337560" y="4709160"/>
            <a:ext cx="2286000" cy="320040"/>
          </a:xfrm>
          <a:prstGeom prst="rect">
            <a:avLst/>
          </a:prstGeom>
          <a:noFill/>
          <a:ln/>
        </p:spPr>
        <p:txBody>
          <a:bodyPr wrap="square" lIns="0" tIns="0" rIns="0" bIns="0" rtlCol="0" anchor="ctr"/>
          <a:lstStyle/>
          <a:p>
            <a:pPr marL="0" indent="0" algn="ctr">
              <a:buNone/>
            </a:pPr>
            <a:r>
              <a:rPr lang="en-US" sz="1100" dirty="0">
                <a:solidFill>
                  <a:srgbClr val="00C2D1"/>
                </a:solidFill>
                <a:latin typeface="Calibri" pitchFamily="34" charset="0"/>
                <a:ea typeface="Calibri" pitchFamily="34" charset="-122"/>
                <a:cs typeface="Calibri" pitchFamily="34" charset="-120"/>
              </a:rPr>
              <a:t>Risk Mapping</a:t>
            </a:r>
            <a:endParaRPr lang="en-US" sz="1100" dirty="0"/>
          </a:p>
        </p:txBody>
      </p:sp>
      <p:sp>
        <p:nvSpPr>
          <p:cNvPr id="12" name="Shape 10"/>
          <p:cNvSpPr/>
          <p:nvPr/>
        </p:nvSpPr>
        <p:spPr>
          <a:xfrm>
            <a:off x="5852160" y="4206240"/>
            <a:ext cx="2286000" cy="1005840"/>
          </a:xfrm>
          <a:prstGeom prst="roundRect">
            <a:avLst>
              <a:gd name="adj" fmla="val 7273"/>
            </a:avLst>
          </a:prstGeom>
          <a:solidFill>
            <a:srgbClr val="132A44"/>
          </a:solidFill>
          <a:ln/>
        </p:spPr>
      </p:sp>
      <p:sp>
        <p:nvSpPr>
          <p:cNvPr id="13" name="Text 11"/>
          <p:cNvSpPr/>
          <p:nvPr/>
        </p:nvSpPr>
        <p:spPr>
          <a:xfrm>
            <a:off x="5852160" y="4370832"/>
            <a:ext cx="22860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BioSignal</a:t>
            </a:r>
            <a:endParaRPr lang="en-US" sz="1300" dirty="0"/>
          </a:p>
        </p:txBody>
      </p:sp>
      <p:sp>
        <p:nvSpPr>
          <p:cNvPr id="14" name="Text 12"/>
          <p:cNvSpPr/>
          <p:nvPr/>
        </p:nvSpPr>
        <p:spPr>
          <a:xfrm>
            <a:off x="5852160" y="4709160"/>
            <a:ext cx="2286000" cy="320040"/>
          </a:xfrm>
          <a:prstGeom prst="rect">
            <a:avLst/>
          </a:prstGeom>
          <a:noFill/>
          <a:ln/>
        </p:spPr>
        <p:txBody>
          <a:bodyPr wrap="square" lIns="0" tIns="0" rIns="0" bIns="0" rtlCol="0" anchor="ctr"/>
          <a:lstStyle/>
          <a:p>
            <a:pPr marL="0" indent="0" algn="ctr">
              <a:buNone/>
            </a:pPr>
            <a:r>
              <a:rPr lang="en-US" sz="1100" dirty="0">
                <a:solidFill>
                  <a:srgbClr val="00C2D1"/>
                </a:solidFill>
                <a:latin typeface="Calibri" pitchFamily="34" charset="0"/>
                <a:ea typeface="Calibri" pitchFamily="34" charset="-122"/>
                <a:cs typeface="Calibri" pitchFamily="34" charset="-120"/>
              </a:rPr>
              <a:t>Prediction</a:t>
            </a:r>
            <a:endParaRPr lang="en-US" sz="1100" dirty="0"/>
          </a:p>
        </p:txBody>
      </p:sp>
      <p:sp>
        <p:nvSpPr>
          <p:cNvPr id="15" name="Shape 13"/>
          <p:cNvSpPr/>
          <p:nvPr/>
        </p:nvSpPr>
        <p:spPr>
          <a:xfrm>
            <a:off x="8366760" y="4206240"/>
            <a:ext cx="2286000" cy="1005840"/>
          </a:xfrm>
          <a:prstGeom prst="roundRect">
            <a:avLst>
              <a:gd name="adj" fmla="val 7273"/>
            </a:avLst>
          </a:prstGeom>
          <a:solidFill>
            <a:srgbClr val="132A44"/>
          </a:solidFill>
          <a:ln/>
        </p:spPr>
      </p:sp>
      <p:sp>
        <p:nvSpPr>
          <p:cNvPr id="16" name="Text 14"/>
          <p:cNvSpPr/>
          <p:nvPr/>
        </p:nvSpPr>
        <p:spPr>
          <a:xfrm>
            <a:off x="8366760" y="4370832"/>
            <a:ext cx="22860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Adaptive</a:t>
            </a:r>
            <a:endParaRPr lang="en-US" sz="1300" dirty="0"/>
          </a:p>
        </p:txBody>
      </p:sp>
      <p:sp>
        <p:nvSpPr>
          <p:cNvPr id="17" name="Text 15"/>
          <p:cNvSpPr/>
          <p:nvPr/>
        </p:nvSpPr>
        <p:spPr>
          <a:xfrm>
            <a:off x="8366760" y="4709160"/>
            <a:ext cx="2286000" cy="320040"/>
          </a:xfrm>
          <a:prstGeom prst="rect">
            <a:avLst/>
          </a:prstGeom>
          <a:noFill/>
          <a:ln/>
        </p:spPr>
        <p:txBody>
          <a:bodyPr wrap="square" lIns="0" tIns="0" rIns="0" bIns="0" rtlCol="0" anchor="ctr"/>
          <a:lstStyle/>
          <a:p>
            <a:pPr marL="0" indent="0" algn="ctr">
              <a:buNone/>
            </a:pPr>
            <a:r>
              <a:rPr lang="en-US" sz="1100" dirty="0">
                <a:solidFill>
                  <a:srgbClr val="00C2D1"/>
                </a:solidFill>
                <a:latin typeface="Calibri" pitchFamily="34" charset="0"/>
                <a:ea typeface="Calibri" pitchFamily="34" charset="-122"/>
                <a:cs typeface="Calibri" pitchFamily="34" charset="-120"/>
              </a:rPr>
              <a:t>Alerts</a:t>
            </a:r>
            <a:endParaRPr lang="en-US" sz="1100" dirty="0"/>
          </a:p>
        </p:txBody>
      </p:sp>
      <p:sp>
        <p:nvSpPr>
          <p:cNvPr id="18" name="Text 16"/>
          <p:cNvSpPr/>
          <p:nvPr/>
        </p:nvSpPr>
        <p:spPr>
          <a:xfrm>
            <a:off x="457200" y="6492240"/>
            <a:ext cx="4572000" cy="256032"/>
          </a:xfrm>
          <a:prstGeom prst="rect">
            <a:avLst/>
          </a:prstGeom>
          <a:noFill/>
          <a:ln/>
        </p:spPr>
        <p:txBody>
          <a:bodyPr wrap="square" lIns="0" tIns="0" rIns="0" bIns="0" rtlCol="0" anchor="ctr"/>
          <a:lstStyle/>
          <a:p>
            <a:pPr marL="0" indent="0">
              <a:buNone/>
            </a:pPr>
            <a:r>
              <a:rPr lang="en-US" sz="900" dirty="0">
                <a:solidFill>
                  <a:srgbClr val="93A3B0"/>
                </a:solidFill>
                <a:latin typeface="Calibri" pitchFamily="34" charset="0"/>
                <a:ea typeface="Calibri" pitchFamily="34" charset="-122"/>
                <a:cs typeface="Calibri" pitchFamily="34" charset="-120"/>
              </a:rPr>
              <a:t>SLIIT FACULTY OF COMPUTING</a:t>
            </a:r>
            <a:endParaRPr lang="en-US" sz="900" dirty="0"/>
          </a:p>
        </p:txBody>
      </p:sp>
      <p:sp>
        <p:nvSpPr>
          <p:cNvPr id="19" name="Text 17"/>
          <p:cNvSpPr/>
          <p:nvPr/>
        </p:nvSpPr>
        <p:spPr>
          <a:xfrm>
            <a:off x="9905695" y="6492240"/>
            <a:ext cx="1371600" cy="256032"/>
          </a:xfrm>
          <a:prstGeom prst="rect">
            <a:avLst/>
          </a:prstGeom>
          <a:noFill/>
          <a:ln/>
        </p:spPr>
        <p:txBody>
          <a:bodyPr wrap="square" lIns="0" tIns="0" rIns="0" bIns="0" rtlCol="0" anchor="ctr"/>
          <a:lstStyle/>
          <a:p>
            <a:pPr marL="0" indent="0" algn="l">
              <a:buNone/>
            </a:pPr>
            <a:r>
              <a:rPr lang="en-US" sz="900" dirty="0">
                <a:solidFill>
                  <a:srgbClr val="93A3B0"/>
                </a:solidFill>
                <a:latin typeface="Calibri" pitchFamily="34" charset="0"/>
                <a:ea typeface="Calibri" pitchFamily="34" charset="-122"/>
                <a:cs typeface="Calibri" pitchFamily="34" charset="-120"/>
              </a:rPr>
              <a:t>R26_IT_051</a:t>
            </a:r>
            <a:endParaRPr lang="en-US" sz="900" dirty="0"/>
          </a:p>
        </p:txBody>
      </p:sp>
      <p:sp>
        <p:nvSpPr>
          <p:cNvPr id="20" name="Text 18"/>
          <p:cNvSpPr/>
          <p:nvPr/>
        </p:nvSpPr>
        <p:spPr>
          <a:xfrm>
            <a:off x="11460175" y="6492240"/>
            <a:ext cx="457200" cy="256032"/>
          </a:xfrm>
          <a:prstGeom prst="rect">
            <a:avLst/>
          </a:prstGeom>
          <a:noFill/>
          <a:ln/>
        </p:spPr>
        <p:txBody>
          <a:bodyPr wrap="square" lIns="0" tIns="0" rIns="0" bIns="0" rtlCol="0" anchor="ctr"/>
          <a:lstStyle/>
          <a:p>
            <a:pPr marL="0" indent="0" algn="r">
              <a:buNone/>
            </a:pPr>
            <a:r>
              <a:rPr lang="en-US" sz="900" dirty="0">
                <a:solidFill>
                  <a:srgbClr val="93A3B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548640"/>
          </a:xfrm>
          <a:prstGeom prst="rect">
            <a:avLst/>
          </a:prstGeom>
          <a:noFill/>
          <a:ln/>
        </p:spPr>
        <p:txBody>
          <a:bodyPr wrap="square" lIns="0" tIns="0" rIns="0" bIns="0" rtlCol="0" anchor="ctr"/>
          <a:lstStyle/>
          <a:p>
            <a:pPr marL="0" indent="0">
              <a:buNone/>
            </a:pPr>
            <a:r>
              <a:rPr lang="en-US" sz="3000" b="1" dirty="0">
                <a:solidFill>
                  <a:srgbClr val="0B1F33"/>
                </a:solidFill>
                <a:latin typeface="Calibri" pitchFamily="34" charset="0"/>
                <a:ea typeface="Calibri" pitchFamily="34" charset="-122"/>
                <a:cs typeface="Calibri" pitchFamily="34" charset="-120"/>
              </a:rPr>
              <a:t>Research Team</a:t>
            </a:r>
            <a:endParaRPr lang="en-US" sz="3000" dirty="0"/>
          </a:p>
        </p:txBody>
      </p:sp>
      <p:sp>
        <p:nvSpPr>
          <p:cNvPr id="3" name="Shape 1"/>
          <p:cNvSpPr/>
          <p:nvPr/>
        </p:nvSpPr>
        <p:spPr>
          <a:xfrm>
            <a:off x="640080" y="1280160"/>
            <a:ext cx="5120640" cy="914400"/>
          </a:xfrm>
          <a:prstGeom prst="roundRect">
            <a:avLst>
              <a:gd name="adj" fmla="val 8000"/>
            </a:avLst>
          </a:prstGeom>
          <a:solidFill>
            <a:srgbClr val="F7FAFC"/>
          </a:solidFill>
          <a:ln/>
        </p:spPr>
      </p:sp>
      <p:sp>
        <p:nvSpPr>
          <p:cNvPr id="4" name="Text 2"/>
          <p:cNvSpPr/>
          <p:nvPr/>
        </p:nvSpPr>
        <p:spPr>
          <a:xfrm>
            <a:off x="868680" y="1417320"/>
            <a:ext cx="4572000" cy="274320"/>
          </a:xfrm>
          <a:prstGeom prst="rect">
            <a:avLst/>
          </a:prstGeom>
          <a:noFill/>
          <a:ln/>
        </p:spPr>
        <p:txBody>
          <a:bodyPr wrap="square" lIns="0" tIns="0" rIns="0" bIns="0" rtlCol="0" anchor="ctr"/>
          <a:lstStyle/>
          <a:p>
            <a:pPr marL="0" indent="0">
              <a:buNone/>
            </a:pPr>
            <a:r>
              <a:rPr lang="en-US" sz="1100" b="1" dirty="0">
                <a:solidFill>
                  <a:srgbClr val="0078D4"/>
                </a:solidFill>
                <a:latin typeface="Calibri" pitchFamily="34" charset="0"/>
                <a:ea typeface="Calibri" pitchFamily="34" charset="-122"/>
                <a:cs typeface="Calibri" pitchFamily="34" charset="-120"/>
              </a:rPr>
              <a:t>Supervisor</a:t>
            </a:r>
            <a:endParaRPr lang="en-US" sz="1100" dirty="0"/>
          </a:p>
        </p:txBody>
      </p:sp>
      <p:sp>
        <p:nvSpPr>
          <p:cNvPr id="5" name="Text 3"/>
          <p:cNvSpPr/>
          <p:nvPr/>
        </p:nvSpPr>
        <p:spPr>
          <a:xfrm>
            <a:off x="868680" y="1691640"/>
            <a:ext cx="4572000" cy="365760"/>
          </a:xfrm>
          <a:prstGeom prst="rect">
            <a:avLst/>
          </a:prstGeom>
          <a:noFill/>
          <a:ln/>
        </p:spPr>
        <p:txBody>
          <a:bodyPr wrap="square" lIns="0" tIns="0" rIns="0" bIns="0" rtlCol="0" anchor="ctr"/>
          <a:lstStyle/>
          <a:p>
            <a:r>
              <a:rPr lang="en-US" sz="1600" dirty="0">
                <a:solidFill>
                  <a:schemeClr val="bg2">
                    <a:lumMod val="10000"/>
                  </a:schemeClr>
                </a:solidFill>
                <a:latin typeface="Times New Roman" panose="02020603050405020304" pitchFamily="18" charset="0"/>
                <a:ea typeface="Canva Sans Bold"/>
                <a:cs typeface="Times New Roman" panose="02020603050405020304" pitchFamily="18" charset="0"/>
                <a:sym typeface="Canva Sans Bold"/>
              </a:rPr>
              <a:t>Mr. </a:t>
            </a:r>
            <a:r>
              <a:rPr lang="en-US" sz="1600" dirty="0" err="1">
                <a:solidFill>
                  <a:schemeClr val="bg2">
                    <a:lumMod val="10000"/>
                  </a:schemeClr>
                </a:solidFill>
                <a:latin typeface="Times New Roman" panose="02020603050405020304" pitchFamily="18" charset="0"/>
                <a:ea typeface="Canva Sans Bold"/>
                <a:cs typeface="Times New Roman" panose="02020603050405020304" pitchFamily="18" charset="0"/>
                <a:sym typeface="Canva Sans Bold"/>
              </a:rPr>
              <a:t>Uditha</a:t>
            </a:r>
            <a:r>
              <a:rPr lang="en-US" sz="1600" dirty="0">
                <a:solidFill>
                  <a:schemeClr val="bg2">
                    <a:lumMod val="10000"/>
                  </a:schemeClr>
                </a:solidFill>
                <a:latin typeface="Times New Roman" panose="02020603050405020304" pitchFamily="18" charset="0"/>
                <a:ea typeface="Canva Sans Bold"/>
                <a:cs typeface="Times New Roman" panose="02020603050405020304" pitchFamily="18" charset="0"/>
                <a:sym typeface="Canva Sans Bold"/>
              </a:rPr>
              <a:t> </a:t>
            </a:r>
            <a:r>
              <a:rPr lang="en-US" sz="1600" dirty="0" err="1">
                <a:solidFill>
                  <a:schemeClr val="bg2">
                    <a:lumMod val="10000"/>
                  </a:schemeClr>
                </a:solidFill>
                <a:latin typeface="Times New Roman" panose="02020603050405020304" pitchFamily="18" charset="0"/>
                <a:ea typeface="Canva Sans Bold"/>
                <a:cs typeface="Times New Roman" panose="02020603050405020304" pitchFamily="18" charset="0"/>
                <a:sym typeface="Canva Sans Bold"/>
              </a:rPr>
              <a:t>Dharmakeerthi</a:t>
            </a:r>
            <a:endParaRPr lang="en-US" sz="1600" dirty="0">
              <a:solidFill>
                <a:schemeClr val="bg2">
                  <a:lumMod val="10000"/>
                </a:schemeClr>
              </a:solidFill>
              <a:latin typeface="Times New Roman" panose="02020603050405020304" pitchFamily="18" charset="0"/>
              <a:ea typeface="Canva Sans Bold"/>
              <a:cs typeface="Times New Roman" panose="02020603050405020304" pitchFamily="18" charset="0"/>
              <a:sym typeface="Canva Sans Bold"/>
            </a:endParaRPr>
          </a:p>
        </p:txBody>
      </p:sp>
      <p:sp>
        <p:nvSpPr>
          <p:cNvPr id="6" name="Shape 4"/>
          <p:cNvSpPr/>
          <p:nvPr/>
        </p:nvSpPr>
        <p:spPr>
          <a:xfrm>
            <a:off x="5989320" y="1280160"/>
            <a:ext cx="5120640" cy="914400"/>
          </a:xfrm>
          <a:prstGeom prst="roundRect">
            <a:avLst>
              <a:gd name="adj" fmla="val 8000"/>
            </a:avLst>
          </a:prstGeom>
          <a:solidFill>
            <a:srgbClr val="F7FAFC"/>
          </a:solidFill>
          <a:ln/>
        </p:spPr>
      </p:sp>
      <p:sp>
        <p:nvSpPr>
          <p:cNvPr id="7" name="Text 5"/>
          <p:cNvSpPr/>
          <p:nvPr/>
        </p:nvSpPr>
        <p:spPr>
          <a:xfrm>
            <a:off x="6217920" y="1417320"/>
            <a:ext cx="4572000" cy="274320"/>
          </a:xfrm>
          <a:prstGeom prst="rect">
            <a:avLst/>
          </a:prstGeom>
          <a:noFill/>
          <a:ln/>
        </p:spPr>
        <p:txBody>
          <a:bodyPr wrap="square" lIns="0" tIns="0" rIns="0" bIns="0" rtlCol="0" anchor="ctr"/>
          <a:lstStyle/>
          <a:p>
            <a:pPr marL="0" indent="0">
              <a:buNone/>
            </a:pPr>
            <a:r>
              <a:rPr lang="en-US" sz="1100" b="1" dirty="0">
                <a:solidFill>
                  <a:srgbClr val="0078D4"/>
                </a:solidFill>
                <a:latin typeface="Calibri" pitchFamily="34" charset="0"/>
                <a:ea typeface="Calibri" pitchFamily="34" charset="-122"/>
                <a:cs typeface="Calibri" pitchFamily="34" charset="-120"/>
              </a:rPr>
              <a:t>Co-Supervisor</a:t>
            </a:r>
            <a:endParaRPr lang="en-US" sz="1100" dirty="0"/>
          </a:p>
        </p:txBody>
      </p:sp>
      <p:sp>
        <p:nvSpPr>
          <p:cNvPr id="8" name="Text 6"/>
          <p:cNvSpPr/>
          <p:nvPr/>
        </p:nvSpPr>
        <p:spPr>
          <a:xfrm>
            <a:off x="6217920" y="1691640"/>
            <a:ext cx="4572000" cy="365760"/>
          </a:xfrm>
          <a:prstGeom prst="rect">
            <a:avLst/>
          </a:prstGeom>
          <a:noFill/>
          <a:ln/>
        </p:spPr>
        <p:txBody>
          <a:bodyPr wrap="square" lIns="0" tIns="0" rIns="0" bIns="0" rtlCol="0" anchor="ctr"/>
          <a:lstStyle/>
          <a:p>
            <a:r>
              <a:rPr lang="en-US" sz="1600" dirty="0">
                <a:solidFill>
                  <a:schemeClr val="bg2">
                    <a:lumMod val="10000"/>
                  </a:schemeClr>
                </a:solidFill>
                <a:latin typeface="Times New Roman" panose="02020603050405020304" pitchFamily="18" charset="0"/>
                <a:ea typeface="Canva Sans Bold"/>
                <a:cs typeface="Times New Roman" panose="02020603050405020304" pitchFamily="18" charset="0"/>
                <a:sym typeface="Canva Sans Bold"/>
              </a:rPr>
              <a:t>Mr. Kanishka Yapa</a:t>
            </a:r>
          </a:p>
        </p:txBody>
      </p:sp>
      <p:sp>
        <p:nvSpPr>
          <p:cNvPr id="9" name="Shape 7"/>
          <p:cNvSpPr/>
          <p:nvPr/>
        </p:nvSpPr>
        <p:spPr>
          <a:xfrm>
            <a:off x="640080" y="2743200"/>
            <a:ext cx="2542032" cy="2194560"/>
          </a:xfrm>
          <a:prstGeom prst="roundRect">
            <a:avLst>
              <a:gd name="adj" fmla="val 3333"/>
            </a:avLst>
          </a:prstGeom>
          <a:solidFill>
            <a:srgbClr val="F7FAFC"/>
          </a:solidFill>
          <a:ln w="12700">
            <a:solidFill>
              <a:srgbClr val="E2E8F0"/>
            </a:solidFill>
            <a:prstDash val="solid"/>
          </a:ln>
        </p:spPr>
      </p:sp>
      <p:sp>
        <p:nvSpPr>
          <p:cNvPr id="10" name="Shape 8"/>
          <p:cNvSpPr/>
          <p:nvPr/>
        </p:nvSpPr>
        <p:spPr>
          <a:xfrm>
            <a:off x="1682496" y="2971800"/>
            <a:ext cx="457200" cy="457200"/>
          </a:xfrm>
          <a:prstGeom prst="ellipse">
            <a:avLst/>
          </a:prstGeom>
          <a:solidFill>
            <a:srgbClr val="0078D4"/>
          </a:solidFill>
          <a:ln/>
        </p:spPr>
      </p:sp>
      <p:sp>
        <p:nvSpPr>
          <p:cNvPr id="11" name="Text 9"/>
          <p:cNvSpPr/>
          <p:nvPr/>
        </p:nvSpPr>
        <p:spPr>
          <a:xfrm>
            <a:off x="1682496" y="297180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 name="Text 10"/>
          <p:cNvSpPr/>
          <p:nvPr/>
        </p:nvSpPr>
        <p:spPr>
          <a:xfrm>
            <a:off x="777240" y="3611880"/>
            <a:ext cx="2267712" cy="640080"/>
          </a:xfrm>
          <a:prstGeom prst="rect">
            <a:avLst/>
          </a:prstGeom>
          <a:noFill/>
          <a:ln/>
        </p:spPr>
        <p:txBody>
          <a:bodyPr wrap="square" lIns="0" tIns="0" rIns="0" bIns="0" rtlCol="0" anchor="ctr"/>
          <a:lstStyle/>
          <a:p>
            <a:pPr algn="ctr"/>
            <a:r>
              <a:rPr lang="en-US" sz="1400" dirty="0">
                <a:solidFill>
                  <a:schemeClr val="bg2">
                    <a:lumMod val="10000"/>
                  </a:schemeClr>
                </a:solidFill>
                <a:latin typeface="Times New Roman" panose="02020603050405020304" pitchFamily="18" charset="0"/>
                <a:ea typeface="Canva Sans Bold"/>
                <a:cs typeface="Times New Roman" panose="02020603050405020304" pitchFamily="18" charset="0"/>
                <a:sym typeface="Canva Sans Bold"/>
              </a:rPr>
              <a:t>M T K Chathuri</a:t>
            </a:r>
          </a:p>
          <a:p>
            <a:pPr algn="ctr"/>
            <a:r>
              <a:rPr lang="en-US" sz="1400" dirty="0">
                <a:solidFill>
                  <a:schemeClr val="bg2">
                    <a:lumMod val="10000"/>
                  </a:schemeClr>
                </a:solidFill>
                <a:latin typeface="Times New Roman" panose="02020603050405020304" pitchFamily="18" charset="0"/>
                <a:ea typeface="Canva Sans Bold"/>
                <a:cs typeface="Times New Roman" panose="02020603050405020304" pitchFamily="18" charset="0"/>
                <a:sym typeface="Canva Sans Bold"/>
              </a:rPr>
              <a:t>IT22548078</a:t>
            </a:r>
          </a:p>
        </p:txBody>
      </p:sp>
      <p:sp>
        <p:nvSpPr>
          <p:cNvPr id="13" name="Text 11"/>
          <p:cNvSpPr/>
          <p:nvPr/>
        </p:nvSpPr>
        <p:spPr>
          <a:xfrm>
            <a:off x="777240" y="4251960"/>
            <a:ext cx="2267712" cy="594360"/>
          </a:xfrm>
          <a:prstGeom prst="rect">
            <a:avLst/>
          </a:prstGeom>
          <a:noFill/>
          <a:ln/>
        </p:spPr>
        <p:txBody>
          <a:bodyPr wrap="square" lIns="0" tIns="0" rIns="0" bIns="0" rtlCol="0" anchor="ctr"/>
          <a:lstStyle/>
          <a:p>
            <a:pPr marL="0" indent="0" algn="ctr">
              <a:lnSpc>
                <a:spcPct val="115000"/>
              </a:lnSpc>
              <a:buNone/>
            </a:pPr>
            <a:r>
              <a:rPr lang="en-US" sz="1050" dirty="0">
                <a:solidFill>
                  <a:srgbClr val="5A6B7B"/>
                </a:solidFill>
                <a:latin typeface="Calibri" pitchFamily="34" charset="0"/>
                <a:ea typeface="Calibri" pitchFamily="34" charset="-122"/>
                <a:cs typeface="Calibri" pitchFamily="34" charset="-120"/>
              </a:rPr>
              <a:t>Context-Aware Activity Recognition</a:t>
            </a:r>
            <a:endParaRPr lang="en-US" sz="1050" dirty="0"/>
          </a:p>
        </p:txBody>
      </p:sp>
      <p:sp>
        <p:nvSpPr>
          <p:cNvPr id="14" name="Shape 12"/>
          <p:cNvSpPr/>
          <p:nvPr/>
        </p:nvSpPr>
        <p:spPr>
          <a:xfrm>
            <a:off x="3383280" y="2743200"/>
            <a:ext cx="2542032" cy="2194560"/>
          </a:xfrm>
          <a:prstGeom prst="roundRect">
            <a:avLst>
              <a:gd name="adj" fmla="val 3333"/>
            </a:avLst>
          </a:prstGeom>
          <a:solidFill>
            <a:srgbClr val="F7FAFC"/>
          </a:solidFill>
          <a:ln w="12700">
            <a:solidFill>
              <a:srgbClr val="E2E8F0"/>
            </a:solidFill>
            <a:prstDash val="solid"/>
          </a:ln>
        </p:spPr>
      </p:sp>
      <p:sp>
        <p:nvSpPr>
          <p:cNvPr id="15" name="Shape 13"/>
          <p:cNvSpPr/>
          <p:nvPr/>
        </p:nvSpPr>
        <p:spPr>
          <a:xfrm>
            <a:off x="4425696" y="2971800"/>
            <a:ext cx="457200" cy="457200"/>
          </a:xfrm>
          <a:prstGeom prst="ellipse">
            <a:avLst/>
          </a:prstGeom>
          <a:solidFill>
            <a:srgbClr val="0078D4"/>
          </a:solidFill>
          <a:ln/>
        </p:spPr>
      </p:sp>
      <p:sp>
        <p:nvSpPr>
          <p:cNvPr id="16" name="Text 14"/>
          <p:cNvSpPr/>
          <p:nvPr/>
        </p:nvSpPr>
        <p:spPr>
          <a:xfrm>
            <a:off x="4425696" y="297180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Text 15"/>
          <p:cNvSpPr/>
          <p:nvPr/>
        </p:nvSpPr>
        <p:spPr>
          <a:xfrm>
            <a:off x="3520440" y="3611880"/>
            <a:ext cx="2267712" cy="640080"/>
          </a:xfrm>
          <a:prstGeom prst="rect">
            <a:avLst/>
          </a:prstGeom>
          <a:noFill/>
          <a:ln/>
        </p:spPr>
        <p:txBody>
          <a:bodyPr wrap="square" lIns="0" tIns="0" rIns="0" bIns="0" rtlCol="0" anchor="ctr"/>
          <a:lstStyle/>
          <a:p>
            <a:pPr algn="ctr">
              <a:lnSpc>
                <a:spcPct val="105000"/>
              </a:lnSpc>
            </a:pPr>
            <a:r>
              <a:rPr lang="en-US" sz="1400" dirty="0">
                <a:latin typeface="Times New Roman" panose="02020603050405020304" pitchFamily="18" charset="0"/>
                <a:cs typeface="Times New Roman" panose="02020603050405020304" pitchFamily="18" charset="0"/>
              </a:rPr>
              <a:t>D H S </a:t>
            </a:r>
            <a:r>
              <a:rPr lang="en-US" sz="1400" dirty="0" err="1">
                <a:latin typeface="Times New Roman" panose="02020603050405020304" pitchFamily="18" charset="0"/>
                <a:cs typeface="Times New Roman" panose="02020603050405020304" pitchFamily="18" charset="0"/>
              </a:rPr>
              <a:t>Diwyangi</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IT22559968</a:t>
            </a:r>
            <a:endParaRPr lang="en-US" sz="1400" dirty="0">
              <a:solidFill>
                <a:schemeClr val="tx2">
                  <a:lumMod val="50000"/>
                </a:schemeClr>
              </a:solidFill>
              <a:latin typeface="Times New Roman" panose="02020603050405020304" pitchFamily="18" charset="0"/>
              <a:cs typeface="Times New Roman" panose="02020603050405020304" pitchFamily="18" charset="0"/>
            </a:endParaRPr>
          </a:p>
        </p:txBody>
      </p:sp>
      <p:sp>
        <p:nvSpPr>
          <p:cNvPr id="18" name="Text 16"/>
          <p:cNvSpPr/>
          <p:nvPr/>
        </p:nvSpPr>
        <p:spPr>
          <a:xfrm>
            <a:off x="3520440" y="4251960"/>
            <a:ext cx="2267712" cy="594360"/>
          </a:xfrm>
          <a:prstGeom prst="rect">
            <a:avLst/>
          </a:prstGeom>
          <a:noFill/>
          <a:ln/>
        </p:spPr>
        <p:txBody>
          <a:bodyPr wrap="square" lIns="0" tIns="0" rIns="0" bIns="0" rtlCol="0" anchor="ctr"/>
          <a:lstStyle/>
          <a:p>
            <a:pPr marL="0" indent="0" algn="ctr">
              <a:lnSpc>
                <a:spcPct val="115000"/>
              </a:lnSpc>
              <a:buNone/>
            </a:pPr>
            <a:r>
              <a:rPr lang="en-US" sz="1050" dirty="0">
                <a:solidFill>
                  <a:srgbClr val="5A6B7B"/>
                </a:solidFill>
                <a:latin typeface="Calibri" pitchFamily="34" charset="0"/>
                <a:ea typeface="Calibri" pitchFamily="34" charset="-122"/>
                <a:cs typeface="Calibri" pitchFamily="34" charset="-120"/>
              </a:rPr>
              <a:t>Environmental Risk Mapping</a:t>
            </a:r>
            <a:endParaRPr lang="en-US" sz="1050" dirty="0"/>
          </a:p>
        </p:txBody>
      </p:sp>
      <p:sp>
        <p:nvSpPr>
          <p:cNvPr id="19" name="Shape 17"/>
          <p:cNvSpPr/>
          <p:nvPr/>
        </p:nvSpPr>
        <p:spPr>
          <a:xfrm>
            <a:off x="6126480" y="2743200"/>
            <a:ext cx="2542032" cy="2194560"/>
          </a:xfrm>
          <a:prstGeom prst="roundRect">
            <a:avLst>
              <a:gd name="adj" fmla="val 3333"/>
            </a:avLst>
          </a:prstGeom>
          <a:solidFill>
            <a:srgbClr val="F7FAFC"/>
          </a:solidFill>
          <a:ln w="12700">
            <a:solidFill>
              <a:srgbClr val="E2E8F0"/>
            </a:solidFill>
            <a:prstDash val="solid"/>
          </a:ln>
        </p:spPr>
      </p:sp>
      <p:sp>
        <p:nvSpPr>
          <p:cNvPr id="20" name="Shape 18"/>
          <p:cNvSpPr/>
          <p:nvPr/>
        </p:nvSpPr>
        <p:spPr>
          <a:xfrm>
            <a:off x="7168896" y="2971800"/>
            <a:ext cx="457200" cy="457200"/>
          </a:xfrm>
          <a:prstGeom prst="ellipse">
            <a:avLst/>
          </a:prstGeom>
          <a:solidFill>
            <a:srgbClr val="0078D4"/>
          </a:solidFill>
          <a:ln/>
        </p:spPr>
      </p:sp>
      <p:sp>
        <p:nvSpPr>
          <p:cNvPr id="21" name="Text 19"/>
          <p:cNvSpPr/>
          <p:nvPr/>
        </p:nvSpPr>
        <p:spPr>
          <a:xfrm>
            <a:off x="7168896" y="297180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2" name="Text 20"/>
          <p:cNvSpPr/>
          <p:nvPr/>
        </p:nvSpPr>
        <p:spPr>
          <a:xfrm>
            <a:off x="6263640" y="3611880"/>
            <a:ext cx="2267712" cy="640080"/>
          </a:xfrm>
          <a:prstGeom prst="rect">
            <a:avLst/>
          </a:prstGeom>
          <a:noFill/>
          <a:ln/>
        </p:spPr>
        <p:txBody>
          <a:bodyPr wrap="square" lIns="0" tIns="0" rIns="0" bIns="0" rtlCol="0" anchor="ctr"/>
          <a:lstStyle/>
          <a:p>
            <a:pPr algn="ctr">
              <a:lnSpc>
                <a:spcPct val="105000"/>
              </a:lnSpc>
            </a:pPr>
            <a:r>
              <a:rPr lang="en-US" sz="1400" dirty="0">
                <a:latin typeface="Times New Roman" panose="02020603050405020304" pitchFamily="18" charset="0"/>
                <a:cs typeface="Times New Roman" panose="02020603050405020304" pitchFamily="18" charset="0"/>
              </a:rPr>
              <a:t>W A H </a:t>
            </a:r>
            <a:r>
              <a:rPr lang="en-US" sz="1400" dirty="0" err="1">
                <a:latin typeface="Times New Roman" panose="02020603050405020304" pitchFamily="18" charset="0"/>
                <a:cs typeface="Times New Roman" panose="02020603050405020304" pitchFamily="18" charset="0"/>
              </a:rPr>
              <a:t>Divyanjalie</a:t>
            </a:r>
            <a:r>
              <a:rPr lang="en-US" sz="1400" dirty="0">
                <a:latin typeface="Times New Roman" panose="02020603050405020304" pitchFamily="18" charset="0"/>
                <a:cs typeface="Times New Roman" panose="02020603050405020304" pitchFamily="18" charset="0"/>
              </a:rPr>
              <a:t> IT22227690</a:t>
            </a:r>
            <a:endParaRPr lang="en-US" sz="1400" dirty="0">
              <a:solidFill>
                <a:schemeClr val="tx2">
                  <a:lumMod val="50000"/>
                </a:schemeClr>
              </a:solidFill>
              <a:latin typeface="Times New Roman" panose="02020603050405020304" pitchFamily="18" charset="0"/>
              <a:cs typeface="Times New Roman" panose="02020603050405020304" pitchFamily="18" charset="0"/>
            </a:endParaRPr>
          </a:p>
        </p:txBody>
      </p:sp>
      <p:sp>
        <p:nvSpPr>
          <p:cNvPr id="23" name="Text 21"/>
          <p:cNvSpPr/>
          <p:nvPr/>
        </p:nvSpPr>
        <p:spPr>
          <a:xfrm>
            <a:off x="6263640" y="4251960"/>
            <a:ext cx="2267712" cy="594360"/>
          </a:xfrm>
          <a:prstGeom prst="rect">
            <a:avLst/>
          </a:prstGeom>
          <a:noFill/>
          <a:ln/>
        </p:spPr>
        <p:txBody>
          <a:bodyPr wrap="square" lIns="0" tIns="0" rIns="0" bIns="0" rtlCol="0" anchor="ctr"/>
          <a:lstStyle/>
          <a:p>
            <a:pPr marL="0" indent="0" algn="ctr">
              <a:lnSpc>
                <a:spcPct val="115000"/>
              </a:lnSpc>
              <a:buNone/>
            </a:pPr>
            <a:r>
              <a:rPr lang="en-US" sz="1050" dirty="0">
                <a:solidFill>
                  <a:srgbClr val="5A6B7B"/>
                </a:solidFill>
                <a:latin typeface="Calibri" pitchFamily="34" charset="0"/>
                <a:ea typeface="Calibri" pitchFamily="34" charset="-122"/>
                <a:cs typeface="Calibri" pitchFamily="34" charset="-120"/>
              </a:rPr>
              <a:t>BioSignal Predictor Dashboard</a:t>
            </a:r>
            <a:endParaRPr lang="en-US" sz="1050" dirty="0"/>
          </a:p>
        </p:txBody>
      </p:sp>
      <p:sp>
        <p:nvSpPr>
          <p:cNvPr id="24" name="Shape 22"/>
          <p:cNvSpPr/>
          <p:nvPr/>
        </p:nvSpPr>
        <p:spPr>
          <a:xfrm>
            <a:off x="8869680" y="2743200"/>
            <a:ext cx="2542032" cy="2194560"/>
          </a:xfrm>
          <a:prstGeom prst="roundRect">
            <a:avLst>
              <a:gd name="adj" fmla="val 3333"/>
            </a:avLst>
          </a:prstGeom>
          <a:solidFill>
            <a:srgbClr val="F7FAFC"/>
          </a:solidFill>
          <a:ln w="12700">
            <a:solidFill>
              <a:srgbClr val="E2E8F0"/>
            </a:solidFill>
            <a:prstDash val="solid"/>
          </a:ln>
        </p:spPr>
      </p:sp>
      <p:sp>
        <p:nvSpPr>
          <p:cNvPr id="25" name="Shape 23"/>
          <p:cNvSpPr/>
          <p:nvPr/>
        </p:nvSpPr>
        <p:spPr>
          <a:xfrm>
            <a:off x="9912096" y="2971800"/>
            <a:ext cx="457200" cy="457200"/>
          </a:xfrm>
          <a:prstGeom prst="ellipse">
            <a:avLst/>
          </a:prstGeom>
          <a:solidFill>
            <a:srgbClr val="0078D4"/>
          </a:solidFill>
          <a:ln/>
        </p:spPr>
      </p:sp>
      <p:sp>
        <p:nvSpPr>
          <p:cNvPr id="26" name="Text 24"/>
          <p:cNvSpPr/>
          <p:nvPr/>
        </p:nvSpPr>
        <p:spPr>
          <a:xfrm>
            <a:off x="9912096" y="297180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7" name="Text 25"/>
          <p:cNvSpPr/>
          <p:nvPr/>
        </p:nvSpPr>
        <p:spPr>
          <a:xfrm>
            <a:off x="9006840" y="3611880"/>
            <a:ext cx="2267712" cy="640080"/>
          </a:xfrm>
          <a:prstGeom prst="rect">
            <a:avLst/>
          </a:prstGeom>
          <a:noFill/>
          <a:ln/>
        </p:spPr>
        <p:txBody>
          <a:bodyPr wrap="square" lIns="0" tIns="0" rIns="0" bIns="0" rtlCol="0" anchor="ctr"/>
          <a:lstStyle/>
          <a:p>
            <a:pPr algn="ctr">
              <a:lnSpc>
                <a:spcPct val="105000"/>
              </a:lnSpc>
            </a:pPr>
            <a:r>
              <a:rPr lang="en-US" sz="1400" dirty="0">
                <a:latin typeface="Times New Roman" panose="02020603050405020304" pitchFamily="18" charset="0"/>
                <a:cs typeface="Times New Roman" panose="02020603050405020304" pitchFamily="18" charset="0"/>
              </a:rPr>
              <a:t>E D K M Kulathunga</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IT21066948</a:t>
            </a:r>
            <a:endParaRPr lang="en-US" sz="1400" dirty="0">
              <a:solidFill>
                <a:schemeClr val="tx2">
                  <a:lumMod val="50000"/>
                </a:schemeClr>
              </a:solidFill>
              <a:latin typeface="Times New Roman" panose="02020603050405020304" pitchFamily="18" charset="0"/>
              <a:cs typeface="Times New Roman" panose="02020603050405020304" pitchFamily="18" charset="0"/>
            </a:endParaRPr>
          </a:p>
        </p:txBody>
      </p:sp>
      <p:sp>
        <p:nvSpPr>
          <p:cNvPr id="28" name="Text 26"/>
          <p:cNvSpPr/>
          <p:nvPr/>
        </p:nvSpPr>
        <p:spPr>
          <a:xfrm>
            <a:off x="9006840" y="4251960"/>
            <a:ext cx="2267712" cy="594360"/>
          </a:xfrm>
          <a:prstGeom prst="rect">
            <a:avLst/>
          </a:prstGeom>
          <a:noFill/>
          <a:ln/>
        </p:spPr>
        <p:txBody>
          <a:bodyPr wrap="square" lIns="0" tIns="0" rIns="0" bIns="0" rtlCol="0" anchor="ctr"/>
          <a:lstStyle/>
          <a:p>
            <a:pPr marL="0" indent="0" algn="ctr">
              <a:lnSpc>
                <a:spcPct val="115000"/>
              </a:lnSpc>
              <a:buNone/>
            </a:pPr>
            <a:r>
              <a:rPr lang="en-US" sz="1050" dirty="0">
                <a:solidFill>
                  <a:srgbClr val="5A6B7B"/>
                </a:solidFill>
                <a:latin typeface="Calibri" pitchFamily="34" charset="0"/>
                <a:ea typeface="Calibri" pitchFamily="34" charset="-122"/>
                <a:cs typeface="Calibri" pitchFamily="34" charset="-120"/>
              </a:rPr>
              <a:t>Adaptive Fall Prevention &amp; Alerts</a:t>
            </a:r>
            <a:endParaRPr lang="en-US" sz="1050" dirty="0"/>
          </a:p>
        </p:txBody>
      </p:sp>
      <p:sp>
        <p:nvSpPr>
          <p:cNvPr id="29" name="Text 27"/>
          <p:cNvSpPr/>
          <p:nvPr/>
        </p:nvSpPr>
        <p:spPr>
          <a:xfrm>
            <a:off x="457200" y="6492240"/>
            <a:ext cx="4572000" cy="256032"/>
          </a:xfrm>
          <a:prstGeom prst="rect">
            <a:avLst/>
          </a:prstGeom>
          <a:noFill/>
          <a:ln/>
        </p:spPr>
        <p:txBody>
          <a:bodyPr wrap="square" lIns="0" tIns="0" rIns="0" bIns="0" rtlCol="0" anchor="ctr"/>
          <a:lstStyle/>
          <a:p>
            <a:pPr marL="0" indent="0">
              <a:buNone/>
            </a:pPr>
            <a:r>
              <a:rPr lang="en-US" sz="900" dirty="0">
                <a:solidFill>
                  <a:srgbClr val="93A3B0"/>
                </a:solidFill>
                <a:latin typeface="Calibri" pitchFamily="34" charset="0"/>
                <a:ea typeface="Calibri" pitchFamily="34" charset="-122"/>
                <a:cs typeface="Calibri" pitchFamily="34" charset="-120"/>
              </a:rPr>
              <a:t>SLIIT FACULTY OF COMPUTING</a:t>
            </a:r>
            <a:endParaRPr lang="en-US" sz="900" dirty="0"/>
          </a:p>
        </p:txBody>
      </p:sp>
      <p:sp>
        <p:nvSpPr>
          <p:cNvPr id="30" name="Text 28"/>
          <p:cNvSpPr/>
          <p:nvPr/>
        </p:nvSpPr>
        <p:spPr>
          <a:xfrm>
            <a:off x="9905695" y="6492240"/>
            <a:ext cx="1371600" cy="256032"/>
          </a:xfrm>
          <a:prstGeom prst="rect">
            <a:avLst/>
          </a:prstGeom>
          <a:noFill/>
          <a:ln/>
        </p:spPr>
        <p:txBody>
          <a:bodyPr wrap="square" lIns="0" tIns="0" rIns="0" bIns="0" rtlCol="0" anchor="ctr"/>
          <a:lstStyle/>
          <a:p>
            <a:pPr marL="0" indent="0" algn="l">
              <a:buNone/>
            </a:pPr>
            <a:r>
              <a:rPr lang="en-US" sz="900" dirty="0">
                <a:solidFill>
                  <a:srgbClr val="93A3B0"/>
                </a:solidFill>
                <a:latin typeface="Calibri" pitchFamily="34" charset="0"/>
                <a:ea typeface="Calibri" pitchFamily="34" charset="-122"/>
                <a:cs typeface="Calibri" pitchFamily="34" charset="-120"/>
              </a:rPr>
              <a:t>R26_IT_051</a:t>
            </a:r>
            <a:endParaRPr lang="en-US" sz="900" dirty="0"/>
          </a:p>
        </p:txBody>
      </p:sp>
      <p:sp>
        <p:nvSpPr>
          <p:cNvPr id="31" name="Text 29"/>
          <p:cNvSpPr/>
          <p:nvPr/>
        </p:nvSpPr>
        <p:spPr>
          <a:xfrm>
            <a:off x="11460175" y="6492240"/>
            <a:ext cx="457200" cy="256032"/>
          </a:xfrm>
          <a:prstGeom prst="rect">
            <a:avLst/>
          </a:prstGeom>
          <a:noFill/>
          <a:ln/>
        </p:spPr>
        <p:txBody>
          <a:bodyPr wrap="square" lIns="0" tIns="0" rIns="0" bIns="0" rtlCol="0" anchor="ctr"/>
          <a:lstStyle/>
          <a:p>
            <a:pPr marL="0" indent="0" algn="r">
              <a:buNone/>
            </a:pPr>
            <a:r>
              <a:rPr lang="en-US" sz="900" dirty="0">
                <a:solidFill>
                  <a:srgbClr val="93A3B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502920"/>
          </a:xfrm>
          <a:prstGeom prst="rect">
            <a:avLst/>
          </a:prstGeom>
          <a:noFill/>
          <a:ln/>
        </p:spPr>
        <p:txBody>
          <a:bodyPr wrap="square" lIns="0" tIns="0" rIns="0" bIns="0" rtlCol="0" anchor="ctr"/>
          <a:lstStyle/>
          <a:p>
            <a:pPr marL="0" indent="0">
              <a:buNone/>
            </a:pPr>
            <a:r>
              <a:rPr lang="en-US" sz="2600" b="1" dirty="0">
                <a:solidFill>
                  <a:srgbClr val="0B1F33"/>
                </a:solidFill>
                <a:latin typeface="Calibri" pitchFamily="34" charset="0"/>
                <a:ea typeface="Calibri" pitchFamily="34" charset="-122"/>
                <a:cs typeface="Calibri" pitchFamily="34" charset="-120"/>
              </a:rPr>
              <a:t>Falls Are a Preventable Crisis for the Elderly</a:t>
            </a:r>
            <a:endParaRPr lang="en-US" sz="2600" dirty="0"/>
          </a:p>
        </p:txBody>
      </p:sp>
      <p:sp>
        <p:nvSpPr>
          <p:cNvPr id="3" name="Text 1"/>
          <p:cNvSpPr/>
          <p:nvPr/>
        </p:nvSpPr>
        <p:spPr>
          <a:xfrm>
            <a:off x="548640" y="868680"/>
            <a:ext cx="11064240" cy="274320"/>
          </a:xfrm>
          <a:prstGeom prst="rect">
            <a:avLst/>
          </a:prstGeom>
          <a:noFill/>
          <a:ln/>
        </p:spPr>
        <p:txBody>
          <a:bodyPr wrap="square" lIns="0" tIns="0" rIns="0" bIns="0" rtlCol="0" anchor="ctr"/>
          <a:lstStyle/>
          <a:p>
            <a:pPr marL="0" indent="0">
              <a:buNone/>
            </a:pPr>
            <a:r>
              <a:rPr lang="en-US" sz="1200" i="1" dirty="0">
                <a:solidFill>
                  <a:srgbClr val="5A6B7B"/>
                </a:solidFill>
                <a:latin typeface="Calibri" pitchFamily="34" charset="0"/>
                <a:ea typeface="Calibri" pitchFamily="34" charset="-122"/>
                <a:cs typeface="Calibri" pitchFamily="34" charset="-120"/>
              </a:rPr>
              <a:t>Problem, stakeholders, and measurable pain point</a:t>
            </a:r>
            <a:endParaRPr lang="en-US" sz="1200" dirty="0"/>
          </a:p>
        </p:txBody>
      </p:sp>
      <p:sp>
        <p:nvSpPr>
          <p:cNvPr id="4" name="Shape 2"/>
          <p:cNvSpPr/>
          <p:nvPr/>
        </p:nvSpPr>
        <p:spPr>
          <a:xfrm>
            <a:off x="548640" y="1371600"/>
            <a:ext cx="3520440" cy="1143000"/>
          </a:xfrm>
          <a:prstGeom prst="roundRect">
            <a:avLst>
              <a:gd name="adj" fmla="val 6400"/>
            </a:avLst>
          </a:prstGeom>
          <a:solidFill>
            <a:srgbClr val="F7FAFC"/>
          </a:solidFill>
          <a:ln w="12700">
            <a:solidFill>
              <a:srgbClr val="E2E8F0"/>
            </a:solidFill>
            <a:prstDash val="solid"/>
          </a:ln>
        </p:spPr>
      </p:sp>
      <p:sp>
        <p:nvSpPr>
          <p:cNvPr id="5" name="Text 3"/>
          <p:cNvSpPr/>
          <p:nvPr/>
        </p:nvSpPr>
        <p:spPr>
          <a:xfrm>
            <a:off x="731520" y="1463040"/>
            <a:ext cx="3154680" cy="502920"/>
          </a:xfrm>
          <a:prstGeom prst="rect">
            <a:avLst/>
          </a:prstGeom>
          <a:noFill/>
          <a:ln/>
        </p:spPr>
        <p:txBody>
          <a:bodyPr wrap="square" lIns="0" tIns="0" rIns="0" bIns="0" rtlCol="0" anchor="ctr"/>
          <a:lstStyle/>
          <a:p>
            <a:pPr marL="0" indent="0">
              <a:buNone/>
            </a:pPr>
            <a:r>
              <a:rPr lang="en-US" sz="2800" b="1" dirty="0">
                <a:solidFill>
                  <a:srgbClr val="0078D4"/>
                </a:solidFill>
                <a:latin typeface="Calibri" pitchFamily="34" charset="0"/>
                <a:ea typeface="Calibri" pitchFamily="34" charset="-122"/>
                <a:cs typeface="Calibri" pitchFamily="34" charset="-120"/>
              </a:rPr>
              <a:t>684,000</a:t>
            </a:r>
            <a:endParaRPr lang="en-US" sz="2800" dirty="0"/>
          </a:p>
        </p:txBody>
      </p:sp>
      <p:sp>
        <p:nvSpPr>
          <p:cNvPr id="6" name="Text 4"/>
          <p:cNvSpPr/>
          <p:nvPr/>
        </p:nvSpPr>
        <p:spPr>
          <a:xfrm>
            <a:off x="731520" y="1947672"/>
            <a:ext cx="3154680" cy="502920"/>
          </a:xfrm>
          <a:prstGeom prst="rect">
            <a:avLst/>
          </a:prstGeom>
          <a:noFill/>
          <a:ln/>
        </p:spPr>
        <p:txBody>
          <a:bodyPr wrap="square" lIns="0" tIns="0" rIns="0" bIns="0" rtlCol="0" anchor="ctr"/>
          <a:lstStyle/>
          <a:p>
            <a:pPr marL="0" indent="0">
              <a:lnSpc>
                <a:spcPct val="110000"/>
              </a:lnSpc>
              <a:buNone/>
            </a:pPr>
            <a:r>
              <a:rPr lang="en-US" sz="1000" dirty="0">
                <a:solidFill>
                  <a:srgbClr val="5A6B7B"/>
                </a:solidFill>
                <a:latin typeface="Calibri" pitchFamily="34" charset="0"/>
                <a:ea typeface="Calibri" pitchFamily="34" charset="-122"/>
                <a:cs typeface="Calibri" pitchFamily="34" charset="-120"/>
              </a:rPr>
              <a:t>deaths from falls worldwide every year (WHO)</a:t>
            </a:r>
            <a:endParaRPr lang="en-US" sz="1000" dirty="0"/>
          </a:p>
        </p:txBody>
      </p:sp>
      <p:sp>
        <p:nvSpPr>
          <p:cNvPr id="7" name="Shape 5"/>
          <p:cNvSpPr/>
          <p:nvPr/>
        </p:nvSpPr>
        <p:spPr>
          <a:xfrm>
            <a:off x="4297680" y="1371600"/>
            <a:ext cx="3520440" cy="1143000"/>
          </a:xfrm>
          <a:prstGeom prst="roundRect">
            <a:avLst>
              <a:gd name="adj" fmla="val 6400"/>
            </a:avLst>
          </a:prstGeom>
          <a:solidFill>
            <a:srgbClr val="F7FAFC"/>
          </a:solidFill>
          <a:ln w="12700">
            <a:solidFill>
              <a:srgbClr val="E2E8F0"/>
            </a:solidFill>
            <a:prstDash val="solid"/>
          </a:ln>
        </p:spPr>
      </p:sp>
      <p:sp>
        <p:nvSpPr>
          <p:cNvPr id="8" name="Text 6"/>
          <p:cNvSpPr/>
          <p:nvPr/>
        </p:nvSpPr>
        <p:spPr>
          <a:xfrm>
            <a:off x="4480560" y="1463040"/>
            <a:ext cx="3154680" cy="502920"/>
          </a:xfrm>
          <a:prstGeom prst="rect">
            <a:avLst/>
          </a:prstGeom>
          <a:noFill/>
          <a:ln/>
        </p:spPr>
        <p:txBody>
          <a:bodyPr wrap="square" lIns="0" tIns="0" rIns="0" bIns="0" rtlCol="0" anchor="ctr"/>
          <a:lstStyle/>
          <a:p>
            <a:pPr marL="0" indent="0">
              <a:buNone/>
            </a:pPr>
            <a:r>
              <a:rPr lang="en-US" sz="2800" b="1" dirty="0">
                <a:solidFill>
                  <a:srgbClr val="0078D4"/>
                </a:solidFill>
                <a:latin typeface="Calibri" pitchFamily="34" charset="0"/>
                <a:ea typeface="Calibri" pitchFamily="34" charset="-122"/>
                <a:cs typeface="Calibri" pitchFamily="34" charset="-120"/>
              </a:rPr>
              <a:t>37.3M</a:t>
            </a:r>
            <a:endParaRPr lang="en-US" sz="2800" dirty="0"/>
          </a:p>
        </p:txBody>
      </p:sp>
      <p:sp>
        <p:nvSpPr>
          <p:cNvPr id="9" name="Text 7"/>
          <p:cNvSpPr/>
          <p:nvPr/>
        </p:nvSpPr>
        <p:spPr>
          <a:xfrm>
            <a:off x="4480560" y="1947672"/>
            <a:ext cx="3154680" cy="502920"/>
          </a:xfrm>
          <a:prstGeom prst="rect">
            <a:avLst/>
          </a:prstGeom>
          <a:noFill/>
          <a:ln/>
        </p:spPr>
        <p:txBody>
          <a:bodyPr wrap="square" lIns="0" tIns="0" rIns="0" bIns="0" rtlCol="0" anchor="ctr"/>
          <a:lstStyle/>
          <a:p>
            <a:pPr marL="0" indent="0">
              <a:lnSpc>
                <a:spcPct val="110000"/>
              </a:lnSpc>
              <a:buNone/>
            </a:pPr>
            <a:r>
              <a:rPr lang="en-US" sz="1000" dirty="0">
                <a:solidFill>
                  <a:srgbClr val="5A6B7B"/>
                </a:solidFill>
                <a:latin typeface="Calibri" pitchFamily="34" charset="0"/>
                <a:ea typeface="Calibri" pitchFamily="34" charset="-122"/>
                <a:cs typeface="Calibri" pitchFamily="34" charset="-120"/>
              </a:rPr>
              <a:t>falls/year severe enough to need medical care (WHO)</a:t>
            </a:r>
            <a:endParaRPr lang="en-US" sz="1000" dirty="0"/>
          </a:p>
        </p:txBody>
      </p:sp>
      <p:sp>
        <p:nvSpPr>
          <p:cNvPr id="10" name="Shape 8"/>
          <p:cNvSpPr/>
          <p:nvPr/>
        </p:nvSpPr>
        <p:spPr>
          <a:xfrm>
            <a:off x="8046720" y="1371600"/>
            <a:ext cx="3520440" cy="1143000"/>
          </a:xfrm>
          <a:prstGeom prst="roundRect">
            <a:avLst>
              <a:gd name="adj" fmla="val 6400"/>
            </a:avLst>
          </a:prstGeom>
          <a:solidFill>
            <a:srgbClr val="F7FAFC"/>
          </a:solidFill>
          <a:ln w="12700">
            <a:solidFill>
              <a:srgbClr val="E2E8F0"/>
            </a:solidFill>
            <a:prstDash val="solid"/>
          </a:ln>
        </p:spPr>
      </p:sp>
      <p:sp>
        <p:nvSpPr>
          <p:cNvPr id="11" name="Text 9"/>
          <p:cNvSpPr/>
          <p:nvPr/>
        </p:nvSpPr>
        <p:spPr>
          <a:xfrm>
            <a:off x="8229600" y="1463040"/>
            <a:ext cx="3154680" cy="502920"/>
          </a:xfrm>
          <a:prstGeom prst="rect">
            <a:avLst/>
          </a:prstGeom>
          <a:noFill/>
          <a:ln/>
        </p:spPr>
        <p:txBody>
          <a:bodyPr wrap="square" lIns="0" tIns="0" rIns="0" bIns="0" rtlCol="0" anchor="ctr"/>
          <a:lstStyle/>
          <a:p>
            <a:pPr marL="0" indent="0">
              <a:buNone/>
            </a:pPr>
            <a:r>
              <a:rPr lang="en-US" sz="2800" b="1" dirty="0">
                <a:solidFill>
                  <a:srgbClr val="0078D4"/>
                </a:solidFill>
                <a:latin typeface="Calibri" pitchFamily="34" charset="0"/>
                <a:ea typeface="Calibri" pitchFamily="34" charset="-122"/>
                <a:cs typeface="Calibri" pitchFamily="34" charset="-120"/>
              </a:rPr>
              <a:t>~18%</a:t>
            </a:r>
            <a:endParaRPr lang="en-US" sz="2800" dirty="0"/>
          </a:p>
        </p:txBody>
      </p:sp>
      <p:sp>
        <p:nvSpPr>
          <p:cNvPr id="12" name="Text 10"/>
          <p:cNvSpPr/>
          <p:nvPr/>
        </p:nvSpPr>
        <p:spPr>
          <a:xfrm>
            <a:off x="8229600" y="1947672"/>
            <a:ext cx="3154680" cy="502920"/>
          </a:xfrm>
          <a:prstGeom prst="rect">
            <a:avLst/>
          </a:prstGeom>
          <a:noFill/>
          <a:ln/>
        </p:spPr>
        <p:txBody>
          <a:bodyPr wrap="square" lIns="0" tIns="0" rIns="0" bIns="0" rtlCol="0" anchor="ctr"/>
          <a:lstStyle/>
          <a:p>
            <a:pPr marL="0" indent="0">
              <a:lnSpc>
                <a:spcPct val="110000"/>
              </a:lnSpc>
              <a:buNone/>
            </a:pPr>
            <a:r>
              <a:rPr lang="en-US" sz="1000" dirty="0">
                <a:solidFill>
                  <a:srgbClr val="5A6B7B"/>
                </a:solidFill>
                <a:latin typeface="Calibri" pitchFamily="34" charset="0"/>
                <a:ea typeface="Calibri" pitchFamily="34" charset="-122"/>
                <a:cs typeface="Calibri" pitchFamily="34" charset="-120"/>
              </a:rPr>
              <a:t>of Sri Lanka's population is now 60+ (2024 Census)</a:t>
            </a:r>
            <a:endParaRPr lang="en-US" sz="1000" dirty="0"/>
          </a:p>
        </p:txBody>
      </p:sp>
      <p:sp>
        <p:nvSpPr>
          <p:cNvPr id="13" name="Text 11"/>
          <p:cNvSpPr/>
          <p:nvPr/>
        </p:nvSpPr>
        <p:spPr>
          <a:xfrm>
            <a:off x="548640" y="2788920"/>
            <a:ext cx="7315200" cy="274320"/>
          </a:xfrm>
          <a:prstGeom prst="rect">
            <a:avLst/>
          </a:prstGeom>
          <a:noFill/>
          <a:ln/>
        </p:spPr>
        <p:txBody>
          <a:bodyPr wrap="square" lIns="0" tIns="0" rIns="0" bIns="0" rtlCol="0" anchor="ctr"/>
          <a:lstStyle/>
          <a:p>
            <a:pPr marL="0" indent="0">
              <a:buNone/>
            </a:pPr>
            <a:r>
              <a:rPr lang="en-US" sz="1100" b="1" kern="0" spc="100" dirty="0">
                <a:solidFill>
                  <a:srgbClr val="0078D4"/>
                </a:solidFill>
                <a:latin typeface="Calibri" pitchFamily="34" charset="0"/>
                <a:ea typeface="Calibri" pitchFamily="34" charset="-122"/>
                <a:cs typeface="Calibri" pitchFamily="34" charset="-120"/>
              </a:rPr>
              <a:t>STAKEHOLDERS</a:t>
            </a:r>
            <a:endParaRPr lang="en-US" sz="1100" dirty="0"/>
          </a:p>
        </p:txBody>
      </p:sp>
      <p:sp>
        <p:nvSpPr>
          <p:cNvPr id="14" name="Text 12"/>
          <p:cNvSpPr/>
          <p:nvPr/>
        </p:nvSpPr>
        <p:spPr>
          <a:xfrm>
            <a:off x="548640" y="3108960"/>
            <a:ext cx="11064240" cy="365760"/>
          </a:xfrm>
          <a:prstGeom prst="rect">
            <a:avLst/>
          </a:prstGeom>
          <a:noFill/>
          <a:ln/>
        </p:spPr>
        <p:txBody>
          <a:bodyPr wrap="square" lIns="0" tIns="0" rIns="0" bIns="0" rtlCol="0" anchor="ctr"/>
          <a:lstStyle/>
          <a:p>
            <a:pPr marL="0" indent="0">
              <a:buNone/>
            </a:pPr>
            <a:r>
              <a:rPr lang="en-US" sz="1300" dirty="0">
                <a:solidFill>
                  <a:srgbClr val="0B1F33"/>
                </a:solidFill>
                <a:latin typeface="Calibri" pitchFamily="34" charset="0"/>
                <a:ea typeface="Calibri" pitchFamily="34" charset="-122"/>
                <a:cs typeface="Calibri" pitchFamily="34" charset="-120"/>
              </a:rPr>
              <a:t>Elderly individuals living independently or in care  •  Caregivers &amp; nursing staff  •  Hospitals &amp; elder-care institutions  •  Families</a:t>
            </a:r>
            <a:endParaRPr lang="en-US" sz="1300" dirty="0"/>
          </a:p>
        </p:txBody>
      </p:sp>
      <p:sp>
        <p:nvSpPr>
          <p:cNvPr id="15" name="Text 13"/>
          <p:cNvSpPr/>
          <p:nvPr/>
        </p:nvSpPr>
        <p:spPr>
          <a:xfrm>
            <a:off x="548640" y="3611880"/>
            <a:ext cx="7315200" cy="274320"/>
          </a:xfrm>
          <a:prstGeom prst="rect">
            <a:avLst/>
          </a:prstGeom>
          <a:noFill/>
          <a:ln/>
        </p:spPr>
        <p:txBody>
          <a:bodyPr wrap="square" lIns="0" tIns="0" rIns="0" bIns="0" rtlCol="0" anchor="ctr"/>
          <a:lstStyle/>
          <a:p>
            <a:pPr marL="0" indent="0">
              <a:buNone/>
            </a:pPr>
            <a:r>
              <a:rPr lang="en-US" sz="1100" b="1" kern="0" spc="100" dirty="0">
                <a:solidFill>
                  <a:srgbClr val="0078D4"/>
                </a:solidFill>
                <a:latin typeface="Calibri" pitchFamily="34" charset="0"/>
                <a:ea typeface="Calibri" pitchFamily="34" charset="-122"/>
                <a:cs typeface="Calibri" pitchFamily="34" charset="-120"/>
              </a:rPr>
              <a:t>WHY IT MATTERS</a:t>
            </a:r>
            <a:endParaRPr lang="en-US" sz="1100" dirty="0"/>
          </a:p>
        </p:txBody>
      </p:sp>
      <p:sp>
        <p:nvSpPr>
          <p:cNvPr id="16" name="Text 14"/>
          <p:cNvSpPr/>
          <p:nvPr/>
        </p:nvSpPr>
        <p:spPr>
          <a:xfrm>
            <a:off x="548640" y="3931920"/>
            <a:ext cx="11064240" cy="685800"/>
          </a:xfrm>
          <a:prstGeom prst="rect">
            <a:avLst/>
          </a:prstGeom>
          <a:noFill/>
          <a:ln/>
        </p:spPr>
        <p:txBody>
          <a:bodyPr wrap="square" lIns="0" tIns="0" rIns="0" bIns="0" rtlCol="0" anchor="ctr"/>
          <a:lstStyle/>
          <a:p>
            <a:pPr marL="0" indent="0">
              <a:lnSpc>
                <a:spcPct val="125000"/>
              </a:lnSpc>
              <a:buNone/>
            </a:pPr>
            <a:r>
              <a:rPr lang="en-US" sz="1300" dirty="0">
                <a:solidFill>
                  <a:srgbClr val="5A6B7B"/>
                </a:solidFill>
                <a:latin typeface="Calibri" pitchFamily="34" charset="0"/>
                <a:ea typeface="Calibri" pitchFamily="34" charset="-122"/>
                <a:cs typeface="Calibri" pitchFamily="34" charset="-120"/>
              </a:rPr>
              <a:t>Existing fall systems mostly react after a fall happens — measuring motion alone, with no view of the environment, no vitals, and no automatic intervention. By the time an alert reaches a caregiver, the injury has already occurred.</a:t>
            </a:r>
            <a:endParaRPr lang="en-US" sz="1300" dirty="0"/>
          </a:p>
        </p:txBody>
      </p:sp>
      <p:sp>
        <p:nvSpPr>
          <p:cNvPr id="17" name="Text 15"/>
          <p:cNvSpPr/>
          <p:nvPr/>
        </p:nvSpPr>
        <p:spPr>
          <a:xfrm>
            <a:off x="548640" y="4754880"/>
            <a:ext cx="7315200" cy="274320"/>
          </a:xfrm>
          <a:prstGeom prst="rect">
            <a:avLst/>
          </a:prstGeom>
          <a:noFill/>
          <a:ln/>
        </p:spPr>
        <p:txBody>
          <a:bodyPr wrap="square" lIns="0" tIns="0" rIns="0" bIns="0" rtlCol="0" anchor="ctr"/>
          <a:lstStyle/>
          <a:p>
            <a:pPr marL="0" indent="0">
              <a:buNone/>
            </a:pPr>
            <a:r>
              <a:rPr lang="en-US" sz="1100" b="1" kern="0" spc="100" dirty="0">
                <a:solidFill>
                  <a:srgbClr val="0078D4"/>
                </a:solidFill>
                <a:latin typeface="Calibri" pitchFamily="34" charset="0"/>
                <a:ea typeface="Calibri" pitchFamily="34" charset="-122"/>
                <a:cs typeface="Calibri" pitchFamily="34" charset="-120"/>
              </a:rPr>
              <a:t>RESEARCH NEED</a:t>
            </a:r>
            <a:endParaRPr lang="en-US" sz="1100" dirty="0"/>
          </a:p>
        </p:txBody>
      </p:sp>
      <p:sp>
        <p:nvSpPr>
          <p:cNvPr id="18" name="Shape 16"/>
          <p:cNvSpPr/>
          <p:nvPr/>
        </p:nvSpPr>
        <p:spPr>
          <a:xfrm>
            <a:off x="548640" y="5074920"/>
            <a:ext cx="11091672" cy="777240"/>
          </a:xfrm>
          <a:prstGeom prst="roundRect">
            <a:avLst>
              <a:gd name="adj" fmla="val 9412"/>
            </a:avLst>
          </a:prstGeom>
          <a:solidFill>
            <a:srgbClr val="0B1F33"/>
          </a:solidFill>
          <a:ln/>
        </p:spPr>
      </p:sp>
      <p:sp>
        <p:nvSpPr>
          <p:cNvPr id="19" name="Text 17"/>
          <p:cNvSpPr/>
          <p:nvPr/>
        </p:nvSpPr>
        <p:spPr>
          <a:xfrm>
            <a:off x="548640" y="5074920"/>
            <a:ext cx="11091672" cy="777240"/>
          </a:xfrm>
          <a:prstGeom prst="rect">
            <a:avLst/>
          </a:prstGeom>
          <a:noFill/>
          <a:ln/>
        </p:spPr>
        <p:txBody>
          <a:bodyPr wrap="square" lIns="0" tIns="0" rIns="0" bIns="0" rtlCol="0" anchor="ctr"/>
          <a:lstStyle/>
          <a:p>
            <a:pPr marL="0" indent="0" algn="ctr">
              <a:buNone/>
            </a:pPr>
            <a:r>
              <a:rPr lang="en-US" sz="1500" b="1" dirty="0">
                <a:solidFill>
                  <a:srgbClr val="00C2D1"/>
                </a:solidFill>
                <a:latin typeface="Calibri" pitchFamily="34" charset="0"/>
                <a:ea typeface="Calibri" pitchFamily="34" charset="-122"/>
                <a:cs typeface="Calibri" pitchFamily="34" charset="-120"/>
              </a:rPr>
              <a:t>Recognize Activity  →  Assess Environment  →  Monitor Vitals  →  Predict Risk  →  Prevent &amp; Alert</a:t>
            </a:r>
            <a:endParaRPr lang="en-US" sz="1500" dirty="0"/>
          </a:p>
        </p:txBody>
      </p:sp>
      <p:sp>
        <p:nvSpPr>
          <p:cNvPr id="20" name="Text 18"/>
          <p:cNvSpPr/>
          <p:nvPr/>
        </p:nvSpPr>
        <p:spPr>
          <a:xfrm>
            <a:off x="457200" y="6492240"/>
            <a:ext cx="4572000" cy="256032"/>
          </a:xfrm>
          <a:prstGeom prst="rect">
            <a:avLst/>
          </a:prstGeom>
          <a:noFill/>
          <a:ln/>
        </p:spPr>
        <p:txBody>
          <a:bodyPr wrap="square" lIns="0" tIns="0" rIns="0" bIns="0" rtlCol="0" anchor="ctr"/>
          <a:lstStyle/>
          <a:p>
            <a:pPr marL="0" indent="0">
              <a:buNone/>
            </a:pPr>
            <a:r>
              <a:rPr lang="en-US" sz="900" dirty="0">
                <a:solidFill>
                  <a:srgbClr val="93A3B0"/>
                </a:solidFill>
                <a:latin typeface="Calibri" pitchFamily="34" charset="0"/>
                <a:ea typeface="Calibri" pitchFamily="34" charset="-122"/>
                <a:cs typeface="Calibri" pitchFamily="34" charset="-120"/>
              </a:rPr>
              <a:t>SLIIT FACULTY OF COMPUTING</a:t>
            </a:r>
            <a:endParaRPr lang="en-US" sz="900" dirty="0"/>
          </a:p>
        </p:txBody>
      </p:sp>
      <p:sp>
        <p:nvSpPr>
          <p:cNvPr id="21" name="Text 19"/>
          <p:cNvSpPr/>
          <p:nvPr/>
        </p:nvSpPr>
        <p:spPr>
          <a:xfrm>
            <a:off x="9905695" y="6492240"/>
            <a:ext cx="1371600" cy="256032"/>
          </a:xfrm>
          <a:prstGeom prst="rect">
            <a:avLst/>
          </a:prstGeom>
          <a:noFill/>
          <a:ln/>
        </p:spPr>
        <p:txBody>
          <a:bodyPr wrap="square" lIns="0" tIns="0" rIns="0" bIns="0" rtlCol="0" anchor="ctr"/>
          <a:lstStyle/>
          <a:p>
            <a:pPr marL="0" indent="0" algn="l">
              <a:buNone/>
            </a:pPr>
            <a:r>
              <a:rPr lang="en-US" sz="900" dirty="0">
                <a:solidFill>
                  <a:srgbClr val="93A3B0"/>
                </a:solidFill>
                <a:latin typeface="Calibri" pitchFamily="34" charset="0"/>
                <a:ea typeface="Calibri" pitchFamily="34" charset="-122"/>
                <a:cs typeface="Calibri" pitchFamily="34" charset="-120"/>
              </a:rPr>
              <a:t>R26_IT_051</a:t>
            </a:r>
            <a:endParaRPr lang="en-US" sz="900" dirty="0"/>
          </a:p>
        </p:txBody>
      </p:sp>
      <p:sp>
        <p:nvSpPr>
          <p:cNvPr id="22" name="Text 20"/>
          <p:cNvSpPr/>
          <p:nvPr/>
        </p:nvSpPr>
        <p:spPr>
          <a:xfrm>
            <a:off x="11460175" y="6492240"/>
            <a:ext cx="457200" cy="256032"/>
          </a:xfrm>
          <a:prstGeom prst="rect">
            <a:avLst/>
          </a:prstGeom>
          <a:noFill/>
          <a:ln/>
        </p:spPr>
        <p:txBody>
          <a:bodyPr wrap="square" lIns="0" tIns="0" rIns="0" bIns="0" rtlCol="0" anchor="ctr"/>
          <a:lstStyle/>
          <a:p>
            <a:pPr marL="0" indent="0" algn="r">
              <a:buNone/>
            </a:pPr>
            <a:r>
              <a:rPr lang="en-US" sz="900" dirty="0">
                <a:solidFill>
                  <a:srgbClr val="93A3B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502920"/>
          </a:xfrm>
          <a:prstGeom prst="rect">
            <a:avLst/>
          </a:prstGeom>
          <a:noFill/>
          <a:ln/>
        </p:spPr>
        <p:txBody>
          <a:bodyPr wrap="square" lIns="0" tIns="0" rIns="0" bIns="0" rtlCol="0" anchor="ctr"/>
          <a:lstStyle/>
          <a:p>
            <a:pPr marL="0" indent="0">
              <a:buNone/>
            </a:pPr>
            <a:r>
              <a:rPr lang="en-US" sz="2600" b="1" dirty="0">
                <a:solidFill>
                  <a:srgbClr val="0B1F33"/>
                </a:solidFill>
                <a:latin typeface="Calibri" pitchFamily="34" charset="0"/>
                <a:ea typeface="Calibri" pitchFamily="34" charset="-122"/>
                <a:cs typeface="Calibri" pitchFamily="34" charset="-120"/>
              </a:rPr>
              <a:t>Research Gap → Four Component Objectives</a:t>
            </a:r>
            <a:endParaRPr lang="en-US" sz="2600" dirty="0"/>
          </a:p>
        </p:txBody>
      </p:sp>
      <p:sp>
        <p:nvSpPr>
          <p:cNvPr id="3" name="Text 1"/>
          <p:cNvSpPr/>
          <p:nvPr/>
        </p:nvSpPr>
        <p:spPr>
          <a:xfrm>
            <a:off x="548640" y="868680"/>
            <a:ext cx="11064240" cy="320040"/>
          </a:xfrm>
          <a:prstGeom prst="rect">
            <a:avLst/>
          </a:prstGeom>
          <a:noFill/>
          <a:ln/>
        </p:spPr>
        <p:txBody>
          <a:bodyPr wrap="square" lIns="0" tIns="0" rIns="0" bIns="0" rtlCol="0" anchor="ctr"/>
          <a:lstStyle/>
          <a:p>
            <a:pPr marL="0" indent="0">
              <a:buNone/>
            </a:pPr>
            <a:r>
              <a:rPr lang="en-US" sz="1300" i="1" dirty="0">
                <a:solidFill>
                  <a:srgbClr val="5A6B7B"/>
                </a:solidFill>
                <a:latin typeface="Calibri" pitchFamily="34" charset="0"/>
                <a:ea typeface="Calibri" pitchFamily="34" charset="-122"/>
                <a:cs typeface="Calibri" pitchFamily="34" charset="-120"/>
              </a:rPr>
              <a:t>Existing tools solve fragments of the problem. We solve it end-to-end.</a:t>
            </a:r>
            <a:endParaRPr lang="en-US" sz="1300" dirty="0"/>
          </a:p>
        </p:txBody>
      </p:sp>
      <p:sp>
        <p:nvSpPr>
          <p:cNvPr id="4" name="Text 2"/>
          <p:cNvSpPr/>
          <p:nvPr/>
        </p:nvSpPr>
        <p:spPr>
          <a:xfrm>
            <a:off x="548640" y="1280160"/>
            <a:ext cx="11064240" cy="640080"/>
          </a:xfrm>
          <a:prstGeom prst="rect">
            <a:avLst/>
          </a:prstGeom>
          <a:noFill/>
          <a:ln/>
        </p:spPr>
        <p:txBody>
          <a:bodyPr wrap="square" lIns="0" tIns="0" rIns="0" bIns="0" rtlCol="0" anchor="ctr"/>
          <a:lstStyle/>
          <a:p>
            <a:pPr marL="0" indent="0">
              <a:lnSpc>
                <a:spcPct val="125000"/>
              </a:lnSpc>
              <a:buNone/>
            </a:pPr>
            <a:r>
              <a:rPr lang="en-US" sz="1250" dirty="0">
                <a:solidFill>
                  <a:srgbClr val="5A6B7B"/>
                </a:solidFill>
                <a:latin typeface="Calibri" pitchFamily="34" charset="0"/>
                <a:ea typeface="Calibri" pitchFamily="34" charset="-122"/>
                <a:cs typeface="Calibri" pitchFamily="34" charset="-120"/>
              </a:rPr>
              <a:t>Most existing solutions detect either motion, or environment, or vitals — never all three together, and none of them close the loop with an automatic, adaptive response. This is the gap our four components are built to close.</a:t>
            </a:r>
            <a:endParaRPr lang="en-US" sz="1250" dirty="0"/>
          </a:p>
        </p:txBody>
      </p:sp>
      <p:sp>
        <p:nvSpPr>
          <p:cNvPr id="5" name="Shape 3"/>
          <p:cNvSpPr/>
          <p:nvPr/>
        </p:nvSpPr>
        <p:spPr>
          <a:xfrm>
            <a:off x="548640" y="2148840"/>
            <a:ext cx="2697480" cy="2331720"/>
          </a:xfrm>
          <a:prstGeom prst="roundRect">
            <a:avLst>
              <a:gd name="adj" fmla="val 3137"/>
            </a:avLst>
          </a:prstGeom>
          <a:solidFill>
            <a:srgbClr val="F7FAFC"/>
          </a:solidFill>
          <a:ln w="12700">
            <a:solidFill>
              <a:srgbClr val="E2E8F0"/>
            </a:solidFill>
            <a:prstDash val="solid"/>
          </a:ln>
        </p:spPr>
      </p:sp>
      <p:sp>
        <p:nvSpPr>
          <p:cNvPr id="6" name="Shape 4"/>
          <p:cNvSpPr/>
          <p:nvPr/>
        </p:nvSpPr>
        <p:spPr>
          <a:xfrm>
            <a:off x="713232" y="2331720"/>
            <a:ext cx="365760" cy="365760"/>
          </a:xfrm>
          <a:prstGeom prst="ellipse">
            <a:avLst/>
          </a:prstGeom>
          <a:solidFill>
            <a:srgbClr val="0078D4"/>
          </a:solidFill>
          <a:ln/>
        </p:spPr>
      </p:sp>
      <p:sp>
        <p:nvSpPr>
          <p:cNvPr id="7" name="Text 5"/>
          <p:cNvSpPr/>
          <p:nvPr/>
        </p:nvSpPr>
        <p:spPr>
          <a:xfrm>
            <a:off x="713232" y="233172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713232" y="2834640"/>
            <a:ext cx="2368296" cy="594360"/>
          </a:xfrm>
          <a:prstGeom prst="rect">
            <a:avLst/>
          </a:prstGeom>
          <a:noFill/>
          <a:ln/>
        </p:spPr>
        <p:txBody>
          <a:bodyPr wrap="square" lIns="0" tIns="0" rIns="0" bIns="0" rtlCol="0" anchor="ctr"/>
          <a:lstStyle/>
          <a:p>
            <a:pPr marL="0" indent="0">
              <a:lnSpc>
                <a:spcPct val="105000"/>
              </a:lnSpc>
              <a:buNone/>
            </a:pPr>
            <a:r>
              <a:rPr lang="en-US" sz="1350" b="1" dirty="0">
                <a:solidFill>
                  <a:srgbClr val="0B1F33"/>
                </a:solidFill>
                <a:latin typeface="Calibri" pitchFamily="34" charset="0"/>
                <a:ea typeface="Calibri" pitchFamily="34" charset="-122"/>
                <a:cs typeface="Calibri" pitchFamily="34" charset="-120"/>
              </a:rPr>
              <a:t>Activity</a:t>
            </a:r>
            <a:endParaRPr lang="en-US" sz="1350" dirty="0"/>
          </a:p>
          <a:p>
            <a:pPr marL="0" indent="0">
              <a:lnSpc>
                <a:spcPct val="105000"/>
              </a:lnSpc>
              <a:buNone/>
            </a:pPr>
            <a:r>
              <a:rPr lang="en-US" sz="1350" b="1" dirty="0">
                <a:solidFill>
                  <a:srgbClr val="0B1F33"/>
                </a:solidFill>
                <a:latin typeface="Calibri" pitchFamily="34" charset="0"/>
                <a:ea typeface="Calibri" pitchFamily="34" charset="-122"/>
                <a:cs typeface="Calibri" pitchFamily="34" charset="-120"/>
              </a:rPr>
              <a:t>Recognition</a:t>
            </a:r>
            <a:endParaRPr lang="en-US" sz="1350" dirty="0"/>
          </a:p>
        </p:txBody>
      </p:sp>
      <p:sp>
        <p:nvSpPr>
          <p:cNvPr id="9" name="Text 7"/>
          <p:cNvSpPr/>
          <p:nvPr/>
        </p:nvSpPr>
        <p:spPr>
          <a:xfrm>
            <a:off x="713232" y="3429000"/>
            <a:ext cx="2368296" cy="960120"/>
          </a:xfrm>
          <a:prstGeom prst="rect">
            <a:avLst/>
          </a:prstGeom>
          <a:noFill/>
          <a:ln/>
        </p:spPr>
        <p:txBody>
          <a:bodyPr wrap="square" lIns="0" tIns="0" rIns="0" bIns="0" rtlCol="0" anchor="ctr"/>
          <a:lstStyle/>
          <a:p>
            <a:pPr marL="0" indent="0">
              <a:lnSpc>
                <a:spcPct val="120000"/>
              </a:lnSpc>
              <a:buNone/>
            </a:pPr>
            <a:r>
              <a:rPr lang="en-US" sz="1000" dirty="0">
                <a:solidFill>
                  <a:srgbClr val="5A6B7B"/>
                </a:solidFill>
                <a:latin typeface="Calibri" pitchFamily="34" charset="0"/>
                <a:ea typeface="Calibri" pitchFamily="34" charset="-122"/>
                <a:cs typeface="Calibri" pitchFamily="34" charset="-120"/>
              </a:rPr>
              <a:t>Predict fall risk in real time from wearable motion data, with context-aware reasoning.</a:t>
            </a:r>
            <a:endParaRPr lang="en-US" sz="1000" dirty="0"/>
          </a:p>
        </p:txBody>
      </p:sp>
      <p:sp>
        <p:nvSpPr>
          <p:cNvPr id="10" name="Shape 8"/>
          <p:cNvSpPr/>
          <p:nvPr/>
        </p:nvSpPr>
        <p:spPr>
          <a:xfrm>
            <a:off x="3429000" y="2148840"/>
            <a:ext cx="2697480" cy="2331720"/>
          </a:xfrm>
          <a:prstGeom prst="roundRect">
            <a:avLst>
              <a:gd name="adj" fmla="val 3137"/>
            </a:avLst>
          </a:prstGeom>
          <a:solidFill>
            <a:srgbClr val="F7FAFC"/>
          </a:solidFill>
          <a:ln w="12700">
            <a:solidFill>
              <a:srgbClr val="E2E8F0"/>
            </a:solidFill>
            <a:prstDash val="solid"/>
          </a:ln>
        </p:spPr>
      </p:sp>
      <p:sp>
        <p:nvSpPr>
          <p:cNvPr id="11" name="Shape 9"/>
          <p:cNvSpPr/>
          <p:nvPr/>
        </p:nvSpPr>
        <p:spPr>
          <a:xfrm>
            <a:off x="3593592" y="2331720"/>
            <a:ext cx="365760" cy="365760"/>
          </a:xfrm>
          <a:prstGeom prst="ellipse">
            <a:avLst/>
          </a:prstGeom>
          <a:solidFill>
            <a:srgbClr val="0078D4"/>
          </a:solidFill>
          <a:ln/>
        </p:spPr>
      </p:sp>
      <p:sp>
        <p:nvSpPr>
          <p:cNvPr id="12" name="Text 10"/>
          <p:cNvSpPr/>
          <p:nvPr/>
        </p:nvSpPr>
        <p:spPr>
          <a:xfrm>
            <a:off x="3593592" y="233172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3593592" y="2834640"/>
            <a:ext cx="2368296" cy="594360"/>
          </a:xfrm>
          <a:prstGeom prst="rect">
            <a:avLst/>
          </a:prstGeom>
          <a:noFill/>
          <a:ln/>
        </p:spPr>
        <p:txBody>
          <a:bodyPr wrap="square" lIns="0" tIns="0" rIns="0" bIns="0" rtlCol="0" anchor="ctr"/>
          <a:lstStyle/>
          <a:p>
            <a:pPr marL="0" indent="0">
              <a:lnSpc>
                <a:spcPct val="105000"/>
              </a:lnSpc>
              <a:buNone/>
            </a:pPr>
            <a:r>
              <a:rPr lang="en-US" sz="1350" b="1" dirty="0">
                <a:solidFill>
                  <a:srgbClr val="0B1F33"/>
                </a:solidFill>
                <a:latin typeface="Calibri" pitchFamily="34" charset="0"/>
                <a:ea typeface="Calibri" pitchFamily="34" charset="-122"/>
                <a:cs typeface="Calibri" pitchFamily="34" charset="-120"/>
              </a:rPr>
              <a:t>Environmental</a:t>
            </a:r>
            <a:endParaRPr lang="en-US" sz="1350" dirty="0"/>
          </a:p>
          <a:p>
            <a:pPr marL="0" indent="0">
              <a:lnSpc>
                <a:spcPct val="105000"/>
              </a:lnSpc>
              <a:buNone/>
            </a:pPr>
            <a:r>
              <a:rPr lang="en-US" sz="1350" b="1" dirty="0">
                <a:solidFill>
                  <a:srgbClr val="0B1F33"/>
                </a:solidFill>
                <a:latin typeface="Calibri" pitchFamily="34" charset="0"/>
                <a:ea typeface="Calibri" pitchFamily="34" charset="-122"/>
                <a:cs typeface="Calibri" pitchFamily="34" charset="-120"/>
              </a:rPr>
              <a:t>Risk Mapping</a:t>
            </a:r>
            <a:endParaRPr lang="en-US" sz="1350" dirty="0"/>
          </a:p>
        </p:txBody>
      </p:sp>
      <p:sp>
        <p:nvSpPr>
          <p:cNvPr id="14" name="Text 12"/>
          <p:cNvSpPr/>
          <p:nvPr/>
        </p:nvSpPr>
        <p:spPr>
          <a:xfrm>
            <a:off x="3593592" y="3429000"/>
            <a:ext cx="2368296" cy="960120"/>
          </a:xfrm>
          <a:prstGeom prst="rect">
            <a:avLst/>
          </a:prstGeom>
          <a:noFill/>
          <a:ln/>
        </p:spPr>
        <p:txBody>
          <a:bodyPr wrap="square" lIns="0" tIns="0" rIns="0" bIns="0" rtlCol="0" anchor="ctr"/>
          <a:lstStyle/>
          <a:p>
            <a:pPr marL="0" indent="0">
              <a:lnSpc>
                <a:spcPct val="120000"/>
              </a:lnSpc>
              <a:buNone/>
            </a:pPr>
            <a:r>
              <a:rPr lang="en-US" sz="1000" dirty="0">
                <a:solidFill>
                  <a:srgbClr val="5A6B7B"/>
                </a:solidFill>
                <a:latin typeface="Calibri" pitchFamily="34" charset="0"/>
                <a:ea typeface="Calibri" pitchFamily="34" charset="-122"/>
                <a:cs typeface="Calibri" pitchFamily="34" charset="-120"/>
              </a:rPr>
              <a:t>Detect physical hazards (slippery floors, poor lighting, obstacles) via vision + IoT sensor fusion.</a:t>
            </a:r>
            <a:endParaRPr lang="en-US" sz="1000" dirty="0"/>
          </a:p>
        </p:txBody>
      </p:sp>
      <p:sp>
        <p:nvSpPr>
          <p:cNvPr id="15" name="Shape 13"/>
          <p:cNvSpPr/>
          <p:nvPr/>
        </p:nvSpPr>
        <p:spPr>
          <a:xfrm>
            <a:off x="6309360" y="2148840"/>
            <a:ext cx="2697480" cy="2331720"/>
          </a:xfrm>
          <a:prstGeom prst="roundRect">
            <a:avLst>
              <a:gd name="adj" fmla="val 3137"/>
            </a:avLst>
          </a:prstGeom>
          <a:solidFill>
            <a:srgbClr val="F7FAFC"/>
          </a:solidFill>
          <a:ln w="12700">
            <a:solidFill>
              <a:srgbClr val="E2E8F0"/>
            </a:solidFill>
            <a:prstDash val="solid"/>
          </a:ln>
        </p:spPr>
      </p:sp>
      <p:sp>
        <p:nvSpPr>
          <p:cNvPr id="16" name="Shape 14"/>
          <p:cNvSpPr/>
          <p:nvPr/>
        </p:nvSpPr>
        <p:spPr>
          <a:xfrm>
            <a:off x="6473952" y="2331720"/>
            <a:ext cx="365760" cy="365760"/>
          </a:xfrm>
          <a:prstGeom prst="ellipse">
            <a:avLst/>
          </a:prstGeom>
          <a:solidFill>
            <a:srgbClr val="0078D4"/>
          </a:solidFill>
          <a:ln/>
        </p:spPr>
      </p:sp>
      <p:sp>
        <p:nvSpPr>
          <p:cNvPr id="17" name="Text 15"/>
          <p:cNvSpPr/>
          <p:nvPr/>
        </p:nvSpPr>
        <p:spPr>
          <a:xfrm>
            <a:off x="6473952" y="233172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6473952" y="2834640"/>
            <a:ext cx="2368296" cy="594360"/>
          </a:xfrm>
          <a:prstGeom prst="rect">
            <a:avLst/>
          </a:prstGeom>
          <a:noFill/>
          <a:ln/>
        </p:spPr>
        <p:txBody>
          <a:bodyPr wrap="square" lIns="0" tIns="0" rIns="0" bIns="0" rtlCol="0" anchor="ctr"/>
          <a:lstStyle/>
          <a:p>
            <a:pPr marL="0" indent="0">
              <a:lnSpc>
                <a:spcPct val="105000"/>
              </a:lnSpc>
              <a:buNone/>
            </a:pPr>
            <a:r>
              <a:rPr lang="en-US" sz="1350" b="1" dirty="0">
                <a:solidFill>
                  <a:srgbClr val="0B1F33"/>
                </a:solidFill>
                <a:latin typeface="Calibri" pitchFamily="34" charset="0"/>
                <a:ea typeface="Calibri" pitchFamily="34" charset="-122"/>
                <a:cs typeface="Calibri" pitchFamily="34" charset="-120"/>
              </a:rPr>
              <a:t>BioSignal</a:t>
            </a:r>
            <a:endParaRPr lang="en-US" sz="1350" dirty="0"/>
          </a:p>
          <a:p>
            <a:pPr marL="0" indent="0">
              <a:lnSpc>
                <a:spcPct val="105000"/>
              </a:lnSpc>
              <a:buNone/>
            </a:pPr>
            <a:r>
              <a:rPr lang="en-US" sz="1350" b="1" dirty="0">
                <a:solidFill>
                  <a:srgbClr val="0B1F33"/>
                </a:solidFill>
                <a:latin typeface="Calibri" pitchFamily="34" charset="0"/>
                <a:ea typeface="Calibri" pitchFamily="34" charset="-122"/>
                <a:cs typeface="Calibri" pitchFamily="34" charset="-120"/>
              </a:rPr>
              <a:t>Prediction</a:t>
            </a:r>
            <a:endParaRPr lang="en-US" sz="1350" dirty="0"/>
          </a:p>
        </p:txBody>
      </p:sp>
      <p:sp>
        <p:nvSpPr>
          <p:cNvPr id="19" name="Text 17"/>
          <p:cNvSpPr/>
          <p:nvPr/>
        </p:nvSpPr>
        <p:spPr>
          <a:xfrm>
            <a:off x="6473952" y="3429000"/>
            <a:ext cx="2368296" cy="960120"/>
          </a:xfrm>
          <a:prstGeom prst="rect">
            <a:avLst/>
          </a:prstGeom>
          <a:noFill/>
          <a:ln/>
        </p:spPr>
        <p:txBody>
          <a:bodyPr wrap="square" lIns="0" tIns="0" rIns="0" bIns="0" rtlCol="0" anchor="ctr"/>
          <a:lstStyle/>
          <a:p>
            <a:pPr marL="0" indent="0">
              <a:lnSpc>
                <a:spcPct val="120000"/>
              </a:lnSpc>
              <a:buNone/>
            </a:pPr>
            <a:r>
              <a:rPr lang="en-US" sz="1000" dirty="0">
                <a:solidFill>
                  <a:srgbClr val="5A6B7B"/>
                </a:solidFill>
                <a:latin typeface="Calibri" pitchFamily="34" charset="0"/>
                <a:ea typeface="Calibri" pitchFamily="34" charset="-122"/>
                <a:cs typeface="Calibri" pitchFamily="34" charset="-120"/>
              </a:rPr>
              <a:t>Estimate heart rate, blood pressure, and fall-risk status from optical vitals sensing.</a:t>
            </a:r>
            <a:endParaRPr lang="en-US" sz="1000" dirty="0"/>
          </a:p>
        </p:txBody>
      </p:sp>
      <p:sp>
        <p:nvSpPr>
          <p:cNvPr id="20" name="Shape 18"/>
          <p:cNvSpPr/>
          <p:nvPr/>
        </p:nvSpPr>
        <p:spPr>
          <a:xfrm>
            <a:off x="9189720" y="2148840"/>
            <a:ext cx="2697480" cy="2331720"/>
          </a:xfrm>
          <a:prstGeom prst="roundRect">
            <a:avLst>
              <a:gd name="adj" fmla="val 3137"/>
            </a:avLst>
          </a:prstGeom>
          <a:solidFill>
            <a:srgbClr val="F7FAFC"/>
          </a:solidFill>
          <a:ln w="12700">
            <a:solidFill>
              <a:srgbClr val="E2E8F0"/>
            </a:solidFill>
            <a:prstDash val="solid"/>
          </a:ln>
        </p:spPr>
      </p:sp>
      <p:sp>
        <p:nvSpPr>
          <p:cNvPr id="21" name="Shape 19"/>
          <p:cNvSpPr/>
          <p:nvPr/>
        </p:nvSpPr>
        <p:spPr>
          <a:xfrm>
            <a:off x="9354312" y="2331720"/>
            <a:ext cx="365760" cy="365760"/>
          </a:xfrm>
          <a:prstGeom prst="ellipse">
            <a:avLst/>
          </a:prstGeom>
          <a:solidFill>
            <a:srgbClr val="0078D4"/>
          </a:solidFill>
          <a:ln/>
        </p:spPr>
      </p:sp>
      <p:sp>
        <p:nvSpPr>
          <p:cNvPr id="22" name="Text 20"/>
          <p:cNvSpPr/>
          <p:nvPr/>
        </p:nvSpPr>
        <p:spPr>
          <a:xfrm>
            <a:off x="9354312" y="233172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1"/>
          <p:cNvSpPr/>
          <p:nvPr/>
        </p:nvSpPr>
        <p:spPr>
          <a:xfrm>
            <a:off x="9354312" y="2834640"/>
            <a:ext cx="2368296" cy="594360"/>
          </a:xfrm>
          <a:prstGeom prst="rect">
            <a:avLst/>
          </a:prstGeom>
          <a:noFill/>
          <a:ln/>
        </p:spPr>
        <p:txBody>
          <a:bodyPr wrap="square" lIns="0" tIns="0" rIns="0" bIns="0" rtlCol="0" anchor="ctr"/>
          <a:lstStyle/>
          <a:p>
            <a:pPr marL="0" indent="0">
              <a:lnSpc>
                <a:spcPct val="105000"/>
              </a:lnSpc>
              <a:buNone/>
            </a:pPr>
            <a:r>
              <a:rPr lang="en-US" sz="1350" b="1" dirty="0">
                <a:solidFill>
                  <a:srgbClr val="0B1F33"/>
                </a:solidFill>
                <a:latin typeface="Calibri" pitchFamily="34" charset="0"/>
                <a:ea typeface="Calibri" pitchFamily="34" charset="-122"/>
                <a:cs typeface="Calibri" pitchFamily="34" charset="-120"/>
              </a:rPr>
              <a:t>Adaptive</a:t>
            </a:r>
            <a:endParaRPr lang="en-US" sz="1350" dirty="0"/>
          </a:p>
          <a:p>
            <a:pPr marL="0" indent="0">
              <a:lnSpc>
                <a:spcPct val="105000"/>
              </a:lnSpc>
              <a:buNone/>
            </a:pPr>
            <a:r>
              <a:rPr lang="en-US" sz="1350" b="1" dirty="0">
                <a:solidFill>
                  <a:srgbClr val="0B1F33"/>
                </a:solidFill>
                <a:latin typeface="Calibri" pitchFamily="34" charset="0"/>
                <a:ea typeface="Calibri" pitchFamily="34" charset="-122"/>
                <a:cs typeface="Calibri" pitchFamily="34" charset="-120"/>
              </a:rPr>
              <a:t>Alerts</a:t>
            </a:r>
            <a:endParaRPr lang="en-US" sz="1350" dirty="0"/>
          </a:p>
        </p:txBody>
      </p:sp>
      <p:sp>
        <p:nvSpPr>
          <p:cNvPr id="24" name="Text 22"/>
          <p:cNvSpPr/>
          <p:nvPr/>
        </p:nvSpPr>
        <p:spPr>
          <a:xfrm>
            <a:off x="9354312" y="3429000"/>
            <a:ext cx="2368296" cy="960120"/>
          </a:xfrm>
          <a:prstGeom prst="rect">
            <a:avLst/>
          </a:prstGeom>
          <a:noFill/>
          <a:ln/>
        </p:spPr>
        <p:txBody>
          <a:bodyPr wrap="square" lIns="0" tIns="0" rIns="0" bIns="0" rtlCol="0" anchor="ctr"/>
          <a:lstStyle/>
          <a:p>
            <a:pPr marL="0" indent="0">
              <a:lnSpc>
                <a:spcPct val="120000"/>
              </a:lnSpc>
              <a:buNone/>
            </a:pPr>
            <a:r>
              <a:rPr lang="en-US" sz="1000" dirty="0">
                <a:solidFill>
                  <a:srgbClr val="5A6B7B"/>
                </a:solidFill>
                <a:latin typeface="Calibri" pitchFamily="34" charset="0"/>
                <a:ea typeface="Calibri" pitchFamily="34" charset="-122"/>
                <a:cs typeface="Calibri" pitchFamily="34" charset="-120"/>
              </a:rPr>
              <a:t>Turn every risk signal into the right intervention — voice warning, caregiver alert, or emergency escalation.</a:t>
            </a:r>
            <a:endParaRPr lang="en-US" sz="1000" dirty="0"/>
          </a:p>
        </p:txBody>
      </p:sp>
      <p:sp>
        <p:nvSpPr>
          <p:cNvPr id="25" name="Text 23"/>
          <p:cNvSpPr/>
          <p:nvPr/>
        </p:nvSpPr>
        <p:spPr>
          <a:xfrm>
            <a:off x="457200" y="6492240"/>
            <a:ext cx="4572000" cy="256032"/>
          </a:xfrm>
          <a:prstGeom prst="rect">
            <a:avLst/>
          </a:prstGeom>
          <a:noFill/>
          <a:ln/>
        </p:spPr>
        <p:txBody>
          <a:bodyPr wrap="square" lIns="0" tIns="0" rIns="0" bIns="0" rtlCol="0" anchor="ctr"/>
          <a:lstStyle/>
          <a:p>
            <a:pPr marL="0" indent="0">
              <a:buNone/>
            </a:pPr>
            <a:r>
              <a:rPr lang="en-US" sz="900" dirty="0">
                <a:solidFill>
                  <a:srgbClr val="93A3B0"/>
                </a:solidFill>
                <a:latin typeface="Calibri" pitchFamily="34" charset="0"/>
                <a:ea typeface="Calibri" pitchFamily="34" charset="-122"/>
                <a:cs typeface="Calibri" pitchFamily="34" charset="-120"/>
              </a:rPr>
              <a:t>SLIIT FACULTY OF COMPUTING</a:t>
            </a:r>
            <a:endParaRPr lang="en-US" sz="900" dirty="0"/>
          </a:p>
        </p:txBody>
      </p:sp>
      <p:sp>
        <p:nvSpPr>
          <p:cNvPr id="26" name="Text 24"/>
          <p:cNvSpPr/>
          <p:nvPr/>
        </p:nvSpPr>
        <p:spPr>
          <a:xfrm>
            <a:off x="9905695" y="6492240"/>
            <a:ext cx="1371600" cy="256032"/>
          </a:xfrm>
          <a:prstGeom prst="rect">
            <a:avLst/>
          </a:prstGeom>
          <a:noFill/>
          <a:ln/>
        </p:spPr>
        <p:txBody>
          <a:bodyPr wrap="square" lIns="0" tIns="0" rIns="0" bIns="0" rtlCol="0" anchor="ctr"/>
          <a:lstStyle/>
          <a:p>
            <a:pPr marL="0" indent="0" algn="l">
              <a:buNone/>
            </a:pPr>
            <a:r>
              <a:rPr lang="en-US" sz="900" dirty="0">
                <a:solidFill>
                  <a:srgbClr val="93A3B0"/>
                </a:solidFill>
                <a:latin typeface="Calibri" pitchFamily="34" charset="0"/>
                <a:ea typeface="Calibri" pitchFamily="34" charset="-122"/>
                <a:cs typeface="Calibri" pitchFamily="34" charset="-120"/>
              </a:rPr>
              <a:t>R26_IT_051</a:t>
            </a:r>
            <a:endParaRPr lang="en-US" sz="900" dirty="0"/>
          </a:p>
        </p:txBody>
      </p:sp>
      <p:sp>
        <p:nvSpPr>
          <p:cNvPr id="27" name="Text 25"/>
          <p:cNvSpPr/>
          <p:nvPr/>
        </p:nvSpPr>
        <p:spPr>
          <a:xfrm>
            <a:off x="11460175" y="6492240"/>
            <a:ext cx="457200" cy="256032"/>
          </a:xfrm>
          <a:prstGeom prst="rect">
            <a:avLst/>
          </a:prstGeom>
          <a:noFill/>
          <a:ln/>
        </p:spPr>
        <p:txBody>
          <a:bodyPr wrap="square" lIns="0" tIns="0" rIns="0" bIns="0" rtlCol="0" anchor="ctr"/>
          <a:lstStyle/>
          <a:p>
            <a:pPr marL="0" indent="0" algn="r">
              <a:buNone/>
            </a:pPr>
            <a:r>
              <a:rPr lang="en-US" sz="900" dirty="0">
                <a:solidFill>
                  <a:srgbClr val="93A3B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502920"/>
          </a:xfrm>
          <a:prstGeom prst="rect">
            <a:avLst/>
          </a:prstGeom>
          <a:noFill/>
          <a:ln/>
        </p:spPr>
        <p:txBody>
          <a:bodyPr wrap="square" lIns="0" tIns="0" rIns="0" bIns="0" rtlCol="0" anchor="ctr"/>
          <a:lstStyle/>
          <a:p>
            <a:pPr marL="0" indent="0">
              <a:buNone/>
            </a:pPr>
            <a:r>
              <a:rPr lang="en-US" sz="2600" b="1" dirty="0">
                <a:solidFill>
                  <a:srgbClr val="0B1F33"/>
                </a:solidFill>
                <a:latin typeface="Calibri" pitchFamily="34" charset="0"/>
                <a:ea typeface="Calibri" pitchFamily="34" charset="-122"/>
                <a:cs typeface="Calibri" pitchFamily="34" charset="-120"/>
              </a:rPr>
              <a:t>Solution Overview + Architecture</a:t>
            </a:r>
            <a:endParaRPr lang="en-US" sz="2600" dirty="0"/>
          </a:p>
        </p:txBody>
      </p:sp>
      <p:sp>
        <p:nvSpPr>
          <p:cNvPr id="3" name="Text 1"/>
          <p:cNvSpPr/>
          <p:nvPr/>
        </p:nvSpPr>
        <p:spPr>
          <a:xfrm>
            <a:off x="548640" y="868680"/>
            <a:ext cx="11064240" cy="274320"/>
          </a:xfrm>
          <a:prstGeom prst="rect">
            <a:avLst/>
          </a:prstGeom>
          <a:noFill/>
          <a:ln/>
        </p:spPr>
        <p:txBody>
          <a:bodyPr wrap="square" lIns="0" tIns="0" rIns="0" bIns="0" rtlCol="0" anchor="ctr"/>
          <a:lstStyle/>
          <a:p>
            <a:pPr marL="0" indent="0">
              <a:buNone/>
            </a:pPr>
            <a:r>
              <a:rPr lang="en-US" sz="1250" i="1" dirty="0">
                <a:solidFill>
                  <a:srgbClr val="5A6B7B"/>
                </a:solidFill>
                <a:latin typeface="Calibri" pitchFamily="34" charset="0"/>
                <a:ea typeface="Calibri" pitchFamily="34" charset="-122"/>
                <a:cs typeface="Calibri" pitchFamily="34" charset="-120"/>
              </a:rPr>
              <a:t>Four sensing components, fused into one adaptive intervention pipeline</a:t>
            </a:r>
            <a:endParaRPr lang="en-US" sz="1250" dirty="0"/>
          </a:p>
        </p:txBody>
      </p:sp>
      <p:sp>
        <p:nvSpPr>
          <p:cNvPr id="4" name="Shape 2"/>
          <p:cNvSpPr/>
          <p:nvPr/>
        </p:nvSpPr>
        <p:spPr>
          <a:xfrm>
            <a:off x="822960" y="1371600"/>
            <a:ext cx="3200400" cy="777240"/>
          </a:xfrm>
          <a:prstGeom prst="roundRect">
            <a:avLst>
              <a:gd name="adj" fmla="val 9412"/>
            </a:avLst>
          </a:prstGeom>
          <a:solidFill>
            <a:srgbClr val="FFFFFF"/>
          </a:solidFill>
          <a:ln w="19050">
            <a:solidFill>
              <a:srgbClr val="0078D4"/>
            </a:solidFill>
            <a:prstDash val="solid"/>
          </a:ln>
        </p:spPr>
      </p:sp>
      <p:sp>
        <p:nvSpPr>
          <p:cNvPr id="5" name="Text 3"/>
          <p:cNvSpPr/>
          <p:nvPr/>
        </p:nvSpPr>
        <p:spPr>
          <a:xfrm>
            <a:off x="822960" y="1444752"/>
            <a:ext cx="3200400" cy="320040"/>
          </a:xfrm>
          <a:prstGeom prst="rect">
            <a:avLst/>
          </a:prstGeom>
          <a:noFill/>
          <a:ln/>
        </p:spPr>
        <p:txBody>
          <a:bodyPr wrap="square" lIns="0" tIns="0" rIns="0" bIns="0" rtlCol="0" anchor="ctr"/>
          <a:lstStyle/>
          <a:p>
            <a:pPr marL="0" indent="0" algn="ctr">
              <a:buNone/>
            </a:pPr>
            <a:r>
              <a:rPr lang="en-US" sz="1250" b="1" dirty="0">
                <a:solidFill>
                  <a:srgbClr val="0B1F33"/>
                </a:solidFill>
                <a:latin typeface="Calibri" pitchFamily="34" charset="0"/>
                <a:ea typeface="Calibri" pitchFamily="34" charset="-122"/>
                <a:cs typeface="Calibri" pitchFamily="34" charset="-120"/>
              </a:rPr>
              <a:t>Wearable IMU</a:t>
            </a:r>
            <a:endParaRPr lang="en-US" sz="1250" dirty="0"/>
          </a:p>
        </p:txBody>
      </p:sp>
      <p:sp>
        <p:nvSpPr>
          <p:cNvPr id="6" name="Text 4"/>
          <p:cNvSpPr/>
          <p:nvPr/>
        </p:nvSpPr>
        <p:spPr>
          <a:xfrm>
            <a:off x="822960" y="1783080"/>
            <a:ext cx="3200400" cy="292608"/>
          </a:xfrm>
          <a:prstGeom prst="rect">
            <a:avLst/>
          </a:prstGeom>
          <a:noFill/>
          <a:ln/>
        </p:spPr>
        <p:txBody>
          <a:bodyPr wrap="square" lIns="0" tIns="0" rIns="0" bIns="0" rtlCol="0" anchor="ctr"/>
          <a:lstStyle/>
          <a:p>
            <a:pPr marL="0" indent="0" algn="ctr">
              <a:buNone/>
            </a:pPr>
            <a:r>
              <a:rPr lang="en-US" sz="1000" dirty="0">
                <a:solidFill>
                  <a:srgbClr val="0078D4"/>
                </a:solidFill>
                <a:latin typeface="Calibri" pitchFamily="34" charset="0"/>
                <a:ea typeface="Calibri" pitchFamily="34" charset="-122"/>
                <a:cs typeface="Calibri" pitchFamily="34" charset="-120"/>
              </a:rPr>
              <a:t>Activity Recognition</a:t>
            </a:r>
            <a:endParaRPr lang="en-US" sz="1000" dirty="0"/>
          </a:p>
        </p:txBody>
      </p:sp>
      <p:sp>
        <p:nvSpPr>
          <p:cNvPr id="7" name="Shape 5"/>
          <p:cNvSpPr/>
          <p:nvPr/>
        </p:nvSpPr>
        <p:spPr>
          <a:xfrm>
            <a:off x="4343400" y="1371600"/>
            <a:ext cx="3200400" cy="777240"/>
          </a:xfrm>
          <a:prstGeom prst="roundRect">
            <a:avLst>
              <a:gd name="adj" fmla="val 9412"/>
            </a:avLst>
          </a:prstGeom>
          <a:solidFill>
            <a:srgbClr val="FFFFFF"/>
          </a:solidFill>
          <a:ln w="19050">
            <a:solidFill>
              <a:srgbClr val="0078D4"/>
            </a:solidFill>
            <a:prstDash val="solid"/>
          </a:ln>
        </p:spPr>
      </p:sp>
      <p:sp>
        <p:nvSpPr>
          <p:cNvPr id="8" name="Text 6"/>
          <p:cNvSpPr/>
          <p:nvPr/>
        </p:nvSpPr>
        <p:spPr>
          <a:xfrm>
            <a:off x="4343400" y="1444752"/>
            <a:ext cx="3200400" cy="320040"/>
          </a:xfrm>
          <a:prstGeom prst="rect">
            <a:avLst/>
          </a:prstGeom>
          <a:noFill/>
          <a:ln/>
        </p:spPr>
        <p:txBody>
          <a:bodyPr wrap="square" lIns="0" tIns="0" rIns="0" bIns="0" rtlCol="0" anchor="ctr"/>
          <a:lstStyle/>
          <a:p>
            <a:pPr marL="0" indent="0" algn="ctr">
              <a:buNone/>
            </a:pPr>
            <a:r>
              <a:rPr lang="en-US" sz="1250" b="1" dirty="0">
                <a:solidFill>
                  <a:srgbClr val="0B1F33"/>
                </a:solidFill>
                <a:latin typeface="Calibri" pitchFamily="34" charset="0"/>
                <a:ea typeface="Calibri" pitchFamily="34" charset="-122"/>
                <a:cs typeface="Calibri" pitchFamily="34" charset="-120"/>
              </a:rPr>
              <a:t>Camera + IoT Sensors</a:t>
            </a:r>
            <a:endParaRPr lang="en-US" sz="1250" dirty="0"/>
          </a:p>
        </p:txBody>
      </p:sp>
      <p:sp>
        <p:nvSpPr>
          <p:cNvPr id="9" name="Text 7"/>
          <p:cNvSpPr/>
          <p:nvPr/>
        </p:nvSpPr>
        <p:spPr>
          <a:xfrm>
            <a:off x="4343400" y="1783080"/>
            <a:ext cx="3200400" cy="292608"/>
          </a:xfrm>
          <a:prstGeom prst="rect">
            <a:avLst/>
          </a:prstGeom>
          <a:noFill/>
          <a:ln/>
        </p:spPr>
        <p:txBody>
          <a:bodyPr wrap="square" lIns="0" tIns="0" rIns="0" bIns="0" rtlCol="0" anchor="ctr"/>
          <a:lstStyle/>
          <a:p>
            <a:pPr marL="0" indent="0" algn="ctr">
              <a:buNone/>
            </a:pPr>
            <a:r>
              <a:rPr lang="en-US" sz="1000" dirty="0">
                <a:solidFill>
                  <a:srgbClr val="0078D4"/>
                </a:solidFill>
                <a:latin typeface="Calibri" pitchFamily="34" charset="0"/>
                <a:ea typeface="Calibri" pitchFamily="34" charset="-122"/>
                <a:cs typeface="Calibri" pitchFamily="34" charset="-120"/>
              </a:rPr>
              <a:t>Environmental Mapping</a:t>
            </a:r>
            <a:endParaRPr lang="en-US" sz="1000" dirty="0"/>
          </a:p>
        </p:txBody>
      </p:sp>
      <p:sp>
        <p:nvSpPr>
          <p:cNvPr id="10" name="Shape 8"/>
          <p:cNvSpPr/>
          <p:nvPr/>
        </p:nvSpPr>
        <p:spPr>
          <a:xfrm>
            <a:off x="7863840" y="1371600"/>
            <a:ext cx="3200400" cy="777240"/>
          </a:xfrm>
          <a:prstGeom prst="roundRect">
            <a:avLst>
              <a:gd name="adj" fmla="val 9412"/>
            </a:avLst>
          </a:prstGeom>
          <a:solidFill>
            <a:srgbClr val="FFFFFF"/>
          </a:solidFill>
          <a:ln w="19050">
            <a:solidFill>
              <a:srgbClr val="0078D4"/>
            </a:solidFill>
            <a:prstDash val="solid"/>
          </a:ln>
        </p:spPr>
      </p:sp>
      <p:sp>
        <p:nvSpPr>
          <p:cNvPr id="11" name="Text 9"/>
          <p:cNvSpPr/>
          <p:nvPr/>
        </p:nvSpPr>
        <p:spPr>
          <a:xfrm>
            <a:off x="7863840" y="1444752"/>
            <a:ext cx="3200400" cy="320040"/>
          </a:xfrm>
          <a:prstGeom prst="rect">
            <a:avLst/>
          </a:prstGeom>
          <a:noFill/>
          <a:ln/>
        </p:spPr>
        <p:txBody>
          <a:bodyPr wrap="square" lIns="0" tIns="0" rIns="0" bIns="0" rtlCol="0" anchor="ctr"/>
          <a:lstStyle/>
          <a:p>
            <a:pPr marL="0" indent="0" algn="ctr">
              <a:buNone/>
            </a:pPr>
            <a:r>
              <a:rPr lang="en-US" sz="1250" b="1" dirty="0">
                <a:solidFill>
                  <a:srgbClr val="0B1F33"/>
                </a:solidFill>
                <a:latin typeface="Calibri" pitchFamily="34" charset="0"/>
                <a:ea typeface="Calibri" pitchFamily="34" charset="-122"/>
                <a:cs typeface="Calibri" pitchFamily="34" charset="-120"/>
              </a:rPr>
              <a:t>MAX30102 Sensor</a:t>
            </a:r>
            <a:endParaRPr lang="en-US" sz="1250" dirty="0"/>
          </a:p>
        </p:txBody>
      </p:sp>
      <p:sp>
        <p:nvSpPr>
          <p:cNvPr id="12" name="Text 10"/>
          <p:cNvSpPr/>
          <p:nvPr/>
        </p:nvSpPr>
        <p:spPr>
          <a:xfrm>
            <a:off x="7863840" y="1783080"/>
            <a:ext cx="3200400" cy="292608"/>
          </a:xfrm>
          <a:prstGeom prst="rect">
            <a:avLst/>
          </a:prstGeom>
          <a:noFill/>
          <a:ln/>
        </p:spPr>
        <p:txBody>
          <a:bodyPr wrap="square" lIns="0" tIns="0" rIns="0" bIns="0" rtlCol="0" anchor="ctr"/>
          <a:lstStyle/>
          <a:p>
            <a:pPr marL="0" indent="0" algn="ctr">
              <a:buNone/>
            </a:pPr>
            <a:r>
              <a:rPr lang="en-US" sz="1000" dirty="0">
                <a:solidFill>
                  <a:srgbClr val="0078D4"/>
                </a:solidFill>
                <a:latin typeface="Calibri" pitchFamily="34" charset="0"/>
                <a:ea typeface="Calibri" pitchFamily="34" charset="-122"/>
                <a:cs typeface="Calibri" pitchFamily="34" charset="-120"/>
              </a:rPr>
              <a:t>BioSignal Prediction</a:t>
            </a:r>
            <a:endParaRPr lang="en-US" sz="1000" dirty="0"/>
          </a:p>
        </p:txBody>
      </p:sp>
      <p:sp>
        <p:nvSpPr>
          <p:cNvPr id="13" name="Shape 11"/>
          <p:cNvSpPr/>
          <p:nvPr/>
        </p:nvSpPr>
        <p:spPr>
          <a:xfrm>
            <a:off x="5958688" y="2176272"/>
            <a:ext cx="274320" cy="320040"/>
          </a:xfrm>
          <a:prstGeom prst="downArrow">
            <a:avLst/>
          </a:prstGeom>
          <a:solidFill>
            <a:srgbClr val="93A3B0"/>
          </a:solidFill>
          <a:ln/>
        </p:spPr>
      </p:sp>
      <p:sp>
        <p:nvSpPr>
          <p:cNvPr id="14" name="Shape 12"/>
          <p:cNvSpPr/>
          <p:nvPr/>
        </p:nvSpPr>
        <p:spPr>
          <a:xfrm>
            <a:off x="3200400" y="2514600"/>
            <a:ext cx="5760720" cy="731520"/>
          </a:xfrm>
          <a:prstGeom prst="roundRect">
            <a:avLst>
              <a:gd name="adj" fmla="val 10000"/>
            </a:avLst>
          </a:prstGeom>
          <a:solidFill>
            <a:srgbClr val="0078D4"/>
          </a:solidFill>
          <a:ln/>
        </p:spPr>
      </p:sp>
      <p:sp>
        <p:nvSpPr>
          <p:cNvPr id="15" name="Text 13"/>
          <p:cNvSpPr/>
          <p:nvPr/>
        </p:nvSpPr>
        <p:spPr>
          <a:xfrm>
            <a:off x="3200400" y="2514600"/>
            <a:ext cx="5760720" cy="7315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Fused Risk Assessment  (FallDetected · FallType · RiskScore · Context)</a:t>
            </a:r>
            <a:endParaRPr lang="en-US" sz="1300" dirty="0"/>
          </a:p>
        </p:txBody>
      </p:sp>
      <p:sp>
        <p:nvSpPr>
          <p:cNvPr id="16" name="Shape 14"/>
          <p:cNvSpPr/>
          <p:nvPr/>
        </p:nvSpPr>
        <p:spPr>
          <a:xfrm>
            <a:off x="5958688" y="3319272"/>
            <a:ext cx="274320" cy="274320"/>
          </a:xfrm>
          <a:prstGeom prst="downArrow">
            <a:avLst/>
          </a:prstGeom>
          <a:solidFill>
            <a:srgbClr val="93A3B0"/>
          </a:solidFill>
          <a:ln/>
        </p:spPr>
      </p:sp>
      <p:sp>
        <p:nvSpPr>
          <p:cNvPr id="17" name="Shape 15"/>
          <p:cNvSpPr/>
          <p:nvPr/>
        </p:nvSpPr>
        <p:spPr>
          <a:xfrm>
            <a:off x="3200400" y="3657600"/>
            <a:ext cx="5760720" cy="731520"/>
          </a:xfrm>
          <a:prstGeom prst="roundRect">
            <a:avLst>
              <a:gd name="adj" fmla="val 10000"/>
            </a:avLst>
          </a:prstGeom>
          <a:solidFill>
            <a:srgbClr val="0B1F33"/>
          </a:solidFill>
          <a:ln/>
        </p:spPr>
      </p:sp>
      <p:sp>
        <p:nvSpPr>
          <p:cNvPr id="18" name="Text 16"/>
          <p:cNvSpPr/>
          <p:nvPr/>
        </p:nvSpPr>
        <p:spPr>
          <a:xfrm>
            <a:off x="3200400" y="3657600"/>
            <a:ext cx="5760720" cy="731520"/>
          </a:xfrm>
          <a:prstGeom prst="rect">
            <a:avLst/>
          </a:prstGeom>
          <a:noFill/>
          <a:ln/>
        </p:spPr>
        <p:txBody>
          <a:bodyPr wrap="square" lIns="0" tIns="0" rIns="0" bIns="0" rtlCol="0" anchor="ctr"/>
          <a:lstStyle/>
          <a:p>
            <a:pPr marL="0" indent="0" algn="ctr">
              <a:buNone/>
            </a:pPr>
            <a:r>
              <a:rPr lang="en-US" sz="1300" b="1" dirty="0">
                <a:solidFill>
                  <a:srgbClr val="00C2D1"/>
                </a:solidFill>
                <a:latin typeface="Calibri" pitchFamily="34" charset="0"/>
                <a:ea typeface="Calibri" pitchFamily="34" charset="-122"/>
                <a:cs typeface="Calibri" pitchFamily="34" charset="-120"/>
              </a:rPr>
              <a:t>Component 4 — XGBoost Alert Decision Engine</a:t>
            </a:r>
            <a:endParaRPr lang="en-US" sz="1300" dirty="0"/>
          </a:p>
        </p:txBody>
      </p:sp>
      <p:sp>
        <p:nvSpPr>
          <p:cNvPr id="19" name="Shape 17"/>
          <p:cNvSpPr/>
          <p:nvPr/>
        </p:nvSpPr>
        <p:spPr>
          <a:xfrm>
            <a:off x="5958688" y="4462272"/>
            <a:ext cx="274320" cy="274320"/>
          </a:xfrm>
          <a:prstGeom prst="downArrow">
            <a:avLst/>
          </a:prstGeom>
          <a:solidFill>
            <a:srgbClr val="93A3B0"/>
          </a:solidFill>
          <a:ln/>
        </p:spPr>
      </p:sp>
      <p:sp>
        <p:nvSpPr>
          <p:cNvPr id="20" name="Shape 18"/>
          <p:cNvSpPr/>
          <p:nvPr/>
        </p:nvSpPr>
        <p:spPr>
          <a:xfrm>
            <a:off x="548640" y="4800600"/>
            <a:ext cx="2057400" cy="640080"/>
          </a:xfrm>
          <a:prstGeom prst="roundRect">
            <a:avLst>
              <a:gd name="adj" fmla="val 8571"/>
            </a:avLst>
          </a:prstGeom>
          <a:solidFill>
            <a:srgbClr val="F7FAFC"/>
          </a:solidFill>
          <a:ln w="12700">
            <a:solidFill>
              <a:srgbClr val="E2E8F0"/>
            </a:solidFill>
            <a:prstDash val="solid"/>
          </a:ln>
        </p:spPr>
      </p:sp>
      <p:sp>
        <p:nvSpPr>
          <p:cNvPr id="21" name="Text 19"/>
          <p:cNvSpPr/>
          <p:nvPr/>
        </p:nvSpPr>
        <p:spPr>
          <a:xfrm>
            <a:off x="548640" y="4800600"/>
            <a:ext cx="2057400" cy="640080"/>
          </a:xfrm>
          <a:prstGeom prst="rect">
            <a:avLst/>
          </a:prstGeom>
          <a:noFill/>
          <a:ln/>
        </p:spPr>
        <p:txBody>
          <a:bodyPr wrap="square" lIns="0" tIns="0" rIns="0" bIns="0" rtlCol="0" anchor="ctr"/>
          <a:lstStyle/>
          <a:p>
            <a:pPr marL="0" indent="0" algn="ctr">
              <a:buNone/>
            </a:pPr>
            <a:r>
              <a:rPr lang="en-US" sz="1050" b="1" dirty="0">
                <a:solidFill>
                  <a:srgbClr val="0B1F33"/>
                </a:solidFill>
                <a:latin typeface="Calibri" pitchFamily="34" charset="0"/>
                <a:ea typeface="Calibri" pitchFamily="34" charset="-122"/>
                <a:cs typeface="Calibri" pitchFamily="34" charset="-120"/>
              </a:rPr>
              <a:t>Alert Selection</a:t>
            </a:r>
            <a:endParaRPr lang="en-US" sz="1050" dirty="0"/>
          </a:p>
        </p:txBody>
      </p:sp>
      <p:sp>
        <p:nvSpPr>
          <p:cNvPr id="22" name="Shape 20"/>
          <p:cNvSpPr/>
          <p:nvPr/>
        </p:nvSpPr>
        <p:spPr>
          <a:xfrm>
            <a:off x="2624328" y="5029200"/>
            <a:ext cx="109728" cy="182880"/>
          </a:xfrm>
          <a:prstGeom prst="rightArrow">
            <a:avLst/>
          </a:prstGeom>
          <a:solidFill>
            <a:srgbClr val="93A3B0"/>
          </a:solidFill>
          <a:ln/>
        </p:spPr>
      </p:sp>
      <p:sp>
        <p:nvSpPr>
          <p:cNvPr id="23" name="Shape 21"/>
          <p:cNvSpPr/>
          <p:nvPr/>
        </p:nvSpPr>
        <p:spPr>
          <a:xfrm>
            <a:off x="2743200" y="4800600"/>
            <a:ext cx="2057400" cy="640080"/>
          </a:xfrm>
          <a:prstGeom prst="roundRect">
            <a:avLst>
              <a:gd name="adj" fmla="val 8571"/>
            </a:avLst>
          </a:prstGeom>
          <a:solidFill>
            <a:srgbClr val="F7FAFC"/>
          </a:solidFill>
          <a:ln w="12700">
            <a:solidFill>
              <a:srgbClr val="E2E8F0"/>
            </a:solidFill>
            <a:prstDash val="solid"/>
          </a:ln>
        </p:spPr>
      </p:sp>
      <p:sp>
        <p:nvSpPr>
          <p:cNvPr id="24" name="Text 22"/>
          <p:cNvSpPr/>
          <p:nvPr/>
        </p:nvSpPr>
        <p:spPr>
          <a:xfrm>
            <a:off x="2743200" y="4800600"/>
            <a:ext cx="2057400" cy="640080"/>
          </a:xfrm>
          <a:prstGeom prst="rect">
            <a:avLst/>
          </a:prstGeom>
          <a:noFill/>
          <a:ln/>
        </p:spPr>
        <p:txBody>
          <a:bodyPr wrap="square" lIns="0" tIns="0" rIns="0" bIns="0" rtlCol="0" anchor="ctr"/>
          <a:lstStyle/>
          <a:p>
            <a:pPr marL="0" indent="0" algn="ctr">
              <a:buNone/>
            </a:pPr>
            <a:r>
              <a:rPr lang="en-US" sz="1050" b="1" dirty="0">
                <a:solidFill>
                  <a:srgbClr val="0B1F33"/>
                </a:solidFill>
                <a:latin typeface="Calibri" pitchFamily="34" charset="0"/>
                <a:ea typeface="Calibri" pitchFamily="34" charset="-122"/>
                <a:cs typeface="Calibri" pitchFamily="34" charset="-120"/>
              </a:rPr>
              <a:t>Notification</a:t>
            </a:r>
            <a:endParaRPr lang="en-US" sz="1050" dirty="0"/>
          </a:p>
        </p:txBody>
      </p:sp>
      <p:sp>
        <p:nvSpPr>
          <p:cNvPr id="25" name="Shape 23"/>
          <p:cNvSpPr/>
          <p:nvPr/>
        </p:nvSpPr>
        <p:spPr>
          <a:xfrm>
            <a:off x="4818888" y="5029200"/>
            <a:ext cx="109728" cy="182880"/>
          </a:xfrm>
          <a:prstGeom prst="rightArrow">
            <a:avLst/>
          </a:prstGeom>
          <a:solidFill>
            <a:srgbClr val="93A3B0"/>
          </a:solidFill>
          <a:ln/>
        </p:spPr>
      </p:sp>
      <p:sp>
        <p:nvSpPr>
          <p:cNvPr id="26" name="Shape 24"/>
          <p:cNvSpPr/>
          <p:nvPr/>
        </p:nvSpPr>
        <p:spPr>
          <a:xfrm>
            <a:off x="4937760" y="4800600"/>
            <a:ext cx="2057400" cy="640080"/>
          </a:xfrm>
          <a:prstGeom prst="roundRect">
            <a:avLst>
              <a:gd name="adj" fmla="val 8571"/>
            </a:avLst>
          </a:prstGeom>
          <a:solidFill>
            <a:srgbClr val="F7FAFC"/>
          </a:solidFill>
          <a:ln w="12700">
            <a:solidFill>
              <a:srgbClr val="E2E8F0"/>
            </a:solidFill>
            <a:prstDash val="solid"/>
          </a:ln>
        </p:spPr>
      </p:sp>
      <p:sp>
        <p:nvSpPr>
          <p:cNvPr id="27" name="Text 25"/>
          <p:cNvSpPr/>
          <p:nvPr/>
        </p:nvSpPr>
        <p:spPr>
          <a:xfrm>
            <a:off x="4937760" y="4800600"/>
            <a:ext cx="2057400" cy="640080"/>
          </a:xfrm>
          <a:prstGeom prst="rect">
            <a:avLst/>
          </a:prstGeom>
          <a:noFill/>
          <a:ln/>
        </p:spPr>
        <p:txBody>
          <a:bodyPr wrap="square" lIns="0" tIns="0" rIns="0" bIns="0" rtlCol="0" anchor="ctr"/>
          <a:lstStyle/>
          <a:p>
            <a:pPr marL="0" indent="0" algn="ctr">
              <a:buNone/>
            </a:pPr>
            <a:r>
              <a:rPr lang="en-US" sz="1050" b="1" dirty="0">
                <a:solidFill>
                  <a:srgbClr val="0B1F33"/>
                </a:solidFill>
                <a:latin typeface="Calibri" pitchFamily="34" charset="0"/>
                <a:ea typeface="Calibri" pitchFamily="34" charset="-122"/>
                <a:cs typeface="Calibri" pitchFamily="34" charset="-120"/>
              </a:rPr>
              <a:t>Recovery Guidance</a:t>
            </a:r>
            <a:endParaRPr lang="en-US" sz="1050" dirty="0"/>
          </a:p>
        </p:txBody>
      </p:sp>
      <p:sp>
        <p:nvSpPr>
          <p:cNvPr id="28" name="Shape 26"/>
          <p:cNvSpPr/>
          <p:nvPr/>
        </p:nvSpPr>
        <p:spPr>
          <a:xfrm>
            <a:off x="7013448" y="5029200"/>
            <a:ext cx="109728" cy="182880"/>
          </a:xfrm>
          <a:prstGeom prst="rightArrow">
            <a:avLst/>
          </a:prstGeom>
          <a:solidFill>
            <a:srgbClr val="93A3B0"/>
          </a:solidFill>
          <a:ln/>
        </p:spPr>
      </p:sp>
      <p:sp>
        <p:nvSpPr>
          <p:cNvPr id="29" name="Shape 27"/>
          <p:cNvSpPr/>
          <p:nvPr/>
        </p:nvSpPr>
        <p:spPr>
          <a:xfrm>
            <a:off x="7132320" y="4800600"/>
            <a:ext cx="2057400" cy="640080"/>
          </a:xfrm>
          <a:prstGeom prst="roundRect">
            <a:avLst>
              <a:gd name="adj" fmla="val 8571"/>
            </a:avLst>
          </a:prstGeom>
          <a:solidFill>
            <a:srgbClr val="F7FAFC"/>
          </a:solidFill>
          <a:ln w="12700">
            <a:solidFill>
              <a:srgbClr val="E2E8F0"/>
            </a:solidFill>
            <a:prstDash val="solid"/>
          </a:ln>
        </p:spPr>
      </p:sp>
      <p:sp>
        <p:nvSpPr>
          <p:cNvPr id="30" name="Text 28"/>
          <p:cNvSpPr/>
          <p:nvPr/>
        </p:nvSpPr>
        <p:spPr>
          <a:xfrm>
            <a:off x="7132320" y="4800600"/>
            <a:ext cx="2057400" cy="640080"/>
          </a:xfrm>
          <a:prstGeom prst="rect">
            <a:avLst/>
          </a:prstGeom>
          <a:noFill/>
          <a:ln/>
        </p:spPr>
        <p:txBody>
          <a:bodyPr wrap="square" lIns="0" tIns="0" rIns="0" bIns="0" rtlCol="0" anchor="ctr"/>
          <a:lstStyle/>
          <a:p>
            <a:pPr marL="0" indent="0" algn="ctr">
              <a:buNone/>
            </a:pPr>
            <a:r>
              <a:rPr lang="en-US" sz="1050" b="1" dirty="0">
                <a:solidFill>
                  <a:srgbClr val="0B1F33"/>
                </a:solidFill>
                <a:latin typeface="Calibri" pitchFamily="34" charset="0"/>
                <a:ea typeface="Calibri" pitchFamily="34" charset="-122"/>
                <a:cs typeface="Calibri" pitchFamily="34" charset="-120"/>
              </a:rPr>
              <a:t>Sensor Feedback</a:t>
            </a:r>
            <a:endParaRPr lang="en-US" sz="1050" dirty="0"/>
          </a:p>
        </p:txBody>
      </p:sp>
      <p:sp>
        <p:nvSpPr>
          <p:cNvPr id="31" name="Shape 29"/>
          <p:cNvSpPr/>
          <p:nvPr/>
        </p:nvSpPr>
        <p:spPr>
          <a:xfrm>
            <a:off x="9208008" y="5029200"/>
            <a:ext cx="109728" cy="182880"/>
          </a:xfrm>
          <a:prstGeom prst="rightArrow">
            <a:avLst/>
          </a:prstGeom>
          <a:solidFill>
            <a:srgbClr val="93A3B0"/>
          </a:solidFill>
          <a:ln/>
        </p:spPr>
      </p:sp>
      <p:sp>
        <p:nvSpPr>
          <p:cNvPr id="32" name="Shape 30"/>
          <p:cNvSpPr/>
          <p:nvPr/>
        </p:nvSpPr>
        <p:spPr>
          <a:xfrm>
            <a:off x="9326880" y="4800600"/>
            <a:ext cx="2057400" cy="640080"/>
          </a:xfrm>
          <a:prstGeom prst="roundRect">
            <a:avLst>
              <a:gd name="adj" fmla="val 8571"/>
            </a:avLst>
          </a:prstGeom>
          <a:solidFill>
            <a:srgbClr val="F7FAFC"/>
          </a:solidFill>
          <a:ln w="12700">
            <a:solidFill>
              <a:srgbClr val="E2E8F0"/>
            </a:solidFill>
            <a:prstDash val="solid"/>
          </a:ln>
        </p:spPr>
      </p:sp>
      <p:sp>
        <p:nvSpPr>
          <p:cNvPr id="33" name="Text 31"/>
          <p:cNvSpPr/>
          <p:nvPr/>
        </p:nvSpPr>
        <p:spPr>
          <a:xfrm>
            <a:off x="9326880" y="4800600"/>
            <a:ext cx="2057400" cy="640080"/>
          </a:xfrm>
          <a:prstGeom prst="rect">
            <a:avLst/>
          </a:prstGeom>
          <a:noFill/>
          <a:ln/>
        </p:spPr>
        <p:txBody>
          <a:bodyPr wrap="square" lIns="0" tIns="0" rIns="0" bIns="0" rtlCol="0" anchor="ctr"/>
          <a:lstStyle/>
          <a:p>
            <a:pPr marL="0" indent="0" algn="ctr">
              <a:buNone/>
            </a:pPr>
            <a:r>
              <a:rPr lang="en-US" sz="1050" b="1" dirty="0">
                <a:solidFill>
                  <a:srgbClr val="0B1F33"/>
                </a:solidFill>
                <a:latin typeface="Calibri" pitchFamily="34" charset="0"/>
                <a:ea typeface="Calibri" pitchFamily="34" charset="-122"/>
                <a:cs typeface="Calibri" pitchFamily="34" charset="-120"/>
              </a:rPr>
              <a:t>Adaptive Response</a:t>
            </a:r>
            <a:endParaRPr lang="en-US" sz="1050" dirty="0"/>
          </a:p>
        </p:txBody>
      </p:sp>
      <p:sp>
        <p:nvSpPr>
          <p:cNvPr id="34" name="Text 32"/>
          <p:cNvSpPr/>
          <p:nvPr/>
        </p:nvSpPr>
        <p:spPr>
          <a:xfrm>
            <a:off x="548640" y="5669280"/>
            <a:ext cx="11064240" cy="365760"/>
          </a:xfrm>
          <a:prstGeom prst="rect">
            <a:avLst/>
          </a:prstGeom>
          <a:noFill/>
          <a:ln/>
        </p:spPr>
        <p:txBody>
          <a:bodyPr wrap="square" lIns="0" tIns="0" rIns="0" bIns="0" rtlCol="0" anchor="ctr"/>
          <a:lstStyle/>
          <a:p>
            <a:pPr marL="0" indent="0">
              <a:buNone/>
            </a:pPr>
            <a:r>
              <a:rPr lang="en-US" sz="1100" i="1" dirty="0">
                <a:solidFill>
                  <a:srgbClr val="5A6B7B"/>
                </a:solidFill>
                <a:latin typeface="Calibri" pitchFamily="34" charset="0"/>
                <a:ea typeface="Calibri" pitchFamily="34" charset="-122"/>
                <a:cs typeface="Calibri" pitchFamily="34" charset="-120"/>
              </a:rPr>
              <a:t>Core principle: each component produces evidence for the next stage — a coordinated pipeline, not four disconnected demos.</a:t>
            </a:r>
            <a:endParaRPr lang="en-US" sz="1100" dirty="0"/>
          </a:p>
        </p:txBody>
      </p:sp>
      <p:sp>
        <p:nvSpPr>
          <p:cNvPr id="35" name="Text 33"/>
          <p:cNvSpPr/>
          <p:nvPr/>
        </p:nvSpPr>
        <p:spPr>
          <a:xfrm>
            <a:off x="457200" y="6492240"/>
            <a:ext cx="4572000" cy="256032"/>
          </a:xfrm>
          <a:prstGeom prst="rect">
            <a:avLst/>
          </a:prstGeom>
          <a:noFill/>
          <a:ln/>
        </p:spPr>
        <p:txBody>
          <a:bodyPr wrap="square" lIns="0" tIns="0" rIns="0" bIns="0" rtlCol="0" anchor="ctr"/>
          <a:lstStyle/>
          <a:p>
            <a:pPr marL="0" indent="0">
              <a:buNone/>
            </a:pPr>
            <a:r>
              <a:rPr lang="en-US" sz="900" dirty="0">
                <a:solidFill>
                  <a:srgbClr val="93A3B0"/>
                </a:solidFill>
                <a:latin typeface="Calibri" pitchFamily="34" charset="0"/>
                <a:ea typeface="Calibri" pitchFamily="34" charset="-122"/>
                <a:cs typeface="Calibri" pitchFamily="34" charset="-120"/>
              </a:rPr>
              <a:t>SLIIT FACULTY OF COMPUTING</a:t>
            </a:r>
            <a:endParaRPr lang="en-US" sz="900" dirty="0"/>
          </a:p>
        </p:txBody>
      </p:sp>
      <p:sp>
        <p:nvSpPr>
          <p:cNvPr id="36" name="Text 34"/>
          <p:cNvSpPr/>
          <p:nvPr/>
        </p:nvSpPr>
        <p:spPr>
          <a:xfrm>
            <a:off x="9905695" y="6492240"/>
            <a:ext cx="1371600" cy="256032"/>
          </a:xfrm>
          <a:prstGeom prst="rect">
            <a:avLst/>
          </a:prstGeom>
          <a:noFill/>
          <a:ln/>
        </p:spPr>
        <p:txBody>
          <a:bodyPr wrap="square" lIns="0" tIns="0" rIns="0" bIns="0" rtlCol="0" anchor="ctr"/>
          <a:lstStyle/>
          <a:p>
            <a:pPr marL="0" indent="0" algn="l">
              <a:buNone/>
            </a:pPr>
            <a:r>
              <a:rPr lang="en-US" sz="900" dirty="0">
                <a:solidFill>
                  <a:srgbClr val="93A3B0"/>
                </a:solidFill>
                <a:latin typeface="Calibri" pitchFamily="34" charset="0"/>
                <a:ea typeface="Calibri" pitchFamily="34" charset="-122"/>
                <a:cs typeface="Calibri" pitchFamily="34" charset="-120"/>
              </a:rPr>
              <a:t>R26_IT_051</a:t>
            </a:r>
            <a:endParaRPr lang="en-US" sz="900" dirty="0"/>
          </a:p>
        </p:txBody>
      </p:sp>
      <p:sp>
        <p:nvSpPr>
          <p:cNvPr id="37" name="Text 35"/>
          <p:cNvSpPr/>
          <p:nvPr/>
        </p:nvSpPr>
        <p:spPr>
          <a:xfrm>
            <a:off x="11460175" y="6492240"/>
            <a:ext cx="457200" cy="256032"/>
          </a:xfrm>
          <a:prstGeom prst="rect">
            <a:avLst/>
          </a:prstGeom>
          <a:noFill/>
          <a:ln/>
        </p:spPr>
        <p:txBody>
          <a:bodyPr wrap="square" lIns="0" tIns="0" rIns="0" bIns="0" rtlCol="0" anchor="ctr"/>
          <a:lstStyle/>
          <a:p>
            <a:pPr marL="0" indent="0" algn="r">
              <a:buNone/>
            </a:pPr>
            <a:r>
              <a:rPr lang="en-US" sz="900" dirty="0">
                <a:solidFill>
                  <a:srgbClr val="93A3B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502920"/>
          </a:xfrm>
          <a:prstGeom prst="rect">
            <a:avLst/>
          </a:prstGeom>
          <a:noFill/>
          <a:ln/>
        </p:spPr>
        <p:txBody>
          <a:bodyPr wrap="square" lIns="0" tIns="0" rIns="0" bIns="0" rtlCol="0" anchor="ctr"/>
          <a:lstStyle/>
          <a:p>
            <a:pPr marL="0" indent="0">
              <a:buNone/>
            </a:pPr>
            <a:r>
              <a:rPr lang="en-US" sz="2600" b="1" dirty="0">
                <a:solidFill>
                  <a:srgbClr val="0B1F33"/>
                </a:solidFill>
                <a:latin typeface="Calibri" pitchFamily="34" charset="0"/>
                <a:ea typeface="Calibri" pitchFamily="34" charset="-122"/>
                <a:cs typeface="Calibri" pitchFamily="34" charset="-120"/>
              </a:rPr>
              <a:t>From Four Components to One Working System</a:t>
            </a:r>
            <a:endParaRPr lang="en-US" sz="2600" dirty="0"/>
          </a:p>
        </p:txBody>
      </p:sp>
      <p:sp>
        <p:nvSpPr>
          <p:cNvPr id="3" name="Text 1"/>
          <p:cNvSpPr/>
          <p:nvPr/>
        </p:nvSpPr>
        <p:spPr>
          <a:xfrm>
            <a:off x="548640" y="868680"/>
            <a:ext cx="11064240" cy="274320"/>
          </a:xfrm>
          <a:prstGeom prst="rect">
            <a:avLst/>
          </a:prstGeom>
          <a:noFill/>
          <a:ln/>
        </p:spPr>
        <p:txBody>
          <a:bodyPr wrap="square" lIns="0" tIns="0" rIns="0" bIns="0" rtlCol="0" anchor="ctr"/>
          <a:lstStyle/>
          <a:p>
            <a:pPr marL="0" indent="0">
              <a:buNone/>
            </a:pPr>
            <a:r>
              <a:rPr lang="en-US" sz="1200" i="1" dirty="0">
                <a:solidFill>
                  <a:srgbClr val="5A6B7B"/>
                </a:solidFill>
                <a:latin typeface="Calibri" pitchFamily="34" charset="0"/>
                <a:ea typeface="Calibri" pitchFamily="34" charset="-122"/>
                <a:cs typeface="Calibri" pitchFamily="34" charset="-120"/>
              </a:rPr>
              <a:t>Integration and current completion status</a:t>
            </a:r>
            <a:endParaRPr lang="en-US" sz="1200" dirty="0"/>
          </a:p>
        </p:txBody>
      </p:sp>
      <p:sp>
        <p:nvSpPr>
          <p:cNvPr id="4" name="Shape 2"/>
          <p:cNvSpPr/>
          <p:nvPr/>
        </p:nvSpPr>
        <p:spPr>
          <a:xfrm>
            <a:off x="548640" y="1280160"/>
            <a:ext cx="11091672" cy="685800"/>
          </a:xfrm>
          <a:prstGeom prst="roundRect">
            <a:avLst>
              <a:gd name="adj" fmla="val 10667"/>
            </a:avLst>
          </a:prstGeom>
          <a:solidFill>
            <a:srgbClr val="0B1F33"/>
          </a:solidFill>
          <a:ln/>
        </p:spPr>
      </p:sp>
      <p:sp>
        <p:nvSpPr>
          <p:cNvPr id="5" name="Text 3"/>
          <p:cNvSpPr/>
          <p:nvPr/>
        </p:nvSpPr>
        <p:spPr>
          <a:xfrm>
            <a:off x="822960" y="1280160"/>
            <a:ext cx="1371600" cy="685800"/>
          </a:xfrm>
          <a:prstGeom prst="rect">
            <a:avLst/>
          </a:prstGeom>
          <a:noFill/>
          <a:ln/>
        </p:spPr>
        <p:txBody>
          <a:bodyPr wrap="square" lIns="0" tIns="0" rIns="0" bIns="0" rtlCol="0" anchor="ctr"/>
          <a:lstStyle/>
          <a:p>
            <a:pPr marL="0" indent="0">
              <a:buNone/>
            </a:pPr>
            <a:r>
              <a:rPr lang="en-US" sz="2600" b="1" dirty="0">
                <a:solidFill>
                  <a:srgbClr val="00C2D1"/>
                </a:solidFill>
                <a:latin typeface="Calibri" pitchFamily="34" charset="0"/>
                <a:ea typeface="Calibri" pitchFamily="34" charset="-122"/>
                <a:cs typeface="Calibri" pitchFamily="34" charset="-120"/>
              </a:rPr>
              <a:t>4 / 4</a:t>
            </a:r>
            <a:endParaRPr lang="en-US" sz="2600" dirty="0"/>
          </a:p>
        </p:txBody>
      </p:sp>
      <p:sp>
        <p:nvSpPr>
          <p:cNvPr id="6" name="Text 4"/>
          <p:cNvSpPr/>
          <p:nvPr/>
        </p:nvSpPr>
        <p:spPr>
          <a:xfrm>
            <a:off x="2286000" y="1280160"/>
            <a:ext cx="9052560" cy="6858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components individually developed and demonstrated — integration status:  70% </a:t>
            </a:r>
            <a:endParaRPr lang="en-US" sz="1300" dirty="0"/>
          </a:p>
        </p:txBody>
      </p:sp>
      <p:sp>
        <p:nvSpPr>
          <p:cNvPr id="7" name="Shape 5"/>
          <p:cNvSpPr/>
          <p:nvPr/>
        </p:nvSpPr>
        <p:spPr>
          <a:xfrm>
            <a:off x="548640" y="2194560"/>
            <a:ext cx="11091672" cy="658368"/>
          </a:xfrm>
          <a:prstGeom prst="roundRect">
            <a:avLst>
              <a:gd name="adj" fmla="val 8333"/>
            </a:avLst>
          </a:prstGeom>
          <a:solidFill>
            <a:srgbClr val="F7FAFC"/>
          </a:solidFill>
          <a:ln w="12700">
            <a:solidFill>
              <a:srgbClr val="E2E8F0"/>
            </a:solidFill>
            <a:prstDash val="solid"/>
          </a:ln>
        </p:spPr>
      </p:sp>
      <p:sp>
        <p:nvSpPr>
          <p:cNvPr id="8" name="Text 6"/>
          <p:cNvSpPr/>
          <p:nvPr/>
        </p:nvSpPr>
        <p:spPr>
          <a:xfrm>
            <a:off x="731520" y="2194560"/>
            <a:ext cx="1463040" cy="658368"/>
          </a:xfrm>
          <a:prstGeom prst="rect">
            <a:avLst/>
          </a:prstGeom>
          <a:noFill/>
          <a:ln/>
        </p:spPr>
        <p:txBody>
          <a:bodyPr wrap="square" lIns="0" tIns="0" rIns="0" bIns="0" rtlCol="0" anchor="ctr"/>
          <a:lstStyle/>
          <a:p>
            <a:pPr marL="0" indent="0">
              <a:buNone/>
            </a:pPr>
            <a:r>
              <a:rPr lang="en-US" sz="1200" b="1" dirty="0">
                <a:solidFill>
                  <a:srgbClr val="0078D4"/>
                </a:solidFill>
                <a:latin typeface="Calibri" pitchFamily="34" charset="0"/>
                <a:ea typeface="Calibri" pitchFamily="34" charset="-122"/>
                <a:cs typeface="Calibri" pitchFamily="34" charset="-120"/>
              </a:rPr>
              <a:t>Component 1</a:t>
            </a:r>
            <a:endParaRPr lang="en-US" sz="1200" dirty="0"/>
          </a:p>
        </p:txBody>
      </p:sp>
      <p:sp>
        <p:nvSpPr>
          <p:cNvPr id="9" name="Text 7"/>
          <p:cNvSpPr/>
          <p:nvPr/>
        </p:nvSpPr>
        <p:spPr>
          <a:xfrm>
            <a:off x="2194560" y="2194560"/>
            <a:ext cx="2743200" cy="658368"/>
          </a:xfrm>
          <a:prstGeom prst="rect">
            <a:avLst/>
          </a:prstGeom>
          <a:noFill/>
          <a:ln/>
        </p:spPr>
        <p:txBody>
          <a:bodyPr wrap="square" lIns="0" tIns="0" rIns="0" bIns="0" rtlCol="0" anchor="ctr"/>
          <a:lstStyle/>
          <a:p>
            <a:pPr marL="0" indent="0">
              <a:buNone/>
            </a:pPr>
            <a:r>
              <a:rPr lang="en-US" sz="1200" b="1" dirty="0">
                <a:solidFill>
                  <a:srgbClr val="0B1F33"/>
                </a:solidFill>
                <a:latin typeface="Calibri" pitchFamily="34" charset="0"/>
                <a:ea typeface="Calibri" pitchFamily="34" charset="-122"/>
                <a:cs typeface="Calibri" pitchFamily="34" charset="-120"/>
              </a:rPr>
              <a:t>Activity Recognition</a:t>
            </a:r>
            <a:endParaRPr lang="en-US" sz="1200" dirty="0"/>
          </a:p>
        </p:txBody>
      </p:sp>
      <p:sp>
        <p:nvSpPr>
          <p:cNvPr id="10" name="Text 8"/>
          <p:cNvSpPr/>
          <p:nvPr/>
        </p:nvSpPr>
        <p:spPr>
          <a:xfrm>
            <a:off x="5029200" y="2194560"/>
            <a:ext cx="6492240" cy="658368"/>
          </a:xfrm>
          <a:prstGeom prst="rect">
            <a:avLst/>
          </a:prstGeom>
          <a:noFill/>
          <a:ln/>
        </p:spPr>
        <p:txBody>
          <a:bodyPr wrap="square" lIns="0" tIns="0" rIns="0" bIns="0" rtlCol="0" anchor="ctr"/>
          <a:lstStyle/>
          <a:p>
            <a:pPr marL="0" indent="0">
              <a:buNone/>
            </a:pPr>
            <a:r>
              <a:rPr lang="en-US" sz="1050" dirty="0" err="1">
                <a:solidFill>
                  <a:srgbClr val="5A6B7B"/>
                </a:solidFill>
                <a:latin typeface="Calibri" pitchFamily="34" charset="0"/>
                <a:ea typeface="Calibri" pitchFamily="34" charset="-122"/>
                <a:cs typeface="Calibri" pitchFamily="34" charset="-120"/>
              </a:rPr>
              <a:t>Wemos</a:t>
            </a:r>
            <a:r>
              <a:rPr lang="en-US" sz="1050" dirty="0">
                <a:solidFill>
                  <a:srgbClr val="5A6B7B"/>
                </a:solidFill>
                <a:latin typeface="Calibri" pitchFamily="34" charset="0"/>
                <a:ea typeface="Calibri" pitchFamily="34" charset="-122"/>
                <a:cs typeface="Calibri" pitchFamily="34" charset="-120"/>
              </a:rPr>
              <a:t> D1 ESP 8266,4.2v </a:t>
            </a:r>
            <a:r>
              <a:rPr lang="en-US" sz="1050" dirty="0" err="1">
                <a:solidFill>
                  <a:srgbClr val="5A6B7B"/>
                </a:solidFill>
                <a:latin typeface="Calibri" pitchFamily="34" charset="0"/>
                <a:ea typeface="Calibri" pitchFamily="34" charset="-122"/>
                <a:cs typeface="Calibri" pitchFamily="34" charset="-120"/>
              </a:rPr>
              <a:t>Lipo</a:t>
            </a:r>
            <a:r>
              <a:rPr lang="en-US" sz="1050" dirty="0">
                <a:solidFill>
                  <a:srgbClr val="5A6B7B"/>
                </a:solidFill>
                <a:latin typeface="Calibri" pitchFamily="34" charset="0"/>
                <a:ea typeface="Calibri" pitchFamily="34" charset="-122"/>
                <a:cs typeface="Calibri" pitchFamily="34" charset="-120"/>
              </a:rPr>
              <a:t> </a:t>
            </a:r>
            <a:r>
              <a:rPr lang="en-US" sz="1050" dirty="0" err="1">
                <a:solidFill>
                  <a:srgbClr val="5A6B7B"/>
                </a:solidFill>
                <a:latin typeface="Calibri" pitchFamily="34" charset="0"/>
                <a:ea typeface="Calibri" pitchFamily="34" charset="-122"/>
                <a:cs typeface="Calibri" pitchFamily="34" charset="-120"/>
              </a:rPr>
              <a:t>Battery,Flask</a:t>
            </a:r>
            <a:r>
              <a:rPr lang="en-US" sz="1050" dirty="0">
                <a:solidFill>
                  <a:srgbClr val="5A6B7B"/>
                </a:solidFill>
                <a:latin typeface="Calibri" pitchFamily="34" charset="0"/>
                <a:ea typeface="Calibri" pitchFamily="34" charset="-122"/>
                <a:cs typeface="Calibri" pitchFamily="34" charset="-120"/>
              </a:rPr>
              <a:t> REST API, Random Forest model, MQTT sensor </a:t>
            </a:r>
            <a:r>
              <a:rPr lang="en-US" sz="1050" dirty="0" err="1">
                <a:solidFill>
                  <a:srgbClr val="5A6B7B"/>
                </a:solidFill>
                <a:latin typeface="Calibri" pitchFamily="34" charset="0"/>
                <a:ea typeface="Calibri" pitchFamily="34" charset="-122"/>
                <a:cs typeface="Calibri" pitchFamily="34" charset="-120"/>
              </a:rPr>
              <a:t>pipeline,Live</a:t>
            </a:r>
            <a:r>
              <a:rPr lang="en-US" sz="1050" dirty="0">
                <a:solidFill>
                  <a:srgbClr val="5A6B7B"/>
                </a:solidFill>
                <a:latin typeface="Calibri" pitchFamily="34" charset="0"/>
                <a:ea typeface="Calibri" pitchFamily="34" charset="-122"/>
                <a:cs typeface="Calibri" pitchFamily="34" charset="-120"/>
              </a:rPr>
              <a:t> Dashboard</a:t>
            </a:r>
            <a:endParaRPr lang="en-US" sz="1050" dirty="0"/>
          </a:p>
        </p:txBody>
      </p:sp>
      <p:sp>
        <p:nvSpPr>
          <p:cNvPr id="11" name="Shape 9"/>
          <p:cNvSpPr/>
          <p:nvPr/>
        </p:nvSpPr>
        <p:spPr>
          <a:xfrm>
            <a:off x="548640" y="2944368"/>
            <a:ext cx="11091672" cy="658368"/>
          </a:xfrm>
          <a:prstGeom prst="roundRect">
            <a:avLst>
              <a:gd name="adj" fmla="val 8333"/>
            </a:avLst>
          </a:prstGeom>
          <a:solidFill>
            <a:srgbClr val="FFFFFF"/>
          </a:solidFill>
          <a:ln w="12700">
            <a:solidFill>
              <a:srgbClr val="E2E8F0"/>
            </a:solidFill>
            <a:prstDash val="solid"/>
          </a:ln>
        </p:spPr>
      </p:sp>
      <p:sp>
        <p:nvSpPr>
          <p:cNvPr id="12" name="Text 10"/>
          <p:cNvSpPr/>
          <p:nvPr/>
        </p:nvSpPr>
        <p:spPr>
          <a:xfrm>
            <a:off x="731520" y="2944368"/>
            <a:ext cx="1463040" cy="658368"/>
          </a:xfrm>
          <a:prstGeom prst="rect">
            <a:avLst/>
          </a:prstGeom>
          <a:noFill/>
          <a:ln/>
        </p:spPr>
        <p:txBody>
          <a:bodyPr wrap="square" lIns="0" tIns="0" rIns="0" bIns="0" rtlCol="0" anchor="ctr"/>
          <a:lstStyle/>
          <a:p>
            <a:pPr marL="0" indent="0">
              <a:buNone/>
            </a:pPr>
            <a:r>
              <a:rPr lang="en-US" sz="1200" b="1" dirty="0">
                <a:solidFill>
                  <a:srgbClr val="0078D4"/>
                </a:solidFill>
                <a:latin typeface="Calibri" pitchFamily="34" charset="0"/>
                <a:ea typeface="Calibri" pitchFamily="34" charset="-122"/>
                <a:cs typeface="Calibri" pitchFamily="34" charset="-120"/>
              </a:rPr>
              <a:t>Component 2</a:t>
            </a:r>
            <a:endParaRPr lang="en-US" sz="1200" dirty="0"/>
          </a:p>
        </p:txBody>
      </p:sp>
      <p:sp>
        <p:nvSpPr>
          <p:cNvPr id="13" name="Text 11"/>
          <p:cNvSpPr/>
          <p:nvPr/>
        </p:nvSpPr>
        <p:spPr>
          <a:xfrm>
            <a:off x="2194560" y="2944368"/>
            <a:ext cx="2743200" cy="658368"/>
          </a:xfrm>
          <a:prstGeom prst="rect">
            <a:avLst/>
          </a:prstGeom>
          <a:noFill/>
          <a:ln/>
        </p:spPr>
        <p:txBody>
          <a:bodyPr wrap="square" lIns="0" tIns="0" rIns="0" bIns="0" rtlCol="0" anchor="ctr"/>
          <a:lstStyle/>
          <a:p>
            <a:pPr marL="0" indent="0">
              <a:buNone/>
            </a:pPr>
            <a:r>
              <a:rPr lang="en-US" sz="1200" b="1" dirty="0">
                <a:solidFill>
                  <a:srgbClr val="0B1F33"/>
                </a:solidFill>
                <a:latin typeface="Calibri" pitchFamily="34" charset="0"/>
                <a:ea typeface="Calibri" pitchFamily="34" charset="-122"/>
                <a:cs typeface="Calibri" pitchFamily="34" charset="-120"/>
              </a:rPr>
              <a:t>Environmental Mapping</a:t>
            </a:r>
            <a:endParaRPr lang="en-US" sz="1200" dirty="0"/>
          </a:p>
        </p:txBody>
      </p:sp>
      <p:sp>
        <p:nvSpPr>
          <p:cNvPr id="14" name="Text 12"/>
          <p:cNvSpPr/>
          <p:nvPr/>
        </p:nvSpPr>
        <p:spPr>
          <a:xfrm>
            <a:off x="5029200" y="2944368"/>
            <a:ext cx="6492240" cy="658368"/>
          </a:xfrm>
          <a:prstGeom prst="rect">
            <a:avLst/>
          </a:prstGeom>
          <a:noFill/>
          <a:ln/>
        </p:spPr>
        <p:txBody>
          <a:bodyPr wrap="square" lIns="0" tIns="0" rIns="0" bIns="0" rtlCol="0" anchor="ctr"/>
          <a:lstStyle/>
          <a:p>
            <a:pPr marL="0" indent="0">
              <a:buNone/>
            </a:pPr>
            <a:r>
              <a:rPr lang="en-US" sz="1050" dirty="0">
                <a:solidFill>
                  <a:srgbClr val="5A6B7B"/>
                </a:solidFill>
                <a:latin typeface="Calibri" pitchFamily="34" charset="0"/>
                <a:ea typeface="Calibri" pitchFamily="34" charset="-122"/>
                <a:cs typeface="Calibri" pitchFamily="34" charset="-120"/>
              </a:rPr>
              <a:t>Streamlit dashboard, YOLOv8 detection, dual ESP32-CAM + IoT sensors</a:t>
            </a:r>
            <a:endParaRPr lang="en-US" sz="1050" dirty="0"/>
          </a:p>
        </p:txBody>
      </p:sp>
      <p:sp>
        <p:nvSpPr>
          <p:cNvPr id="15" name="Shape 13"/>
          <p:cNvSpPr/>
          <p:nvPr/>
        </p:nvSpPr>
        <p:spPr>
          <a:xfrm>
            <a:off x="548640" y="3694176"/>
            <a:ext cx="11091672" cy="658368"/>
          </a:xfrm>
          <a:prstGeom prst="roundRect">
            <a:avLst>
              <a:gd name="adj" fmla="val 8333"/>
            </a:avLst>
          </a:prstGeom>
          <a:solidFill>
            <a:srgbClr val="F7FAFC"/>
          </a:solidFill>
          <a:ln w="12700">
            <a:solidFill>
              <a:srgbClr val="E2E8F0"/>
            </a:solidFill>
            <a:prstDash val="solid"/>
          </a:ln>
        </p:spPr>
      </p:sp>
      <p:sp>
        <p:nvSpPr>
          <p:cNvPr id="16" name="Text 14"/>
          <p:cNvSpPr/>
          <p:nvPr/>
        </p:nvSpPr>
        <p:spPr>
          <a:xfrm>
            <a:off x="731520" y="3694176"/>
            <a:ext cx="1463040" cy="658368"/>
          </a:xfrm>
          <a:prstGeom prst="rect">
            <a:avLst/>
          </a:prstGeom>
          <a:noFill/>
          <a:ln/>
        </p:spPr>
        <p:txBody>
          <a:bodyPr wrap="square" lIns="0" tIns="0" rIns="0" bIns="0" rtlCol="0" anchor="ctr"/>
          <a:lstStyle/>
          <a:p>
            <a:pPr marL="0" indent="0">
              <a:buNone/>
            </a:pPr>
            <a:r>
              <a:rPr lang="en-US" sz="1200" b="1" dirty="0">
                <a:solidFill>
                  <a:srgbClr val="0078D4"/>
                </a:solidFill>
                <a:latin typeface="Calibri" pitchFamily="34" charset="0"/>
                <a:ea typeface="Calibri" pitchFamily="34" charset="-122"/>
                <a:cs typeface="Calibri" pitchFamily="34" charset="-120"/>
              </a:rPr>
              <a:t>Component 3</a:t>
            </a:r>
            <a:endParaRPr lang="en-US" sz="1200" dirty="0"/>
          </a:p>
        </p:txBody>
      </p:sp>
      <p:sp>
        <p:nvSpPr>
          <p:cNvPr id="17" name="Text 15"/>
          <p:cNvSpPr/>
          <p:nvPr/>
        </p:nvSpPr>
        <p:spPr>
          <a:xfrm>
            <a:off x="2194560" y="3694176"/>
            <a:ext cx="2743200" cy="658368"/>
          </a:xfrm>
          <a:prstGeom prst="rect">
            <a:avLst/>
          </a:prstGeom>
          <a:noFill/>
          <a:ln/>
        </p:spPr>
        <p:txBody>
          <a:bodyPr wrap="square" lIns="0" tIns="0" rIns="0" bIns="0" rtlCol="0" anchor="ctr"/>
          <a:lstStyle/>
          <a:p>
            <a:pPr marL="0" indent="0">
              <a:buNone/>
            </a:pPr>
            <a:r>
              <a:rPr lang="en-US" sz="1200" b="1" dirty="0">
                <a:solidFill>
                  <a:srgbClr val="0B1F33"/>
                </a:solidFill>
                <a:latin typeface="Calibri" pitchFamily="34" charset="0"/>
                <a:ea typeface="Calibri" pitchFamily="34" charset="-122"/>
                <a:cs typeface="Calibri" pitchFamily="34" charset="-120"/>
              </a:rPr>
              <a:t>BioSignal Predictor</a:t>
            </a:r>
            <a:endParaRPr lang="en-US" sz="1200" dirty="0"/>
          </a:p>
        </p:txBody>
      </p:sp>
      <p:sp>
        <p:nvSpPr>
          <p:cNvPr id="18" name="Text 16"/>
          <p:cNvSpPr/>
          <p:nvPr/>
        </p:nvSpPr>
        <p:spPr>
          <a:xfrm>
            <a:off x="5029200" y="3694176"/>
            <a:ext cx="6492240" cy="658368"/>
          </a:xfrm>
          <a:prstGeom prst="rect">
            <a:avLst/>
          </a:prstGeom>
          <a:noFill/>
          <a:ln/>
        </p:spPr>
        <p:txBody>
          <a:bodyPr wrap="square" lIns="0" tIns="0" rIns="0" bIns="0" rtlCol="0" anchor="ctr"/>
          <a:lstStyle/>
          <a:p>
            <a:pPr marL="0" indent="0">
              <a:buNone/>
            </a:pPr>
            <a:r>
              <a:rPr lang="en-US" sz="1050" dirty="0">
                <a:solidFill>
                  <a:srgbClr val="5A6B7B"/>
                </a:solidFill>
                <a:latin typeface="Calibri" pitchFamily="34" charset="0"/>
                <a:ea typeface="Calibri" pitchFamily="34" charset="-122"/>
                <a:cs typeface="Calibri" pitchFamily="34" charset="-120"/>
              </a:rPr>
              <a:t>ESP32 + MAX30102 sensor, Random Forest Regressor, live dashboard</a:t>
            </a:r>
            <a:endParaRPr lang="en-US" sz="1050" dirty="0"/>
          </a:p>
        </p:txBody>
      </p:sp>
      <p:sp>
        <p:nvSpPr>
          <p:cNvPr id="19" name="Shape 17"/>
          <p:cNvSpPr/>
          <p:nvPr/>
        </p:nvSpPr>
        <p:spPr>
          <a:xfrm>
            <a:off x="548640" y="4443984"/>
            <a:ext cx="11091672" cy="658368"/>
          </a:xfrm>
          <a:prstGeom prst="roundRect">
            <a:avLst>
              <a:gd name="adj" fmla="val 8333"/>
            </a:avLst>
          </a:prstGeom>
          <a:solidFill>
            <a:srgbClr val="FFFFFF"/>
          </a:solidFill>
          <a:ln w="12700">
            <a:solidFill>
              <a:srgbClr val="E2E8F0"/>
            </a:solidFill>
            <a:prstDash val="solid"/>
          </a:ln>
        </p:spPr>
      </p:sp>
      <p:sp>
        <p:nvSpPr>
          <p:cNvPr id="20" name="Text 18"/>
          <p:cNvSpPr/>
          <p:nvPr/>
        </p:nvSpPr>
        <p:spPr>
          <a:xfrm>
            <a:off x="731520" y="4443984"/>
            <a:ext cx="1463040" cy="658368"/>
          </a:xfrm>
          <a:prstGeom prst="rect">
            <a:avLst/>
          </a:prstGeom>
          <a:noFill/>
          <a:ln/>
        </p:spPr>
        <p:txBody>
          <a:bodyPr wrap="square" lIns="0" tIns="0" rIns="0" bIns="0" rtlCol="0" anchor="ctr"/>
          <a:lstStyle/>
          <a:p>
            <a:pPr marL="0" indent="0">
              <a:buNone/>
            </a:pPr>
            <a:r>
              <a:rPr lang="en-US" sz="1200" b="1" dirty="0">
                <a:solidFill>
                  <a:srgbClr val="0078D4"/>
                </a:solidFill>
                <a:latin typeface="Calibri" pitchFamily="34" charset="0"/>
                <a:ea typeface="Calibri" pitchFamily="34" charset="-122"/>
                <a:cs typeface="Calibri" pitchFamily="34" charset="-120"/>
              </a:rPr>
              <a:t>Component 4</a:t>
            </a:r>
            <a:endParaRPr lang="en-US" sz="1200" dirty="0"/>
          </a:p>
        </p:txBody>
      </p:sp>
      <p:sp>
        <p:nvSpPr>
          <p:cNvPr id="21" name="Text 19"/>
          <p:cNvSpPr/>
          <p:nvPr/>
        </p:nvSpPr>
        <p:spPr>
          <a:xfrm>
            <a:off x="2194560" y="4443984"/>
            <a:ext cx="2743200" cy="658368"/>
          </a:xfrm>
          <a:prstGeom prst="rect">
            <a:avLst/>
          </a:prstGeom>
          <a:noFill/>
          <a:ln/>
        </p:spPr>
        <p:txBody>
          <a:bodyPr wrap="square" lIns="0" tIns="0" rIns="0" bIns="0" rtlCol="0" anchor="ctr"/>
          <a:lstStyle/>
          <a:p>
            <a:pPr marL="0" indent="0">
              <a:buNone/>
            </a:pPr>
            <a:r>
              <a:rPr lang="en-US" sz="1200" b="1" dirty="0">
                <a:solidFill>
                  <a:srgbClr val="0B1F33"/>
                </a:solidFill>
                <a:latin typeface="Calibri" pitchFamily="34" charset="0"/>
                <a:ea typeface="Calibri" pitchFamily="34" charset="-122"/>
                <a:cs typeface="Calibri" pitchFamily="34" charset="-120"/>
              </a:rPr>
              <a:t>Adaptive Alerts</a:t>
            </a:r>
            <a:endParaRPr lang="en-US" sz="1200" dirty="0"/>
          </a:p>
        </p:txBody>
      </p:sp>
      <p:sp>
        <p:nvSpPr>
          <p:cNvPr id="22" name="Text 20"/>
          <p:cNvSpPr/>
          <p:nvPr/>
        </p:nvSpPr>
        <p:spPr>
          <a:xfrm>
            <a:off x="5029200" y="4443984"/>
            <a:ext cx="6492240" cy="658368"/>
          </a:xfrm>
          <a:prstGeom prst="rect">
            <a:avLst/>
          </a:prstGeom>
          <a:noFill/>
          <a:ln/>
        </p:spPr>
        <p:txBody>
          <a:bodyPr wrap="square" lIns="0" tIns="0" rIns="0" bIns="0" rtlCol="0" anchor="ctr"/>
          <a:lstStyle/>
          <a:p>
            <a:pPr marL="0" indent="0">
              <a:buNone/>
            </a:pPr>
            <a:r>
              <a:rPr lang="en-US" sz="1050" dirty="0">
                <a:solidFill>
                  <a:srgbClr val="5A6B7B"/>
                </a:solidFill>
                <a:latin typeface="Calibri" pitchFamily="34" charset="0"/>
                <a:ea typeface="Calibri" pitchFamily="34" charset="-122"/>
                <a:cs typeface="Calibri" pitchFamily="34" charset="-120"/>
              </a:rPr>
              <a:t>XGBoost decision model, multi-channel notification, recovery guidance</a:t>
            </a:r>
            <a:endParaRPr lang="en-US" sz="1050" dirty="0"/>
          </a:p>
        </p:txBody>
      </p:sp>
      <p:sp>
        <p:nvSpPr>
          <p:cNvPr id="23" name="Text 21"/>
          <p:cNvSpPr/>
          <p:nvPr/>
        </p:nvSpPr>
        <p:spPr>
          <a:xfrm>
            <a:off x="548640" y="5330952"/>
            <a:ext cx="11064240" cy="365760"/>
          </a:xfrm>
          <a:prstGeom prst="rect">
            <a:avLst/>
          </a:prstGeom>
          <a:noFill/>
          <a:ln/>
        </p:spPr>
        <p:txBody>
          <a:bodyPr wrap="square" lIns="0" tIns="0" rIns="0" bIns="0" rtlCol="0" anchor="ctr"/>
          <a:lstStyle/>
          <a:p>
            <a:pPr marL="0" indent="0">
              <a:buNone/>
            </a:pPr>
            <a:r>
              <a:rPr lang="en-US" sz="1150" i="1" dirty="0">
                <a:solidFill>
                  <a:srgbClr val="5A6B7B"/>
                </a:solidFill>
                <a:latin typeface="Calibri" pitchFamily="34" charset="0"/>
                <a:ea typeface="Calibri" pitchFamily="34" charset="-122"/>
                <a:cs typeface="Calibri" pitchFamily="34" charset="-120"/>
              </a:rPr>
              <a:t>One integrated workflow: Component 1 and Component 2 and Component 3 feed risk signals into Component 4's decision engine.</a:t>
            </a:r>
            <a:endParaRPr lang="en-US" sz="1150" dirty="0"/>
          </a:p>
        </p:txBody>
      </p:sp>
      <p:sp>
        <p:nvSpPr>
          <p:cNvPr id="24" name="Text 22"/>
          <p:cNvSpPr/>
          <p:nvPr/>
        </p:nvSpPr>
        <p:spPr>
          <a:xfrm>
            <a:off x="457200" y="6492240"/>
            <a:ext cx="4572000" cy="256032"/>
          </a:xfrm>
          <a:prstGeom prst="rect">
            <a:avLst/>
          </a:prstGeom>
          <a:noFill/>
          <a:ln/>
        </p:spPr>
        <p:txBody>
          <a:bodyPr wrap="square" lIns="0" tIns="0" rIns="0" bIns="0" rtlCol="0" anchor="ctr"/>
          <a:lstStyle/>
          <a:p>
            <a:pPr marL="0" indent="0">
              <a:buNone/>
            </a:pPr>
            <a:r>
              <a:rPr lang="en-US" sz="900" dirty="0">
                <a:solidFill>
                  <a:srgbClr val="93A3B0"/>
                </a:solidFill>
                <a:latin typeface="Calibri" pitchFamily="34" charset="0"/>
                <a:ea typeface="Calibri" pitchFamily="34" charset="-122"/>
                <a:cs typeface="Calibri" pitchFamily="34" charset="-120"/>
              </a:rPr>
              <a:t>SLIIT FACULTY OF COMPUTING</a:t>
            </a:r>
            <a:endParaRPr lang="en-US" sz="900" dirty="0"/>
          </a:p>
        </p:txBody>
      </p:sp>
      <p:sp>
        <p:nvSpPr>
          <p:cNvPr id="25" name="Text 23"/>
          <p:cNvSpPr/>
          <p:nvPr/>
        </p:nvSpPr>
        <p:spPr>
          <a:xfrm>
            <a:off x="9905695" y="6492240"/>
            <a:ext cx="1371600" cy="256032"/>
          </a:xfrm>
          <a:prstGeom prst="rect">
            <a:avLst/>
          </a:prstGeom>
          <a:noFill/>
          <a:ln/>
        </p:spPr>
        <p:txBody>
          <a:bodyPr wrap="square" lIns="0" tIns="0" rIns="0" bIns="0" rtlCol="0" anchor="ctr"/>
          <a:lstStyle/>
          <a:p>
            <a:pPr marL="0" indent="0" algn="l">
              <a:buNone/>
            </a:pPr>
            <a:r>
              <a:rPr lang="en-US" sz="900" dirty="0">
                <a:solidFill>
                  <a:srgbClr val="93A3B0"/>
                </a:solidFill>
                <a:latin typeface="Calibri" pitchFamily="34" charset="0"/>
                <a:ea typeface="Calibri" pitchFamily="34" charset="-122"/>
                <a:cs typeface="Calibri" pitchFamily="34" charset="-120"/>
              </a:rPr>
              <a:t>R26_IT_051</a:t>
            </a:r>
            <a:endParaRPr lang="en-US" sz="900" dirty="0"/>
          </a:p>
        </p:txBody>
      </p:sp>
      <p:sp>
        <p:nvSpPr>
          <p:cNvPr id="26" name="Text 24"/>
          <p:cNvSpPr/>
          <p:nvPr/>
        </p:nvSpPr>
        <p:spPr>
          <a:xfrm>
            <a:off x="11460175" y="6492240"/>
            <a:ext cx="457200" cy="256032"/>
          </a:xfrm>
          <a:prstGeom prst="rect">
            <a:avLst/>
          </a:prstGeom>
          <a:noFill/>
          <a:ln/>
        </p:spPr>
        <p:txBody>
          <a:bodyPr wrap="square" lIns="0" tIns="0" rIns="0" bIns="0" rtlCol="0" anchor="ctr"/>
          <a:lstStyle/>
          <a:p>
            <a:pPr marL="0" indent="0" algn="r">
              <a:buNone/>
            </a:pPr>
            <a:r>
              <a:rPr lang="en-US" sz="900" dirty="0">
                <a:solidFill>
                  <a:srgbClr val="93A3B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6C80E-BD28-16E2-5019-E402D3AE43BD}"/>
              </a:ext>
            </a:extLst>
          </p:cNvPr>
          <p:cNvSpPr txBox="1">
            <a:spLocks/>
          </p:cNvSpPr>
          <p:nvPr/>
        </p:nvSpPr>
        <p:spPr>
          <a:xfrm>
            <a:off x="2903220" y="153307"/>
            <a:ext cx="6385560" cy="504895"/>
          </a:xfrm>
          <a:prstGeom prst="rect">
            <a:avLst/>
          </a:prstGeom>
        </p:spPr>
        <p:txBody>
          <a:bodyPr>
            <a:normAutofit fontScale="4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u="sng">
                <a:latin typeface="Canva Sans Bold"/>
                <a:ea typeface="Canva Sans Bold"/>
                <a:cs typeface="Canva Sans Bold"/>
                <a:sym typeface="Canva Sans Bold"/>
              </a:rPr>
              <a:t>Comments received &amp; Improvements</a:t>
            </a:r>
            <a:br>
              <a:rPr lang="en-US" sz="3200" b="1" u="sng">
                <a:solidFill>
                  <a:srgbClr val="358580"/>
                </a:solidFill>
                <a:latin typeface="Canva Sans Bold"/>
                <a:ea typeface="Canva Sans Bold"/>
                <a:cs typeface="Canva Sans Bold"/>
                <a:sym typeface="Canva Sans Bold"/>
              </a:rPr>
            </a:br>
            <a:endParaRPr lang="en-US" sz="3200" u="sng" dirty="0"/>
          </a:p>
        </p:txBody>
      </p:sp>
      <p:graphicFrame>
        <p:nvGraphicFramePr>
          <p:cNvPr id="3" name="Table 2">
            <a:extLst>
              <a:ext uri="{FF2B5EF4-FFF2-40B4-BE49-F238E27FC236}">
                <a16:creationId xmlns:a16="http://schemas.microsoft.com/office/drawing/2014/main" id="{00EC597C-5079-1DD4-68DE-ECDB13B81E5A}"/>
              </a:ext>
            </a:extLst>
          </p:cNvPr>
          <p:cNvGraphicFramePr>
            <a:graphicFrameLocks noGrp="1"/>
          </p:cNvGraphicFramePr>
          <p:nvPr>
            <p:extLst>
              <p:ext uri="{D42A27DB-BD31-4B8C-83A1-F6EECF244321}">
                <p14:modId xmlns:p14="http://schemas.microsoft.com/office/powerpoint/2010/main" val="2866271046"/>
              </p:ext>
            </p:extLst>
          </p:nvPr>
        </p:nvGraphicFramePr>
        <p:xfrm>
          <a:off x="269632" y="504091"/>
          <a:ext cx="11664460" cy="6120023"/>
        </p:xfrm>
        <a:graphic>
          <a:graphicData uri="http://schemas.openxmlformats.org/drawingml/2006/table">
            <a:tbl>
              <a:tblPr firstRow="1" bandRow="1">
                <a:tableStyleId>{5C22544A-7EE6-4342-B048-85BDC9FD1C3A}</a:tableStyleId>
              </a:tblPr>
              <a:tblGrid>
                <a:gridCol w="1417514">
                  <a:extLst>
                    <a:ext uri="{9D8B030D-6E8A-4147-A177-3AD203B41FA5}">
                      <a16:colId xmlns:a16="http://schemas.microsoft.com/office/drawing/2014/main" val="401154142"/>
                    </a:ext>
                  </a:extLst>
                </a:gridCol>
                <a:gridCol w="4840050">
                  <a:extLst>
                    <a:ext uri="{9D8B030D-6E8A-4147-A177-3AD203B41FA5}">
                      <a16:colId xmlns:a16="http://schemas.microsoft.com/office/drawing/2014/main" val="1750155244"/>
                    </a:ext>
                  </a:extLst>
                </a:gridCol>
                <a:gridCol w="5406896">
                  <a:extLst>
                    <a:ext uri="{9D8B030D-6E8A-4147-A177-3AD203B41FA5}">
                      <a16:colId xmlns:a16="http://schemas.microsoft.com/office/drawing/2014/main" val="50991067"/>
                    </a:ext>
                  </a:extLst>
                </a:gridCol>
              </a:tblGrid>
              <a:tr h="670900">
                <a:tc>
                  <a:txBody>
                    <a:bodyPr/>
                    <a:lstStyle/>
                    <a:p>
                      <a:pPr algn="l"/>
                      <a:r>
                        <a:rPr lang="en-US" sz="2000" dirty="0"/>
                        <a:t>IT Numbers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solidFill>
                            <a:srgbClr val="000000"/>
                          </a:solidFill>
                          <a:latin typeface="Canva Sans Bold"/>
                          <a:ea typeface="Canva Sans Bold"/>
                          <a:cs typeface="Canva Sans Bold"/>
                          <a:sym typeface="Canva Sans Bold"/>
                        </a:rPr>
                        <a:t>Comments Received</a:t>
                      </a:r>
                      <a:br>
                        <a:rPr lang="en-US" sz="2000" b="1" dirty="0">
                          <a:solidFill>
                            <a:srgbClr val="000000"/>
                          </a:solidFill>
                          <a:latin typeface="Canva Sans Bold"/>
                          <a:ea typeface="Canva Sans Bold"/>
                          <a:cs typeface="Canva Sans Bold"/>
                          <a:sym typeface="Canva Sans Bold"/>
                        </a:rPr>
                      </a:br>
                      <a:r>
                        <a:rPr lang="en-US" sz="2000" b="1" dirty="0">
                          <a:solidFill>
                            <a:srgbClr val="000000"/>
                          </a:solidFill>
                          <a:latin typeface="Canva Sans Bold"/>
                          <a:ea typeface="Canva Sans Bold"/>
                          <a:cs typeface="Canva Sans Bold"/>
                          <a:sym typeface="Canva Sans Bold"/>
                        </a:rPr>
                        <a:t>PP1</a:t>
                      </a:r>
                      <a:endParaRPr lang="en-US" sz="9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solidFill>
                            <a:srgbClr val="000000"/>
                          </a:solidFill>
                          <a:latin typeface="Canva Sans Bold"/>
                          <a:sym typeface="Canva Sans Bold"/>
                        </a:rPr>
                        <a:t>How  we address it</a:t>
                      </a:r>
                      <a:endParaRPr lang="en-US" sz="2000" b="1" dirty="0"/>
                    </a:p>
                  </a:txBody>
                  <a:tcPr/>
                </a:tc>
                <a:extLst>
                  <a:ext uri="{0D108BD9-81ED-4DB2-BD59-A6C34878D82A}">
                    <a16:rowId xmlns:a16="http://schemas.microsoft.com/office/drawing/2014/main" val="3965484649"/>
                  </a:ext>
                </a:extLst>
              </a:tr>
              <a:tr h="1705354">
                <a:tc>
                  <a:txBody>
                    <a:bodyPr/>
                    <a:lstStyle/>
                    <a:p>
                      <a:pPr algn="l"/>
                      <a:r>
                        <a:rPr lang="en-US" dirty="0"/>
                        <a:t>IT22548078</a:t>
                      </a:r>
                    </a:p>
                  </a:txBody>
                  <a:tcPr/>
                </a:tc>
                <a:tc>
                  <a:txBody>
                    <a:bodyPr/>
                    <a:lstStyle/>
                    <a:p>
                      <a:pPr algn="just"/>
                      <a:r>
                        <a:rPr lang="en-US" sz="1600" b="0" i="0" kern="1200" dirty="0">
                          <a:solidFill>
                            <a:schemeClr val="dk1"/>
                          </a:solidFill>
                          <a:effectLst/>
                          <a:latin typeface="+mn-lt"/>
                          <a:ea typeface="+mn-ea"/>
                          <a:cs typeface="+mn-cs"/>
                        </a:rPr>
                        <a:t>All the 3 models accuracies are &gt;98%, which is overfitted. go for another models which is not overfitted and redo the work.</a:t>
                      </a:r>
                      <a:endParaRPr lang="en-US" sz="1400" dirty="0"/>
                    </a:p>
                  </a:txBody>
                  <a:tcPr/>
                </a:tc>
                <a:tc>
                  <a:txBody>
                    <a:bodyPr/>
                    <a:lstStyle/>
                    <a:p>
                      <a:pPr algn="l"/>
                      <a:r>
                        <a:rPr lang="en-US" sz="1600" dirty="0"/>
                        <a:t>Replaced simulated data with real chest-mounted wearable data from 10 volunteers and validated using Leave-One-Subject-Out cross-validation to prevent data leakage.</a:t>
                      </a:r>
                      <a:br>
                        <a:rPr lang="en-US" sz="1600" dirty="0"/>
                      </a:br>
                      <a:r>
                        <a:rPr lang="en-US" sz="1600" dirty="0"/>
                        <a:t>Random Forest achieved </a:t>
                      </a:r>
                      <a:r>
                        <a:rPr lang="en-US" sz="1600" b="0" dirty="0"/>
                        <a:t>91.97% ± 5.37% accuracy across unseen subjects, demonstrating realistic generalization.</a:t>
                      </a:r>
                      <a:br>
                        <a:rPr lang="en-US" sz="1600" b="0" dirty="0"/>
                      </a:br>
                      <a:r>
                        <a:rPr lang="en-US" sz="1600" b="0" dirty="0"/>
                        <a:t>It also outperformed Decision Tree and KNN, so Random Forest was selected as the final model.</a:t>
                      </a:r>
                    </a:p>
                  </a:txBody>
                  <a:tcPr/>
                </a:tc>
                <a:extLst>
                  <a:ext uri="{0D108BD9-81ED-4DB2-BD59-A6C34878D82A}">
                    <a16:rowId xmlns:a16="http://schemas.microsoft.com/office/drawing/2014/main" val="1170264300"/>
                  </a:ext>
                </a:extLst>
              </a:tr>
              <a:tr h="1154829">
                <a:tc>
                  <a:txBody>
                    <a:bodyPr/>
                    <a:lstStyle/>
                    <a:p>
                      <a:r>
                        <a:rPr lang="en-US" sz="1800" b="0" i="0" kern="1200" dirty="0">
                          <a:solidFill>
                            <a:schemeClr val="dk1"/>
                          </a:solidFill>
                          <a:effectLst/>
                          <a:latin typeface="+mn-lt"/>
                          <a:ea typeface="+mn-ea"/>
                          <a:cs typeface="+mn-cs"/>
                        </a:rPr>
                        <a:t>IT22559968</a:t>
                      </a:r>
                      <a:endParaRPr lang="en-US" b="0" dirty="0"/>
                    </a:p>
                  </a:txBody>
                  <a:tcPr/>
                </a:tc>
                <a:tc>
                  <a:txBody>
                    <a:bodyPr/>
                    <a:lstStyle/>
                    <a:p>
                      <a:pPr algn="just"/>
                      <a:r>
                        <a:rPr lang="en-US" sz="1600" b="0" i="0" kern="1200" dirty="0">
                          <a:solidFill>
                            <a:schemeClr val="dk1"/>
                          </a:solidFill>
                          <a:effectLst/>
                          <a:latin typeface="+mn-lt"/>
                          <a:ea typeface="+mn-ea"/>
                          <a:cs typeface="+mn-cs"/>
                        </a:rPr>
                        <a:t>Data set is not verified, only 1 model is used (RF) which is overfitted (99%). No idea regarding the coding. WARNING LETTER IS ISSUSED. </a:t>
                      </a:r>
                      <a:endParaRPr lang="en-US" sz="1400" dirty="0"/>
                    </a:p>
                  </a:txBody>
                  <a:tcPr/>
                </a:tc>
                <a:tc>
                  <a:txBody>
                    <a:bodyPr/>
                    <a:lstStyle/>
                    <a:p>
                      <a:pPr algn="l"/>
                      <a:r>
                        <a:rPr lang="en-US" sz="1600" dirty="0"/>
                        <a:t>The component was correctly configured by acquiring data using sensors and The Random Forest (RF) model has been used to train the dataset, and the current model achieved an accuracy of approximately 79%.</a:t>
                      </a:r>
                    </a:p>
                  </a:txBody>
                  <a:tcPr/>
                </a:tc>
                <a:extLst>
                  <a:ext uri="{0D108BD9-81ED-4DB2-BD59-A6C34878D82A}">
                    <a16:rowId xmlns:a16="http://schemas.microsoft.com/office/drawing/2014/main" val="2722366050"/>
                  </a:ext>
                </a:extLst>
              </a:tr>
              <a:tr h="1418790">
                <a:tc>
                  <a:txBody>
                    <a:bodyPr/>
                    <a:lstStyle/>
                    <a:p>
                      <a:r>
                        <a:rPr lang="en-US" sz="1800" b="0" i="0" kern="1200" dirty="0">
                          <a:solidFill>
                            <a:schemeClr val="dk1"/>
                          </a:solidFill>
                          <a:effectLst/>
                          <a:latin typeface="+mn-lt"/>
                          <a:ea typeface="+mn-ea"/>
                          <a:cs typeface="+mn-cs"/>
                        </a:rPr>
                        <a:t>IT22227690</a:t>
                      </a:r>
                      <a:endParaRPr lang="en-US" b="0" dirty="0"/>
                    </a:p>
                  </a:txBody>
                  <a:tcPr/>
                </a:tc>
                <a:tc>
                  <a:txBody>
                    <a:bodyPr/>
                    <a:lstStyle/>
                    <a:p>
                      <a:pPr algn="just"/>
                      <a:r>
                        <a:rPr lang="en-US" sz="1600" b="0" i="0" kern="1200" dirty="0">
                          <a:solidFill>
                            <a:schemeClr val="dk1"/>
                          </a:solidFill>
                          <a:effectLst/>
                          <a:latin typeface="+mn-lt"/>
                          <a:ea typeface="+mn-ea"/>
                          <a:cs typeface="+mn-cs"/>
                        </a:rPr>
                        <a:t>No idea </a:t>
                      </a:r>
                      <a:r>
                        <a:rPr lang="en-US" sz="1600" b="0" i="0" kern="1200" dirty="0" err="1">
                          <a:solidFill>
                            <a:schemeClr val="dk1"/>
                          </a:solidFill>
                          <a:effectLst/>
                          <a:latin typeface="+mn-lt"/>
                          <a:ea typeface="+mn-ea"/>
                          <a:cs typeface="+mn-cs"/>
                        </a:rPr>
                        <a:t>reagrding</a:t>
                      </a:r>
                      <a:r>
                        <a:rPr lang="en-US" sz="1600" b="0" i="0" kern="1200" dirty="0">
                          <a:solidFill>
                            <a:schemeClr val="dk1"/>
                          </a:solidFill>
                          <a:effectLst/>
                          <a:latin typeface="+mn-lt"/>
                          <a:ea typeface="+mn-ea"/>
                          <a:cs typeface="+mn-cs"/>
                        </a:rPr>
                        <a:t> the coding, WARNING LETTER IS ISSUED. </a:t>
                      </a:r>
                      <a:endParaRPr lang="en-US" sz="1400" dirty="0"/>
                    </a:p>
                  </a:txBody>
                  <a:tcPr/>
                </a:tc>
                <a:tc>
                  <a:txBody>
                    <a:bodyPr/>
                    <a:lstStyle/>
                    <a:p>
                      <a:pPr algn="l"/>
                      <a:r>
                        <a:rPr lang="en-US" sz="1600" dirty="0"/>
                        <a:t>I have thoroughly studied the implementation and coding</a:t>
                      </a:r>
                    </a:p>
                  </a:txBody>
                  <a:tcPr/>
                </a:tc>
                <a:extLst>
                  <a:ext uri="{0D108BD9-81ED-4DB2-BD59-A6C34878D82A}">
                    <a16:rowId xmlns:a16="http://schemas.microsoft.com/office/drawing/2014/main" val="246545431"/>
                  </a:ext>
                </a:extLst>
              </a:tr>
              <a:tr h="1047044">
                <a:tc>
                  <a:txBody>
                    <a:bodyPr/>
                    <a:lstStyle/>
                    <a:p>
                      <a:r>
                        <a:rPr lang="en-US" sz="1800" b="0" i="0" kern="1200" dirty="0">
                          <a:solidFill>
                            <a:schemeClr val="dk1"/>
                          </a:solidFill>
                          <a:effectLst/>
                          <a:latin typeface="+mn-lt"/>
                          <a:ea typeface="+mn-ea"/>
                          <a:cs typeface="+mn-cs"/>
                        </a:rPr>
                        <a:t>IT21066948</a:t>
                      </a:r>
                      <a:endParaRPr lang="en-US" b="0" dirty="0"/>
                    </a:p>
                  </a:txBody>
                  <a:tcPr/>
                </a:tc>
                <a:tc>
                  <a:txBody>
                    <a:bodyPr/>
                    <a:lstStyle/>
                    <a:p>
                      <a:pPr algn="just"/>
                      <a:r>
                        <a:rPr lang="en-US" sz="1600" b="0" i="0" kern="1200" dirty="0">
                          <a:solidFill>
                            <a:schemeClr val="dk1"/>
                          </a:solidFill>
                          <a:effectLst/>
                          <a:latin typeface="+mn-lt"/>
                          <a:ea typeface="+mn-ea"/>
                          <a:cs typeface="+mn-cs"/>
                        </a:rPr>
                        <a:t>No Comments Yet</a:t>
                      </a:r>
                      <a:endParaRPr lang="en-US" sz="1400" dirty="0"/>
                    </a:p>
                  </a:txBody>
                  <a:tcPr/>
                </a:tc>
                <a:tc>
                  <a:txBody>
                    <a:bodyPr/>
                    <a:lstStyle/>
                    <a:p>
                      <a:pPr algn="l"/>
                      <a:endParaRPr lang="en-US" sz="1600" dirty="0"/>
                    </a:p>
                  </a:txBody>
                  <a:tcPr/>
                </a:tc>
                <a:extLst>
                  <a:ext uri="{0D108BD9-81ED-4DB2-BD59-A6C34878D82A}">
                    <a16:rowId xmlns:a16="http://schemas.microsoft.com/office/drawing/2014/main" val="4149477939"/>
                  </a:ext>
                </a:extLst>
              </a:tr>
            </a:tbl>
          </a:graphicData>
        </a:graphic>
      </p:graphicFrame>
    </p:spTree>
    <p:extLst>
      <p:ext uri="{BB962C8B-B14F-4D97-AF65-F5344CB8AC3E}">
        <p14:creationId xmlns:p14="http://schemas.microsoft.com/office/powerpoint/2010/main" val="3912364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502920"/>
          </a:xfrm>
          <a:prstGeom prst="rect">
            <a:avLst/>
          </a:prstGeom>
          <a:noFill/>
          <a:ln/>
        </p:spPr>
        <p:txBody>
          <a:bodyPr wrap="square" lIns="0" tIns="0" rIns="0" bIns="0" rtlCol="0" anchor="ctr"/>
          <a:lstStyle/>
          <a:p>
            <a:pPr marL="0" indent="0">
              <a:buNone/>
            </a:pPr>
            <a:r>
              <a:rPr lang="en-US" sz="2400" b="1" dirty="0">
                <a:solidFill>
                  <a:srgbClr val="0B1F33"/>
                </a:solidFill>
                <a:latin typeface="Calibri" pitchFamily="34" charset="0"/>
                <a:ea typeface="Calibri" pitchFamily="34" charset="-122"/>
                <a:cs typeface="Calibri" pitchFamily="34" charset="-120"/>
              </a:rPr>
              <a:t>Evaluation Evidence + Non-Functional Requirements</a:t>
            </a:r>
            <a:endParaRPr lang="en-US" sz="2400" dirty="0"/>
          </a:p>
        </p:txBody>
      </p:sp>
      <p:sp>
        <p:nvSpPr>
          <p:cNvPr id="3" name="Shape 1"/>
          <p:cNvSpPr/>
          <p:nvPr/>
        </p:nvSpPr>
        <p:spPr>
          <a:xfrm>
            <a:off x="548640" y="1051560"/>
            <a:ext cx="5440680" cy="1097280"/>
          </a:xfrm>
          <a:prstGeom prst="roundRect">
            <a:avLst>
              <a:gd name="adj" fmla="val 6667"/>
            </a:avLst>
          </a:prstGeom>
          <a:solidFill>
            <a:srgbClr val="F7FAFC"/>
          </a:solidFill>
          <a:ln w="12700">
            <a:solidFill>
              <a:srgbClr val="E2E8F0"/>
            </a:solidFill>
            <a:prstDash val="solid"/>
          </a:ln>
        </p:spPr>
      </p:sp>
      <p:sp>
        <p:nvSpPr>
          <p:cNvPr id="4" name="Text 2"/>
          <p:cNvSpPr/>
          <p:nvPr/>
        </p:nvSpPr>
        <p:spPr>
          <a:xfrm>
            <a:off x="713232" y="1143000"/>
            <a:ext cx="5111496" cy="274320"/>
          </a:xfrm>
          <a:prstGeom prst="rect">
            <a:avLst/>
          </a:prstGeom>
          <a:noFill/>
          <a:ln/>
        </p:spPr>
        <p:txBody>
          <a:bodyPr wrap="square" lIns="0" tIns="0" rIns="0" bIns="0" rtlCol="0" anchor="ctr"/>
          <a:lstStyle/>
          <a:p>
            <a:pPr marL="0" indent="0">
              <a:buNone/>
            </a:pPr>
            <a:r>
              <a:rPr lang="en-US" sz="1200" b="1" dirty="0">
                <a:solidFill>
                  <a:srgbClr val="0078D4"/>
                </a:solidFill>
                <a:latin typeface="Calibri" pitchFamily="34" charset="0"/>
                <a:ea typeface="Calibri" pitchFamily="34" charset="-122"/>
                <a:cs typeface="Calibri" pitchFamily="34" charset="-120"/>
              </a:rPr>
              <a:t>Component 1 — Activity Recognition</a:t>
            </a:r>
            <a:endParaRPr lang="en-US" sz="1200" dirty="0"/>
          </a:p>
        </p:txBody>
      </p:sp>
      <p:sp>
        <p:nvSpPr>
          <p:cNvPr id="5" name="Text 3"/>
          <p:cNvSpPr/>
          <p:nvPr/>
        </p:nvSpPr>
        <p:spPr>
          <a:xfrm>
            <a:off x="713232" y="1435608"/>
            <a:ext cx="5111496" cy="658368"/>
          </a:xfrm>
          <a:prstGeom prst="rect">
            <a:avLst/>
          </a:prstGeom>
          <a:noFill/>
          <a:ln/>
        </p:spPr>
        <p:txBody>
          <a:bodyPr wrap="square" lIns="0" tIns="0" rIns="0" bIns="0" rtlCol="0" anchor="ctr"/>
          <a:lstStyle/>
          <a:p>
            <a:pPr marL="0" indent="0">
              <a:lnSpc>
                <a:spcPct val="120000"/>
              </a:lnSpc>
              <a:buNone/>
            </a:pPr>
            <a:r>
              <a:rPr lang="en-US" sz="1000" dirty="0">
                <a:solidFill>
                  <a:srgbClr val="5A6B7B"/>
                </a:solidFill>
                <a:latin typeface="Calibri" pitchFamily="34" charset="0"/>
                <a:ea typeface="Calibri" pitchFamily="34" charset="-122"/>
                <a:cs typeface="Calibri" pitchFamily="34" charset="-120"/>
              </a:rPr>
              <a:t>Leave-One-Subject-Out (LOSO) cross-validation across 10 real subjects — 91.97% ± 5.37% accuracy on people the model has never seen.</a:t>
            </a:r>
            <a:endParaRPr lang="en-US" sz="1000" dirty="0"/>
          </a:p>
        </p:txBody>
      </p:sp>
      <p:sp>
        <p:nvSpPr>
          <p:cNvPr id="6" name="Shape 4"/>
          <p:cNvSpPr/>
          <p:nvPr/>
        </p:nvSpPr>
        <p:spPr>
          <a:xfrm>
            <a:off x="6217920" y="1051560"/>
            <a:ext cx="5440680" cy="1097280"/>
          </a:xfrm>
          <a:prstGeom prst="roundRect">
            <a:avLst>
              <a:gd name="adj" fmla="val 6667"/>
            </a:avLst>
          </a:prstGeom>
          <a:solidFill>
            <a:srgbClr val="F7FAFC"/>
          </a:solidFill>
          <a:ln w="12700">
            <a:solidFill>
              <a:srgbClr val="E2E8F0"/>
            </a:solidFill>
            <a:prstDash val="solid"/>
          </a:ln>
        </p:spPr>
      </p:sp>
      <p:sp>
        <p:nvSpPr>
          <p:cNvPr id="7" name="Text 5"/>
          <p:cNvSpPr/>
          <p:nvPr/>
        </p:nvSpPr>
        <p:spPr>
          <a:xfrm>
            <a:off x="6382512" y="1143000"/>
            <a:ext cx="5111496" cy="274320"/>
          </a:xfrm>
          <a:prstGeom prst="rect">
            <a:avLst/>
          </a:prstGeom>
          <a:noFill/>
          <a:ln/>
        </p:spPr>
        <p:txBody>
          <a:bodyPr wrap="square" lIns="0" tIns="0" rIns="0" bIns="0" rtlCol="0" anchor="ctr"/>
          <a:lstStyle/>
          <a:p>
            <a:pPr marL="0" indent="0">
              <a:buNone/>
            </a:pPr>
            <a:r>
              <a:rPr lang="en-US" sz="1200" b="1" dirty="0">
                <a:solidFill>
                  <a:srgbClr val="0078D4"/>
                </a:solidFill>
                <a:latin typeface="Calibri" pitchFamily="34" charset="0"/>
                <a:ea typeface="Calibri" pitchFamily="34" charset="-122"/>
                <a:cs typeface="Calibri" pitchFamily="34" charset="-120"/>
              </a:rPr>
              <a:t>Component 2 — Environmental Mapping</a:t>
            </a:r>
            <a:endParaRPr lang="en-US" sz="1200" dirty="0"/>
          </a:p>
        </p:txBody>
      </p:sp>
      <p:sp>
        <p:nvSpPr>
          <p:cNvPr id="8" name="Text 6"/>
          <p:cNvSpPr/>
          <p:nvPr/>
        </p:nvSpPr>
        <p:spPr>
          <a:xfrm>
            <a:off x="6382512" y="1435608"/>
            <a:ext cx="5111496" cy="658368"/>
          </a:xfrm>
          <a:prstGeom prst="rect">
            <a:avLst/>
          </a:prstGeom>
          <a:noFill/>
          <a:ln/>
        </p:spPr>
        <p:txBody>
          <a:bodyPr wrap="square" lIns="0" tIns="0" rIns="0" bIns="0" rtlCol="0" anchor="ctr"/>
          <a:lstStyle/>
          <a:p>
            <a:pPr>
              <a:lnSpc>
                <a:spcPct val="120000"/>
              </a:lnSpc>
            </a:pPr>
            <a:r>
              <a:rPr lang="en-US" sz="1000" dirty="0">
                <a:solidFill>
                  <a:srgbClr val="5A6B7B"/>
                </a:solidFill>
                <a:latin typeface="Calibri" pitchFamily="34" charset="0"/>
                <a:ea typeface="Calibri" pitchFamily="34" charset="-122"/>
                <a:cs typeface="Calibri" pitchFamily="34" charset="-120"/>
              </a:rPr>
              <a:t>Hybrid vision + IoT sensing validated against single-modality baselines —</a:t>
            </a:r>
            <a:r>
              <a:rPr lang="en-US" sz="1000" dirty="0"/>
              <a:t>achieved an accuracy of approximately 79%</a:t>
            </a:r>
          </a:p>
          <a:p>
            <a:pPr marL="0" indent="0">
              <a:lnSpc>
                <a:spcPct val="120000"/>
              </a:lnSpc>
              <a:buNone/>
            </a:pPr>
            <a:r>
              <a:rPr lang="en-US" sz="1000" dirty="0">
                <a:solidFill>
                  <a:srgbClr val="5A6B7B"/>
                </a:solidFill>
                <a:latin typeface="Calibri" pitchFamily="34" charset="0"/>
                <a:ea typeface="Calibri" pitchFamily="34" charset="-122"/>
                <a:cs typeface="Calibri" pitchFamily="34" charset="-120"/>
              </a:rPr>
              <a:t> </a:t>
            </a:r>
            <a:endParaRPr lang="en-US" sz="1000" dirty="0"/>
          </a:p>
        </p:txBody>
      </p:sp>
      <p:sp>
        <p:nvSpPr>
          <p:cNvPr id="9" name="Shape 7"/>
          <p:cNvSpPr/>
          <p:nvPr/>
        </p:nvSpPr>
        <p:spPr>
          <a:xfrm>
            <a:off x="548640" y="2286000"/>
            <a:ext cx="5440680" cy="1097280"/>
          </a:xfrm>
          <a:prstGeom prst="roundRect">
            <a:avLst>
              <a:gd name="adj" fmla="val 6667"/>
            </a:avLst>
          </a:prstGeom>
          <a:solidFill>
            <a:srgbClr val="F7FAFC"/>
          </a:solidFill>
          <a:ln w="12700">
            <a:solidFill>
              <a:srgbClr val="E2E8F0"/>
            </a:solidFill>
            <a:prstDash val="solid"/>
          </a:ln>
        </p:spPr>
      </p:sp>
      <p:sp>
        <p:nvSpPr>
          <p:cNvPr id="10" name="Text 8"/>
          <p:cNvSpPr/>
          <p:nvPr/>
        </p:nvSpPr>
        <p:spPr>
          <a:xfrm>
            <a:off x="713232" y="2377440"/>
            <a:ext cx="5111496" cy="274320"/>
          </a:xfrm>
          <a:prstGeom prst="rect">
            <a:avLst/>
          </a:prstGeom>
          <a:noFill/>
          <a:ln/>
        </p:spPr>
        <p:txBody>
          <a:bodyPr wrap="square" lIns="0" tIns="0" rIns="0" bIns="0" rtlCol="0" anchor="ctr"/>
          <a:lstStyle/>
          <a:p>
            <a:pPr marL="0" indent="0">
              <a:buNone/>
            </a:pPr>
            <a:r>
              <a:rPr lang="en-US" sz="1200" b="1" dirty="0">
                <a:solidFill>
                  <a:srgbClr val="0078D4"/>
                </a:solidFill>
                <a:latin typeface="Calibri" pitchFamily="34" charset="0"/>
                <a:ea typeface="Calibri" pitchFamily="34" charset="-122"/>
                <a:cs typeface="Calibri" pitchFamily="34" charset="-120"/>
              </a:rPr>
              <a:t>Component 3 — BioSignal Predictor</a:t>
            </a:r>
            <a:endParaRPr lang="en-US" sz="1200" dirty="0"/>
          </a:p>
        </p:txBody>
      </p:sp>
      <p:sp>
        <p:nvSpPr>
          <p:cNvPr id="11" name="Text 9"/>
          <p:cNvSpPr/>
          <p:nvPr/>
        </p:nvSpPr>
        <p:spPr>
          <a:xfrm>
            <a:off x="713232" y="2670048"/>
            <a:ext cx="5111496" cy="658368"/>
          </a:xfrm>
          <a:prstGeom prst="rect">
            <a:avLst/>
          </a:prstGeom>
          <a:noFill/>
          <a:ln/>
        </p:spPr>
        <p:txBody>
          <a:bodyPr wrap="square" lIns="0" tIns="0" rIns="0" bIns="0" rtlCol="0" anchor="ctr"/>
          <a:lstStyle/>
          <a:p>
            <a:pPr>
              <a:lnSpc>
                <a:spcPct val="120000"/>
              </a:lnSpc>
            </a:pPr>
            <a:r>
              <a:rPr lang="en-US" sz="1000" dirty="0">
                <a:solidFill>
                  <a:srgbClr val="5A6B7B"/>
                </a:solidFill>
                <a:latin typeface="Calibri" pitchFamily="34" charset="0"/>
                <a:ea typeface="Calibri" pitchFamily="34" charset="-122"/>
                <a:cs typeface="Calibri" pitchFamily="34" charset="-120"/>
              </a:rPr>
              <a:t>Random Forest Regressor evaluated on Red/IR optical signals — achieved 78.1% zone classification accuracy using Random Forest (100 decision trees).</a:t>
            </a:r>
            <a:endParaRPr lang="en-US" sz="1000" dirty="0"/>
          </a:p>
        </p:txBody>
      </p:sp>
      <p:sp>
        <p:nvSpPr>
          <p:cNvPr id="12" name="Shape 10"/>
          <p:cNvSpPr/>
          <p:nvPr/>
        </p:nvSpPr>
        <p:spPr>
          <a:xfrm>
            <a:off x="6217920" y="2286000"/>
            <a:ext cx="5440680" cy="1097280"/>
          </a:xfrm>
          <a:prstGeom prst="roundRect">
            <a:avLst>
              <a:gd name="adj" fmla="val 6667"/>
            </a:avLst>
          </a:prstGeom>
          <a:solidFill>
            <a:srgbClr val="F7FAFC"/>
          </a:solidFill>
          <a:ln w="12700">
            <a:solidFill>
              <a:srgbClr val="E2E8F0"/>
            </a:solidFill>
            <a:prstDash val="solid"/>
          </a:ln>
        </p:spPr>
      </p:sp>
      <p:sp>
        <p:nvSpPr>
          <p:cNvPr id="13" name="Text 11"/>
          <p:cNvSpPr/>
          <p:nvPr/>
        </p:nvSpPr>
        <p:spPr>
          <a:xfrm>
            <a:off x="6382512" y="2377440"/>
            <a:ext cx="5111496" cy="274320"/>
          </a:xfrm>
          <a:prstGeom prst="rect">
            <a:avLst/>
          </a:prstGeom>
          <a:noFill/>
          <a:ln/>
        </p:spPr>
        <p:txBody>
          <a:bodyPr wrap="square" lIns="0" tIns="0" rIns="0" bIns="0" rtlCol="0" anchor="ctr"/>
          <a:lstStyle/>
          <a:p>
            <a:pPr marL="0" indent="0">
              <a:buNone/>
            </a:pPr>
            <a:r>
              <a:rPr lang="en-US" sz="1200" b="1" dirty="0">
                <a:solidFill>
                  <a:srgbClr val="0078D4"/>
                </a:solidFill>
                <a:latin typeface="Calibri" pitchFamily="34" charset="0"/>
                <a:ea typeface="Calibri" pitchFamily="34" charset="-122"/>
                <a:cs typeface="Calibri" pitchFamily="34" charset="-120"/>
              </a:rPr>
              <a:t>Component 4 — Adaptive Alerts</a:t>
            </a:r>
            <a:endParaRPr lang="en-US" sz="1200" dirty="0"/>
          </a:p>
        </p:txBody>
      </p:sp>
      <p:sp>
        <p:nvSpPr>
          <p:cNvPr id="14" name="Text 12"/>
          <p:cNvSpPr/>
          <p:nvPr/>
        </p:nvSpPr>
        <p:spPr>
          <a:xfrm>
            <a:off x="6382512" y="2670048"/>
            <a:ext cx="5111496" cy="658368"/>
          </a:xfrm>
          <a:prstGeom prst="rect">
            <a:avLst/>
          </a:prstGeom>
          <a:noFill/>
          <a:ln/>
        </p:spPr>
        <p:txBody>
          <a:bodyPr wrap="square" lIns="0" tIns="0" rIns="0" bIns="0" rtlCol="0" anchor="ctr"/>
          <a:lstStyle/>
          <a:p>
            <a:pPr marL="0" indent="0">
              <a:lnSpc>
                <a:spcPct val="120000"/>
              </a:lnSpc>
              <a:buNone/>
            </a:pPr>
            <a:r>
              <a:rPr lang="en-US" sz="1000" dirty="0">
                <a:solidFill>
                  <a:srgbClr val="5A6B7B"/>
                </a:solidFill>
                <a:latin typeface="Calibri" pitchFamily="34" charset="0"/>
                <a:ea typeface="Calibri" pitchFamily="34" charset="-122"/>
                <a:cs typeface="Calibri" pitchFamily="34" charset="-120"/>
              </a:rPr>
              <a:t>XGBoost alert decision model evaluated on risk-context scenarios —</a:t>
            </a:r>
            <a:endParaRPr lang="en-US" sz="1000" dirty="0"/>
          </a:p>
        </p:txBody>
      </p:sp>
      <p:sp>
        <p:nvSpPr>
          <p:cNvPr id="15" name="Text 13"/>
          <p:cNvSpPr/>
          <p:nvPr/>
        </p:nvSpPr>
        <p:spPr>
          <a:xfrm>
            <a:off x="548640" y="3703320"/>
            <a:ext cx="7315200" cy="274320"/>
          </a:xfrm>
          <a:prstGeom prst="rect">
            <a:avLst/>
          </a:prstGeom>
          <a:noFill/>
          <a:ln/>
        </p:spPr>
        <p:txBody>
          <a:bodyPr wrap="square" lIns="0" tIns="0" rIns="0" bIns="0" rtlCol="0" anchor="ctr"/>
          <a:lstStyle/>
          <a:p>
            <a:pPr marL="0" indent="0">
              <a:buNone/>
            </a:pPr>
            <a:r>
              <a:rPr lang="en-US" sz="1100" b="1" kern="0" spc="100" dirty="0">
                <a:solidFill>
                  <a:srgbClr val="0078D4"/>
                </a:solidFill>
                <a:latin typeface="Calibri" pitchFamily="34" charset="0"/>
                <a:ea typeface="Calibri" pitchFamily="34" charset="-122"/>
                <a:cs typeface="Calibri" pitchFamily="34" charset="-120"/>
              </a:rPr>
              <a:t>NFR FOCUS</a:t>
            </a:r>
            <a:endParaRPr lang="en-US" sz="1100" dirty="0"/>
          </a:p>
        </p:txBody>
      </p:sp>
      <p:sp>
        <p:nvSpPr>
          <p:cNvPr id="16" name="Shape 14"/>
          <p:cNvSpPr/>
          <p:nvPr/>
        </p:nvSpPr>
        <p:spPr>
          <a:xfrm>
            <a:off x="548640" y="4023360"/>
            <a:ext cx="2103120" cy="548640"/>
          </a:xfrm>
          <a:prstGeom prst="roundRect">
            <a:avLst>
              <a:gd name="adj" fmla="val 50000"/>
            </a:avLst>
          </a:prstGeom>
          <a:solidFill>
            <a:srgbClr val="0B1F33"/>
          </a:solidFill>
          <a:ln/>
        </p:spPr>
      </p:sp>
      <p:sp>
        <p:nvSpPr>
          <p:cNvPr id="17" name="Text 15"/>
          <p:cNvSpPr/>
          <p:nvPr/>
        </p:nvSpPr>
        <p:spPr>
          <a:xfrm>
            <a:off x="548640" y="4023360"/>
            <a:ext cx="2103120" cy="548640"/>
          </a:xfrm>
          <a:prstGeom prst="rect">
            <a:avLst/>
          </a:prstGeom>
          <a:noFill/>
          <a:ln/>
        </p:spPr>
        <p:txBody>
          <a:bodyPr wrap="square" lIns="0" tIns="0" rIns="0" bIns="0" rtlCol="0" anchor="ctr"/>
          <a:lstStyle/>
          <a:p>
            <a:pPr marL="0" indent="0" algn="ctr">
              <a:lnSpc>
                <a:spcPct val="100000"/>
              </a:lnSpc>
              <a:buNone/>
            </a:pPr>
            <a:r>
              <a:rPr lang="en-US" sz="950" b="1" dirty="0">
                <a:solidFill>
                  <a:srgbClr val="00C2D1"/>
                </a:solidFill>
                <a:latin typeface="Calibri" pitchFamily="34" charset="0"/>
                <a:ea typeface="Calibri" pitchFamily="34" charset="-122"/>
                <a:cs typeface="Calibri" pitchFamily="34" charset="-120"/>
              </a:rPr>
              <a:t>Real-time responsiveness</a:t>
            </a:r>
            <a:endParaRPr lang="en-US" sz="950" dirty="0"/>
          </a:p>
        </p:txBody>
      </p:sp>
      <p:sp>
        <p:nvSpPr>
          <p:cNvPr id="18" name="Shape 16"/>
          <p:cNvSpPr/>
          <p:nvPr/>
        </p:nvSpPr>
        <p:spPr>
          <a:xfrm>
            <a:off x="2788920" y="4023360"/>
            <a:ext cx="2103120" cy="548640"/>
          </a:xfrm>
          <a:prstGeom prst="roundRect">
            <a:avLst>
              <a:gd name="adj" fmla="val 50000"/>
            </a:avLst>
          </a:prstGeom>
          <a:solidFill>
            <a:srgbClr val="0B1F33"/>
          </a:solidFill>
          <a:ln/>
        </p:spPr>
      </p:sp>
      <p:sp>
        <p:nvSpPr>
          <p:cNvPr id="19" name="Text 17"/>
          <p:cNvSpPr/>
          <p:nvPr/>
        </p:nvSpPr>
        <p:spPr>
          <a:xfrm>
            <a:off x="2788920" y="4023360"/>
            <a:ext cx="2103120" cy="548640"/>
          </a:xfrm>
          <a:prstGeom prst="rect">
            <a:avLst/>
          </a:prstGeom>
          <a:noFill/>
          <a:ln/>
        </p:spPr>
        <p:txBody>
          <a:bodyPr wrap="square" lIns="0" tIns="0" rIns="0" bIns="0" rtlCol="0" anchor="ctr"/>
          <a:lstStyle/>
          <a:p>
            <a:pPr marL="0" indent="0" algn="ctr">
              <a:lnSpc>
                <a:spcPct val="100000"/>
              </a:lnSpc>
              <a:buNone/>
            </a:pPr>
            <a:r>
              <a:rPr lang="en-US" sz="950" b="1" dirty="0">
                <a:solidFill>
                  <a:srgbClr val="00C2D1"/>
                </a:solidFill>
                <a:latin typeface="Calibri" pitchFamily="34" charset="0"/>
                <a:ea typeface="Calibri" pitchFamily="34" charset="-122"/>
                <a:cs typeface="Calibri" pitchFamily="34" charset="-120"/>
              </a:rPr>
              <a:t>Reliability &amp; accuracy</a:t>
            </a:r>
            <a:endParaRPr lang="en-US" sz="950" dirty="0"/>
          </a:p>
        </p:txBody>
      </p:sp>
      <p:sp>
        <p:nvSpPr>
          <p:cNvPr id="20" name="Shape 18"/>
          <p:cNvSpPr/>
          <p:nvPr/>
        </p:nvSpPr>
        <p:spPr>
          <a:xfrm>
            <a:off x="5029200" y="4023360"/>
            <a:ext cx="2103120" cy="548640"/>
          </a:xfrm>
          <a:prstGeom prst="roundRect">
            <a:avLst>
              <a:gd name="adj" fmla="val 50000"/>
            </a:avLst>
          </a:prstGeom>
          <a:solidFill>
            <a:srgbClr val="0B1F33"/>
          </a:solidFill>
          <a:ln/>
        </p:spPr>
      </p:sp>
      <p:sp>
        <p:nvSpPr>
          <p:cNvPr id="21" name="Text 19"/>
          <p:cNvSpPr/>
          <p:nvPr/>
        </p:nvSpPr>
        <p:spPr>
          <a:xfrm>
            <a:off x="5029200" y="4023360"/>
            <a:ext cx="2103120" cy="548640"/>
          </a:xfrm>
          <a:prstGeom prst="rect">
            <a:avLst/>
          </a:prstGeom>
          <a:noFill/>
          <a:ln/>
        </p:spPr>
        <p:txBody>
          <a:bodyPr wrap="square" lIns="0" tIns="0" rIns="0" bIns="0" rtlCol="0" anchor="ctr"/>
          <a:lstStyle/>
          <a:p>
            <a:pPr marL="0" indent="0" algn="ctr">
              <a:lnSpc>
                <a:spcPct val="100000"/>
              </a:lnSpc>
              <a:buNone/>
            </a:pPr>
            <a:r>
              <a:rPr lang="en-US" sz="950" b="1" dirty="0">
                <a:solidFill>
                  <a:srgbClr val="00C2D1"/>
                </a:solidFill>
                <a:latin typeface="Calibri" pitchFamily="34" charset="0"/>
                <a:ea typeface="Calibri" pitchFamily="34" charset="-122"/>
                <a:cs typeface="Calibri" pitchFamily="34" charset="-120"/>
              </a:rPr>
              <a:t>Explainability</a:t>
            </a:r>
            <a:endParaRPr lang="en-US" sz="950" dirty="0"/>
          </a:p>
        </p:txBody>
      </p:sp>
      <p:sp>
        <p:nvSpPr>
          <p:cNvPr id="22" name="Shape 20"/>
          <p:cNvSpPr/>
          <p:nvPr/>
        </p:nvSpPr>
        <p:spPr>
          <a:xfrm>
            <a:off x="7269480" y="4023360"/>
            <a:ext cx="2103120" cy="548640"/>
          </a:xfrm>
          <a:prstGeom prst="roundRect">
            <a:avLst>
              <a:gd name="adj" fmla="val 50000"/>
            </a:avLst>
          </a:prstGeom>
          <a:solidFill>
            <a:srgbClr val="0B1F33"/>
          </a:solidFill>
          <a:ln/>
        </p:spPr>
      </p:sp>
      <p:sp>
        <p:nvSpPr>
          <p:cNvPr id="23" name="Text 21"/>
          <p:cNvSpPr/>
          <p:nvPr/>
        </p:nvSpPr>
        <p:spPr>
          <a:xfrm>
            <a:off x="7269480" y="4023360"/>
            <a:ext cx="2103120" cy="548640"/>
          </a:xfrm>
          <a:prstGeom prst="rect">
            <a:avLst/>
          </a:prstGeom>
          <a:noFill/>
          <a:ln/>
        </p:spPr>
        <p:txBody>
          <a:bodyPr wrap="square" lIns="0" tIns="0" rIns="0" bIns="0" rtlCol="0" anchor="ctr"/>
          <a:lstStyle/>
          <a:p>
            <a:pPr marL="0" indent="0" algn="ctr">
              <a:lnSpc>
                <a:spcPct val="100000"/>
              </a:lnSpc>
              <a:buNone/>
            </a:pPr>
            <a:r>
              <a:rPr lang="en-US" sz="950" b="1" dirty="0">
                <a:solidFill>
                  <a:srgbClr val="00C2D1"/>
                </a:solidFill>
                <a:latin typeface="Calibri" pitchFamily="34" charset="0"/>
                <a:ea typeface="Calibri" pitchFamily="34" charset="-122"/>
                <a:cs typeface="Calibri" pitchFamily="34" charset="-120"/>
              </a:rPr>
              <a:t>Safety / fail-safe alerts</a:t>
            </a:r>
            <a:endParaRPr lang="en-US" sz="950" dirty="0"/>
          </a:p>
        </p:txBody>
      </p:sp>
      <p:sp>
        <p:nvSpPr>
          <p:cNvPr id="24" name="Shape 22"/>
          <p:cNvSpPr/>
          <p:nvPr/>
        </p:nvSpPr>
        <p:spPr>
          <a:xfrm>
            <a:off x="9509760" y="4023360"/>
            <a:ext cx="2103120" cy="548640"/>
          </a:xfrm>
          <a:prstGeom prst="roundRect">
            <a:avLst>
              <a:gd name="adj" fmla="val 50000"/>
            </a:avLst>
          </a:prstGeom>
          <a:solidFill>
            <a:srgbClr val="0B1F33"/>
          </a:solidFill>
          <a:ln/>
        </p:spPr>
      </p:sp>
      <p:sp>
        <p:nvSpPr>
          <p:cNvPr id="25" name="Text 23"/>
          <p:cNvSpPr/>
          <p:nvPr/>
        </p:nvSpPr>
        <p:spPr>
          <a:xfrm>
            <a:off x="9509760" y="4023360"/>
            <a:ext cx="2103120" cy="548640"/>
          </a:xfrm>
          <a:prstGeom prst="rect">
            <a:avLst/>
          </a:prstGeom>
          <a:noFill/>
          <a:ln/>
        </p:spPr>
        <p:txBody>
          <a:bodyPr wrap="square" lIns="0" tIns="0" rIns="0" bIns="0" rtlCol="0" anchor="ctr"/>
          <a:lstStyle/>
          <a:p>
            <a:pPr marL="0" indent="0" algn="ctr">
              <a:lnSpc>
                <a:spcPct val="100000"/>
              </a:lnSpc>
              <a:buNone/>
            </a:pPr>
            <a:r>
              <a:rPr lang="en-US" sz="950" b="1" dirty="0">
                <a:solidFill>
                  <a:srgbClr val="00C2D1"/>
                </a:solidFill>
                <a:latin typeface="Calibri" pitchFamily="34" charset="0"/>
                <a:ea typeface="Calibri" pitchFamily="34" charset="-122"/>
                <a:cs typeface="Calibri" pitchFamily="34" charset="-120"/>
              </a:rPr>
              <a:t>Scalability across residents</a:t>
            </a:r>
            <a:endParaRPr lang="en-US" sz="950" dirty="0"/>
          </a:p>
        </p:txBody>
      </p:sp>
      <p:sp>
        <p:nvSpPr>
          <p:cNvPr id="26" name="Text 24"/>
          <p:cNvSpPr/>
          <p:nvPr/>
        </p:nvSpPr>
        <p:spPr>
          <a:xfrm>
            <a:off x="548640" y="4846320"/>
            <a:ext cx="11064240" cy="365760"/>
          </a:xfrm>
          <a:prstGeom prst="rect">
            <a:avLst/>
          </a:prstGeom>
          <a:noFill/>
          <a:ln/>
        </p:spPr>
        <p:txBody>
          <a:bodyPr wrap="square" lIns="0" tIns="0" rIns="0" bIns="0" rtlCol="0" anchor="ctr"/>
          <a:lstStyle/>
          <a:p>
            <a:pPr marL="0" indent="0">
              <a:buNone/>
            </a:pPr>
            <a:r>
              <a:rPr lang="en-US" sz="1150" i="1" dirty="0">
                <a:solidFill>
                  <a:srgbClr val="5A6B7B"/>
                </a:solidFill>
                <a:latin typeface="Calibri" pitchFamily="34" charset="0"/>
                <a:ea typeface="Calibri" pitchFamily="34" charset="-122"/>
                <a:cs typeface="Calibri" pitchFamily="34" charset="-120"/>
              </a:rPr>
              <a:t>Final PP2 evidence should show real demo outputs, validation reports, and measured results — not unsupported claims.</a:t>
            </a:r>
            <a:endParaRPr lang="en-US" sz="1150" dirty="0"/>
          </a:p>
        </p:txBody>
      </p:sp>
      <p:sp>
        <p:nvSpPr>
          <p:cNvPr id="27" name="Text 25"/>
          <p:cNvSpPr/>
          <p:nvPr/>
        </p:nvSpPr>
        <p:spPr>
          <a:xfrm>
            <a:off x="457200" y="6492240"/>
            <a:ext cx="4572000" cy="256032"/>
          </a:xfrm>
          <a:prstGeom prst="rect">
            <a:avLst/>
          </a:prstGeom>
          <a:noFill/>
          <a:ln/>
        </p:spPr>
        <p:txBody>
          <a:bodyPr wrap="square" lIns="0" tIns="0" rIns="0" bIns="0" rtlCol="0" anchor="ctr"/>
          <a:lstStyle/>
          <a:p>
            <a:pPr marL="0" indent="0">
              <a:buNone/>
            </a:pPr>
            <a:r>
              <a:rPr lang="en-US" sz="900" dirty="0">
                <a:solidFill>
                  <a:srgbClr val="93A3B0"/>
                </a:solidFill>
                <a:latin typeface="Calibri" pitchFamily="34" charset="0"/>
                <a:ea typeface="Calibri" pitchFamily="34" charset="-122"/>
                <a:cs typeface="Calibri" pitchFamily="34" charset="-120"/>
              </a:rPr>
              <a:t>SLIIT FACULTY OF COMPUTING</a:t>
            </a:r>
            <a:endParaRPr lang="en-US" sz="900" dirty="0"/>
          </a:p>
        </p:txBody>
      </p:sp>
      <p:sp>
        <p:nvSpPr>
          <p:cNvPr id="28" name="Text 26"/>
          <p:cNvSpPr/>
          <p:nvPr/>
        </p:nvSpPr>
        <p:spPr>
          <a:xfrm>
            <a:off x="9905695" y="6492240"/>
            <a:ext cx="1371600" cy="256032"/>
          </a:xfrm>
          <a:prstGeom prst="rect">
            <a:avLst/>
          </a:prstGeom>
          <a:noFill/>
          <a:ln/>
        </p:spPr>
        <p:txBody>
          <a:bodyPr wrap="square" lIns="0" tIns="0" rIns="0" bIns="0" rtlCol="0" anchor="ctr"/>
          <a:lstStyle/>
          <a:p>
            <a:pPr marL="0" indent="0" algn="l">
              <a:buNone/>
            </a:pPr>
            <a:r>
              <a:rPr lang="en-US" sz="900" dirty="0">
                <a:solidFill>
                  <a:srgbClr val="93A3B0"/>
                </a:solidFill>
                <a:latin typeface="Calibri" pitchFamily="34" charset="0"/>
                <a:ea typeface="Calibri" pitchFamily="34" charset="-122"/>
                <a:cs typeface="Calibri" pitchFamily="34" charset="-120"/>
              </a:rPr>
              <a:t>R26_IT_051</a:t>
            </a:r>
            <a:endParaRPr lang="en-US" sz="900" dirty="0"/>
          </a:p>
        </p:txBody>
      </p:sp>
      <p:sp>
        <p:nvSpPr>
          <p:cNvPr id="29" name="Text 27"/>
          <p:cNvSpPr/>
          <p:nvPr/>
        </p:nvSpPr>
        <p:spPr>
          <a:xfrm>
            <a:off x="11460175" y="6492240"/>
            <a:ext cx="457200" cy="256032"/>
          </a:xfrm>
          <a:prstGeom prst="rect">
            <a:avLst/>
          </a:prstGeom>
          <a:noFill/>
          <a:ln/>
        </p:spPr>
        <p:txBody>
          <a:bodyPr wrap="square" lIns="0" tIns="0" rIns="0" bIns="0" rtlCol="0" anchor="ctr"/>
          <a:lstStyle/>
          <a:p>
            <a:pPr marL="0" indent="0" algn="r">
              <a:buNone/>
            </a:pPr>
            <a:r>
              <a:rPr lang="en-US" sz="900" dirty="0">
                <a:solidFill>
                  <a:srgbClr val="93A3B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B1F33"/>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From Research to Real Care Facilities</a:t>
            </a:r>
            <a:endParaRPr lang="en-US" sz="2600" dirty="0"/>
          </a:p>
        </p:txBody>
      </p:sp>
      <p:sp>
        <p:nvSpPr>
          <p:cNvPr id="3" name="Text 1"/>
          <p:cNvSpPr/>
          <p:nvPr/>
        </p:nvSpPr>
        <p:spPr>
          <a:xfrm>
            <a:off x="548640" y="914400"/>
            <a:ext cx="11064240" cy="274320"/>
          </a:xfrm>
          <a:prstGeom prst="rect">
            <a:avLst/>
          </a:prstGeom>
          <a:noFill/>
          <a:ln/>
        </p:spPr>
        <p:txBody>
          <a:bodyPr wrap="square" lIns="0" tIns="0" rIns="0" bIns="0" rtlCol="0" anchor="ctr"/>
          <a:lstStyle/>
          <a:p>
            <a:pPr marL="0" indent="0">
              <a:buNone/>
            </a:pPr>
            <a:r>
              <a:rPr lang="en-US" sz="1200" i="1" dirty="0">
                <a:solidFill>
                  <a:srgbClr val="93A3B0"/>
                </a:solidFill>
                <a:latin typeface="Calibri" pitchFamily="34" charset="0"/>
                <a:ea typeface="Calibri" pitchFamily="34" charset="-122"/>
                <a:cs typeface="Calibri" pitchFamily="34" charset="-120"/>
              </a:rPr>
              <a:t>Commercialization and demo roadmap</a:t>
            </a:r>
            <a:endParaRPr lang="en-US" sz="1200" dirty="0"/>
          </a:p>
        </p:txBody>
      </p:sp>
      <p:sp>
        <p:nvSpPr>
          <p:cNvPr id="4" name="Shape 2"/>
          <p:cNvSpPr/>
          <p:nvPr/>
        </p:nvSpPr>
        <p:spPr>
          <a:xfrm>
            <a:off x="548640" y="1463040"/>
            <a:ext cx="3566160" cy="1600200"/>
          </a:xfrm>
          <a:prstGeom prst="roundRect">
            <a:avLst>
              <a:gd name="adj" fmla="val 4571"/>
            </a:avLst>
          </a:prstGeom>
          <a:solidFill>
            <a:srgbClr val="132A44"/>
          </a:solidFill>
          <a:ln/>
        </p:spPr>
      </p:sp>
      <p:sp>
        <p:nvSpPr>
          <p:cNvPr id="5" name="Text 3"/>
          <p:cNvSpPr/>
          <p:nvPr/>
        </p:nvSpPr>
        <p:spPr>
          <a:xfrm>
            <a:off x="731520" y="1627632"/>
            <a:ext cx="3200400" cy="320040"/>
          </a:xfrm>
          <a:prstGeom prst="rect">
            <a:avLst/>
          </a:prstGeom>
          <a:noFill/>
          <a:ln/>
        </p:spPr>
        <p:txBody>
          <a:bodyPr wrap="square" lIns="0" tIns="0" rIns="0" bIns="0" rtlCol="0" anchor="ctr"/>
          <a:lstStyle/>
          <a:p>
            <a:pPr marL="0" indent="0">
              <a:buNone/>
            </a:pPr>
            <a:r>
              <a:rPr lang="en-US" sz="1350" b="1" dirty="0">
                <a:solidFill>
                  <a:srgbClr val="00C2D1"/>
                </a:solidFill>
                <a:latin typeface="Calibri" pitchFamily="34" charset="0"/>
                <a:ea typeface="Calibri" pitchFamily="34" charset="-122"/>
                <a:cs typeface="Calibri" pitchFamily="34" charset="-120"/>
              </a:rPr>
              <a:t>Target Users</a:t>
            </a:r>
            <a:endParaRPr lang="en-US" sz="1350" dirty="0"/>
          </a:p>
        </p:txBody>
      </p:sp>
      <p:sp>
        <p:nvSpPr>
          <p:cNvPr id="6" name="Text 4"/>
          <p:cNvSpPr/>
          <p:nvPr/>
        </p:nvSpPr>
        <p:spPr>
          <a:xfrm>
            <a:off x="731520" y="1993392"/>
            <a:ext cx="3200400" cy="1005840"/>
          </a:xfrm>
          <a:prstGeom prst="rect">
            <a:avLst/>
          </a:prstGeom>
          <a:noFill/>
          <a:ln/>
        </p:spPr>
        <p:txBody>
          <a:bodyPr wrap="square" lIns="0" tIns="0" rIns="0" bIns="0" rtlCol="0" anchor="ctr"/>
          <a:lstStyle/>
          <a:p>
            <a:pPr marL="0" indent="0">
              <a:lnSpc>
                <a:spcPct val="125000"/>
              </a:lnSpc>
              <a:buNone/>
            </a:pPr>
            <a:r>
              <a:rPr lang="en-US" sz="1050" dirty="0">
                <a:solidFill>
                  <a:srgbClr val="93A3B0"/>
                </a:solidFill>
                <a:latin typeface="Calibri" pitchFamily="34" charset="0"/>
                <a:ea typeface="Calibri" pitchFamily="34" charset="-122"/>
                <a:cs typeface="Calibri" pitchFamily="34" charset="-120"/>
              </a:rPr>
              <a:t>Care coordinators &amp; nursing staff  •  Private hospitals  •  Elder-care facilities  •  Families</a:t>
            </a:r>
            <a:endParaRPr lang="en-US" sz="1050" dirty="0"/>
          </a:p>
        </p:txBody>
      </p:sp>
      <p:sp>
        <p:nvSpPr>
          <p:cNvPr id="7" name="Shape 5"/>
          <p:cNvSpPr/>
          <p:nvPr/>
        </p:nvSpPr>
        <p:spPr>
          <a:xfrm>
            <a:off x="4297680" y="1463040"/>
            <a:ext cx="3566160" cy="1600200"/>
          </a:xfrm>
          <a:prstGeom prst="roundRect">
            <a:avLst>
              <a:gd name="adj" fmla="val 4571"/>
            </a:avLst>
          </a:prstGeom>
          <a:solidFill>
            <a:srgbClr val="132A44"/>
          </a:solidFill>
          <a:ln/>
        </p:spPr>
      </p:sp>
      <p:sp>
        <p:nvSpPr>
          <p:cNvPr id="8" name="Text 6"/>
          <p:cNvSpPr/>
          <p:nvPr/>
        </p:nvSpPr>
        <p:spPr>
          <a:xfrm>
            <a:off x="4480560" y="1627632"/>
            <a:ext cx="3200400" cy="320040"/>
          </a:xfrm>
          <a:prstGeom prst="rect">
            <a:avLst/>
          </a:prstGeom>
          <a:noFill/>
          <a:ln/>
        </p:spPr>
        <p:txBody>
          <a:bodyPr wrap="square" lIns="0" tIns="0" rIns="0" bIns="0" rtlCol="0" anchor="ctr"/>
          <a:lstStyle/>
          <a:p>
            <a:pPr marL="0" indent="0">
              <a:buNone/>
            </a:pPr>
            <a:r>
              <a:rPr lang="en-US" sz="1350" b="1" dirty="0">
                <a:solidFill>
                  <a:srgbClr val="00C2D1"/>
                </a:solidFill>
                <a:latin typeface="Calibri" pitchFamily="34" charset="0"/>
                <a:ea typeface="Calibri" pitchFamily="34" charset="-122"/>
                <a:cs typeface="Calibri" pitchFamily="34" charset="-120"/>
              </a:rPr>
              <a:t>User Value</a:t>
            </a:r>
            <a:endParaRPr lang="en-US" sz="1350" dirty="0"/>
          </a:p>
        </p:txBody>
      </p:sp>
      <p:sp>
        <p:nvSpPr>
          <p:cNvPr id="9" name="Text 7"/>
          <p:cNvSpPr/>
          <p:nvPr/>
        </p:nvSpPr>
        <p:spPr>
          <a:xfrm>
            <a:off x="4480560" y="1993392"/>
            <a:ext cx="3200400" cy="1005840"/>
          </a:xfrm>
          <a:prstGeom prst="rect">
            <a:avLst/>
          </a:prstGeom>
          <a:noFill/>
          <a:ln/>
        </p:spPr>
        <p:txBody>
          <a:bodyPr wrap="square" lIns="0" tIns="0" rIns="0" bIns="0" rtlCol="0" anchor="ctr"/>
          <a:lstStyle/>
          <a:p>
            <a:pPr marL="0" indent="0">
              <a:lnSpc>
                <a:spcPct val="125000"/>
              </a:lnSpc>
              <a:buNone/>
            </a:pPr>
            <a:r>
              <a:rPr lang="en-US" sz="1050" dirty="0">
                <a:solidFill>
                  <a:srgbClr val="93A3B0"/>
                </a:solidFill>
                <a:latin typeface="Calibri" pitchFamily="34" charset="0"/>
                <a:ea typeface="Calibri" pitchFamily="34" charset="-122"/>
                <a:cs typeface="Calibri" pitchFamily="34" charset="-120"/>
              </a:rPr>
              <a:t>Proactive, not reactive — fuses motion, environment, and vitals into one early-warning system</a:t>
            </a:r>
            <a:endParaRPr lang="en-US" sz="1050" dirty="0"/>
          </a:p>
        </p:txBody>
      </p:sp>
      <p:sp>
        <p:nvSpPr>
          <p:cNvPr id="10" name="Shape 8"/>
          <p:cNvSpPr/>
          <p:nvPr/>
        </p:nvSpPr>
        <p:spPr>
          <a:xfrm>
            <a:off x="8046720" y="1463040"/>
            <a:ext cx="3566160" cy="1600200"/>
          </a:xfrm>
          <a:prstGeom prst="roundRect">
            <a:avLst>
              <a:gd name="adj" fmla="val 4571"/>
            </a:avLst>
          </a:prstGeom>
          <a:solidFill>
            <a:srgbClr val="132A44"/>
          </a:solidFill>
          <a:ln/>
        </p:spPr>
      </p:sp>
      <p:sp>
        <p:nvSpPr>
          <p:cNvPr id="11" name="Text 9"/>
          <p:cNvSpPr/>
          <p:nvPr/>
        </p:nvSpPr>
        <p:spPr>
          <a:xfrm>
            <a:off x="8229600" y="1627632"/>
            <a:ext cx="3200400" cy="320040"/>
          </a:xfrm>
          <a:prstGeom prst="rect">
            <a:avLst/>
          </a:prstGeom>
          <a:noFill/>
          <a:ln/>
        </p:spPr>
        <p:txBody>
          <a:bodyPr wrap="square" lIns="0" tIns="0" rIns="0" bIns="0" rtlCol="0" anchor="ctr"/>
          <a:lstStyle/>
          <a:p>
            <a:pPr marL="0" indent="0">
              <a:buNone/>
            </a:pPr>
            <a:r>
              <a:rPr lang="en-US" sz="1350" b="1" dirty="0">
                <a:solidFill>
                  <a:srgbClr val="00C2D1"/>
                </a:solidFill>
                <a:latin typeface="Calibri" pitchFamily="34" charset="0"/>
                <a:ea typeface="Calibri" pitchFamily="34" charset="-122"/>
                <a:cs typeface="Calibri" pitchFamily="34" charset="-120"/>
              </a:rPr>
              <a:t>Commercial Model</a:t>
            </a:r>
            <a:endParaRPr lang="en-US" sz="1350" dirty="0"/>
          </a:p>
        </p:txBody>
      </p:sp>
      <p:sp>
        <p:nvSpPr>
          <p:cNvPr id="12" name="Text 10"/>
          <p:cNvSpPr/>
          <p:nvPr/>
        </p:nvSpPr>
        <p:spPr>
          <a:xfrm>
            <a:off x="8229600" y="1993392"/>
            <a:ext cx="3200400" cy="1005840"/>
          </a:xfrm>
          <a:prstGeom prst="rect">
            <a:avLst/>
          </a:prstGeom>
          <a:noFill/>
          <a:ln/>
        </p:spPr>
        <p:txBody>
          <a:bodyPr wrap="square" lIns="0" tIns="0" rIns="0" bIns="0" rtlCol="0" anchor="ctr"/>
          <a:lstStyle/>
          <a:p>
            <a:pPr marL="0" indent="0">
              <a:lnSpc>
                <a:spcPct val="125000"/>
              </a:lnSpc>
              <a:buNone/>
            </a:pPr>
            <a:r>
              <a:rPr lang="en-US" sz="1050" dirty="0">
                <a:solidFill>
                  <a:srgbClr val="93A3B0"/>
                </a:solidFill>
                <a:latin typeface="Calibri" pitchFamily="34" charset="0"/>
                <a:ea typeface="Calibri" pitchFamily="34" charset="-122"/>
                <a:cs typeface="Calibri" pitchFamily="34" charset="-120"/>
              </a:rPr>
              <a:t>Subscription SaaS per bed/resident  •  Hardware + software bundle  •  Tiered pricing by module</a:t>
            </a:r>
            <a:endParaRPr lang="en-US" sz="1050" dirty="0"/>
          </a:p>
        </p:txBody>
      </p:sp>
      <p:sp>
        <p:nvSpPr>
          <p:cNvPr id="13" name="Shape 11"/>
          <p:cNvSpPr/>
          <p:nvPr/>
        </p:nvSpPr>
        <p:spPr>
          <a:xfrm>
            <a:off x="548640" y="3337560"/>
            <a:ext cx="11091672" cy="1371600"/>
          </a:xfrm>
          <a:prstGeom prst="roundRect">
            <a:avLst>
              <a:gd name="adj" fmla="val 5333"/>
            </a:avLst>
          </a:prstGeom>
          <a:solidFill>
            <a:srgbClr val="0078D4"/>
          </a:solidFill>
          <a:ln/>
        </p:spPr>
      </p:sp>
      <p:sp>
        <p:nvSpPr>
          <p:cNvPr id="14" name="Text 12"/>
          <p:cNvSpPr/>
          <p:nvPr/>
        </p:nvSpPr>
        <p:spPr>
          <a:xfrm>
            <a:off x="914400" y="3520440"/>
            <a:ext cx="7315200" cy="365760"/>
          </a:xfrm>
          <a:prstGeom prst="rect">
            <a:avLst/>
          </a:prstGeom>
          <a:noFill/>
          <a:ln/>
        </p:spPr>
        <p:txBody>
          <a:bodyPr wrap="square" lIns="0" tIns="0" rIns="0" bIns="0" rtlCol="0" anchor="ctr"/>
          <a:lstStyle/>
          <a:p>
            <a:pPr marL="0" indent="0">
              <a:buNone/>
            </a:pPr>
            <a:r>
              <a:rPr lang="en-US" sz="1500" b="1" kern="0" spc="100" dirty="0">
                <a:solidFill>
                  <a:srgbClr val="FFFFFF"/>
                </a:solidFill>
                <a:latin typeface="Calibri" pitchFamily="34" charset="0"/>
                <a:ea typeface="Calibri" pitchFamily="34" charset="-122"/>
                <a:cs typeface="Calibri" pitchFamily="34" charset="-120"/>
              </a:rPr>
              <a:t>LIVE DEMO NEXT</a:t>
            </a:r>
            <a:endParaRPr lang="en-US" sz="1500" dirty="0"/>
          </a:p>
        </p:txBody>
      </p:sp>
      <p:sp>
        <p:nvSpPr>
          <p:cNvPr id="15" name="Text 13"/>
          <p:cNvSpPr/>
          <p:nvPr/>
        </p:nvSpPr>
        <p:spPr>
          <a:xfrm>
            <a:off x="914400" y="3886200"/>
            <a:ext cx="8686800" cy="731520"/>
          </a:xfrm>
          <a:prstGeom prst="rect">
            <a:avLst/>
          </a:prstGeom>
          <a:noFill/>
          <a:ln/>
        </p:spPr>
        <p:txBody>
          <a:bodyPr wrap="square" lIns="0" tIns="0" rIns="0" bIns="0" rtlCol="0" anchor="ctr"/>
          <a:lstStyle/>
          <a:p>
            <a:pPr marL="0" indent="0">
              <a:lnSpc>
                <a:spcPct val="120000"/>
              </a:lnSpc>
              <a:buNone/>
            </a:pPr>
            <a:r>
              <a:rPr lang="en-US" sz="1200" dirty="0">
                <a:solidFill>
                  <a:srgbClr val="FFFFFF"/>
                </a:solidFill>
                <a:latin typeface="Calibri" pitchFamily="34" charset="0"/>
                <a:ea typeface="Calibri" pitchFamily="34" charset="-122"/>
                <a:cs typeface="Calibri" pitchFamily="34" charset="-120"/>
              </a:rPr>
              <a:t>We will now show Component 1 live: real-time fall detection on our wearable device and dashboard. Components 2-4 will be shown through live dashboards / recorded demos as prepared.</a:t>
            </a:r>
            <a:endParaRPr lang="en-US" sz="1200" dirty="0"/>
          </a:p>
        </p:txBody>
      </p:sp>
      <p:sp>
        <p:nvSpPr>
          <p:cNvPr id="16" name="Text 14"/>
          <p:cNvSpPr/>
          <p:nvPr/>
        </p:nvSpPr>
        <p:spPr>
          <a:xfrm>
            <a:off x="457200" y="6492240"/>
            <a:ext cx="4572000" cy="256032"/>
          </a:xfrm>
          <a:prstGeom prst="rect">
            <a:avLst/>
          </a:prstGeom>
          <a:noFill/>
          <a:ln/>
        </p:spPr>
        <p:txBody>
          <a:bodyPr wrap="square" lIns="0" tIns="0" rIns="0" bIns="0" rtlCol="0" anchor="ctr"/>
          <a:lstStyle/>
          <a:p>
            <a:pPr marL="0" indent="0">
              <a:buNone/>
            </a:pPr>
            <a:r>
              <a:rPr lang="en-US" sz="900" dirty="0">
                <a:solidFill>
                  <a:srgbClr val="93A3B0"/>
                </a:solidFill>
                <a:latin typeface="Calibri" pitchFamily="34" charset="0"/>
                <a:ea typeface="Calibri" pitchFamily="34" charset="-122"/>
                <a:cs typeface="Calibri" pitchFamily="34" charset="-120"/>
              </a:rPr>
              <a:t>SLIIT FACULTY OF COMPUTING</a:t>
            </a:r>
            <a:endParaRPr lang="en-US" sz="900" dirty="0"/>
          </a:p>
        </p:txBody>
      </p:sp>
      <p:sp>
        <p:nvSpPr>
          <p:cNvPr id="17" name="Text 15"/>
          <p:cNvSpPr/>
          <p:nvPr/>
        </p:nvSpPr>
        <p:spPr>
          <a:xfrm>
            <a:off x="9905695" y="6492240"/>
            <a:ext cx="1371600" cy="256032"/>
          </a:xfrm>
          <a:prstGeom prst="rect">
            <a:avLst/>
          </a:prstGeom>
          <a:noFill/>
          <a:ln/>
        </p:spPr>
        <p:txBody>
          <a:bodyPr wrap="square" lIns="0" tIns="0" rIns="0" bIns="0" rtlCol="0" anchor="ctr"/>
          <a:lstStyle/>
          <a:p>
            <a:pPr marL="0" indent="0" algn="l">
              <a:buNone/>
            </a:pPr>
            <a:r>
              <a:rPr lang="en-US" sz="900" dirty="0">
                <a:solidFill>
                  <a:srgbClr val="93A3B0"/>
                </a:solidFill>
                <a:latin typeface="Calibri" pitchFamily="34" charset="0"/>
                <a:ea typeface="Calibri" pitchFamily="34" charset="-122"/>
                <a:cs typeface="Calibri" pitchFamily="34" charset="-120"/>
              </a:rPr>
              <a:t>R26_IT_051</a:t>
            </a:r>
            <a:endParaRPr lang="en-US" sz="900" dirty="0"/>
          </a:p>
        </p:txBody>
      </p:sp>
      <p:sp>
        <p:nvSpPr>
          <p:cNvPr id="18" name="Text 16"/>
          <p:cNvSpPr/>
          <p:nvPr/>
        </p:nvSpPr>
        <p:spPr>
          <a:xfrm>
            <a:off x="11460175" y="6492240"/>
            <a:ext cx="457200" cy="256032"/>
          </a:xfrm>
          <a:prstGeom prst="rect">
            <a:avLst/>
          </a:prstGeom>
          <a:noFill/>
          <a:ln/>
        </p:spPr>
        <p:txBody>
          <a:bodyPr wrap="square" lIns="0" tIns="0" rIns="0" bIns="0" rtlCol="0" anchor="ctr"/>
          <a:lstStyle/>
          <a:p>
            <a:pPr marL="0" indent="0" algn="r">
              <a:buNone/>
            </a:pPr>
            <a:r>
              <a:rPr lang="en-US" sz="900" dirty="0">
                <a:solidFill>
                  <a:srgbClr val="93A3B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B1F33"/>
        </a:solidFill>
        <a:effectLst/>
      </p:bgPr>
    </p:bg>
    <p:spTree>
      <p:nvGrpSpPr>
        <p:cNvPr id="1" name=""/>
        <p:cNvGrpSpPr/>
        <p:nvPr/>
      </p:nvGrpSpPr>
      <p:grpSpPr>
        <a:xfrm>
          <a:off x="0" y="0"/>
          <a:ext cx="0" cy="0"/>
          <a:chOff x="0" y="0"/>
          <a:chExt cx="0" cy="0"/>
        </a:xfrm>
      </p:grpSpPr>
      <p:sp>
        <p:nvSpPr>
          <p:cNvPr id="2" name="Text 0"/>
          <p:cNvSpPr/>
          <p:nvPr/>
        </p:nvSpPr>
        <p:spPr>
          <a:xfrm>
            <a:off x="822960" y="2286000"/>
            <a:ext cx="10058400" cy="9144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3" name="Text 1"/>
          <p:cNvSpPr/>
          <p:nvPr/>
        </p:nvSpPr>
        <p:spPr>
          <a:xfrm>
            <a:off x="822960" y="3108960"/>
            <a:ext cx="10058400" cy="411480"/>
          </a:xfrm>
          <a:prstGeom prst="rect">
            <a:avLst/>
          </a:prstGeom>
          <a:noFill/>
          <a:ln/>
        </p:spPr>
        <p:txBody>
          <a:bodyPr wrap="square" lIns="0" tIns="0" rIns="0" bIns="0" rtlCol="0" anchor="ctr"/>
          <a:lstStyle/>
          <a:p>
            <a:pPr marL="0" indent="0">
              <a:buNone/>
            </a:pPr>
            <a:r>
              <a:rPr lang="en-US" sz="1600" dirty="0">
                <a:solidFill>
                  <a:srgbClr val="00C2D1"/>
                </a:solidFill>
                <a:latin typeface="Calibri" pitchFamily="34" charset="0"/>
                <a:ea typeface="Calibri" pitchFamily="34" charset="-122"/>
                <a:cs typeface="Calibri" pitchFamily="34" charset="-120"/>
              </a:rPr>
              <a:t>R26_IT_051  •  AegisCare</a:t>
            </a:r>
            <a:endParaRPr lang="en-US" sz="1600" dirty="0"/>
          </a:p>
        </p:txBody>
      </p:sp>
      <p:sp>
        <p:nvSpPr>
          <p:cNvPr id="4" name="Text 2"/>
          <p:cNvSpPr/>
          <p:nvPr/>
        </p:nvSpPr>
        <p:spPr>
          <a:xfrm>
            <a:off x="822960" y="3566160"/>
            <a:ext cx="10058400" cy="365760"/>
          </a:xfrm>
          <a:prstGeom prst="rect">
            <a:avLst/>
          </a:prstGeom>
          <a:noFill/>
          <a:ln/>
        </p:spPr>
        <p:txBody>
          <a:bodyPr wrap="square" lIns="0" tIns="0" rIns="0" bIns="0" rtlCol="0" anchor="ctr"/>
          <a:lstStyle/>
          <a:p>
            <a:pPr marL="0" indent="0">
              <a:buNone/>
            </a:pPr>
            <a:r>
              <a:rPr lang="en-US" sz="1400" dirty="0">
                <a:solidFill>
                  <a:srgbClr val="93A3B0"/>
                </a:solidFill>
                <a:latin typeface="Calibri" pitchFamily="34" charset="0"/>
                <a:ea typeface="Calibri" pitchFamily="34" charset="-122"/>
                <a:cs typeface="Calibri" pitchFamily="34" charset="-120"/>
              </a:rPr>
              <a:t>Questions and demo</a:t>
            </a:r>
            <a:endParaRPr lang="en-US" sz="1400" dirty="0"/>
          </a:p>
        </p:txBody>
      </p:sp>
      <p:sp>
        <p:nvSpPr>
          <p:cNvPr id="5" name="Shape 3"/>
          <p:cNvSpPr/>
          <p:nvPr/>
        </p:nvSpPr>
        <p:spPr>
          <a:xfrm>
            <a:off x="822960" y="4297680"/>
            <a:ext cx="2606040" cy="548640"/>
          </a:xfrm>
          <a:prstGeom prst="roundRect">
            <a:avLst>
              <a:gd name="adj" fmla="val 50000"/>
            </a:avLst>
          </a:prstGeom>
          <a:solidFill>
            <a:srgbClr val="132A44"/>
          </a:solidFill>
          <a:ln/>
        </p:spPr>
      </p:sp>
      <p:sp>
        <p:nvSpPr>
          <p:cNvPr id="6" name="Text 4"/>
          <p:cNvSpPr/>
          <p:nvPr/>
        </p:nvSpPr>
        <p:spPr>
          <a:xfrm>
            <a:off x="822960" y="4297680"/>
            <a:ext cx="2606040" cy="548640"/>
          </a:xfrm>
          <a:prstGeom prst="rect">
            <a:avLst/>
          </a:prstGeom>
          <a:noFill/>
          <a:ln/>
        </p:spPr>
        <p:txBody>
          <a:bodyPr wrap="square" lIns="0" tIns="0" rIns="0" bIns="0" rtlCol="0" anchor="ctr"/>
          <a:lstStyle/>
          <a:p>
            <a:pPr marL="0" indent="0" algn="ctr">
              <a:buNone/>
            </a:pPr>
            <a:r>
              <a:rPr lang="en-US" sz="1000" b="1" dirty="0">
                <a:solidFill>
                  <a:srgbClr val="00C2D1"/>
                </a:solidFill>
                <a:latin typeface="Calibri" pitchFamily="34" charset="0"/>
                <a:ea typeface="Calibri" pitchFamily="34" charset="-122"/>
                <a:cs typeface="Calibri" pitchFamily="34" charset="-120"/>
              </a:rPr>
              <a:t>Activity Recognition</a:t>
            </a:r>
            <a:endParaRPr lang="en-US" sz="1000" dirty="0"/>
          </a:p>
        </p:txBody>
      </p:sp>
      <p:sp>
        <p:nvSpPr>
          <p:cNvPr id="7" name="Shape 5"/>
          <p:cNvSpPr/>
          <p:nvPr/>
        </p:nvSpPr>
        <p:spPr>
          <a:xfrm>
            <a:off x="3611880" y="4297680"/>
            <a:ext cx="2606040" cy="548640"/>
          </a:xfrm>
          <a:prstGeom prst="roundRect">
            <a:avLst>
              <a:gd name="adj" fmla="val 50000"/>
            </a:avLst>
          </a:prstGeom>
          <a:solidFill>
            <a:srgbClr val="132A44"/>
          </a:solidFill>
          <a:ln/>
        </p:spPr>
      </p:sp>
      <p:sp>
        <p:nvSpPr>
          <p:cNvPr id="8" name="Text 6"/>
          <p:cNvSpPr/>
          <p:nvPr/>
        </p:nvSpPr>
        <p:spPr>
          <a:xfrm>
            <a:off x="3611880" y="4297680"/>
            <a:ext cx="2606040" cy="548640"/>
          </a:xfrm>
          <a:prstGeom prst="rect">
            <a:avLst/>
          </a:prstGeom>
          <a:noFill/>
          <a:ln/>
        </p:spPr>
        <p:txBody>
          <a:bodyPr wrap="square" lIns="0" tIns="0" rIns="0" bIns="0" rtlCol="0" anchor="ctr"/>
          <a:lstStyle/>
          <a:p>
            <a:pPr marL="0" indent="0" algn="ctr">
              <a:buNone/>
            </a:pPr>
            <a:r>
              <a:rPr lang="en-US" sz="1000" b="1" dirty="0">
                <a:solidFill>
                  <a:srgbClr val="00C2D1"/>
                </a:solidFill>
                <a:latin typeface="Calibri" pitchFamily="34" charset="0"/>
                <a:ea typeface="Calibri" pitchFamily="34" charset="-122"/>
                <a:cs typeface="Calibri" pitchFamily="34" charset="-120"/>
              </a:rPr>
              <a:t>Environmental Mapping</a:t>
            </a:r>
            <a:endParaRPr lang="en-US" sz="1000" dirty="0"/>
          </a:p>
        </p:txBody>
      </p:sp>
      <p:sp>
        <p:nvSpPr>
          <p:cNvPr id="9" name="Shape 7"/>
          <p:cNvSpPr/>
          <p:nvPr/>
        </p:nvSpPr>
        <p:spPr>
          <a:xfrm>
            <a:off x="6400800" y="4297680"/>
            <a:ext cx="2606040" cy="548640"/>
          </a:xfrm>
          <a:prstGeom prst="roundRect">
            <a:avLst>
              <a:gd name="adj" fmla="val 50000"/>
            </a:avLst>
          </a:prstGeom>
          <a:solidFill>
            <a:srgbClr val="132A44"/>
          </a:solidFill>
          <a:ln/>
        </p:spPr>
      </p:sp>
      <p:sp>
        <p:nvSpPr>
          <p:cNvPr id="10" name="Text 8"/>
          <p:cNvSpPr/>
          <p:nvPr/>
        </p:nvSpPr>
        <p:spPr>
          <a:xfrm>
            <a:off x="6400800" y="4297680"/>
            <a:ext cx="2606040" cy="548640"/>
          </a:xfrm>
          <a:prstGeom prst="rect">
            <a:avLst/>
          </a:prstGeom>
          <a:noFill/>
          <a:ln/>
        </p:spPr>
        <p:txBody>
          <a:bodyPr wrap="square" lIns="0" tIns="0" rIns="0" bIns="0" rtlCol="0" anchor="ctr"/>
          <a:lstStyle/>
          <a:p>
            <a:pPr marL="0" indent="0" algn="ctr">
              <a:buNone/>
            </a:pPr>
            <a:r>
              <a:rPr lang="en-US" sz="1000" b="1" dirty="0">
                <a:solidFill>
                  <a:srgbClr val="00C2D1"/>
                </a:solidFill>
                <a:latin typeface="Calibri" pitchFamily="34" charset="0"/>
                <a:ea typeface="Calibri" pitchFamily="34" charset="-122"/>
                <a:cs typeface="Calibri" pitchFamily="34" charset="-120"/>
              </a:rPr>
              <a:t>BioSignal Prediction</a:t>
            </a:r>
            <a:endParaRPr lang="en-US" sz="1000" dirty="0"/>
          </a:p>
        </p:txBody>
      </p:sp>
      <p:sp>
        <p:nvSpPr>
          <p:cNvPr id="11" name="Shape 9"/>
          <p:cNvSpPr/>
          <p:nvPr/>
        </p:nvSpPr>
        <p:spPr>
          <a:xfrm>
            <a:off x="9189720" y="4297680"/>
            <a:ext cx="2606040" cy="548640"/>
          </a:xfrm>
          <a:prstGeom prst="roundRect">
            <a:avLst>
              <a:gd name="adj" fmla="val 50000"/>
            </a:avLst>
          </a:prstGeom>
          <a:solidFill>
            <a:srgbClr val="132A44"/>
          </a:solidFill>
          <a:ln/>
        </p:spPr>
      </p:sp>
      <p:sp>
        <p:nvSpPr>
          <p:cNvPr id="12" name="Text 10"/>
          <p:cNvSpPr/>
          <p:nvPr/>
        </p:nvSpPr>
        <p:spPr>
          <a:xfrm>
            <a:off x="9189720" y="4297680"/>
            <a:ext cx="2606040" cy="548640"/>
          </a:xfrm>
          <a:prstGeom prst="rect">
            <a:avLst/>
          </a:prstGeom>
          <a:noFill/>
          <a:ln/>
        </p:spPr>
        <p:txBody>
          <a:bodyPr wrap="square" lIns="0" tIns="0" rIns="0" bIns="0" rtlCol="0" anchor="ctr"/>
          <a:lstStyle/>
          <a:p>
            <a:pPr marL="0" indent="0" algn="ctr">
              <a:buNone/>
            </a:pPr>
            <a:r>
              <a:rPr lang="en-US" sz="1000" b="1" dirty="0">
                <a:solidFill>
                  <a:srgbClr val="00C2D1"/>
                </a:solidFill>
                <a:latin typeface="Calibri" pitchFamily="34" charset="0"/>
                <a:ea typeface="Calibri" pitchFamily="34" charset="-122"/>
                <a:cs typeface="Calibri" pitchFamily="34" charset="-120"/>
              </a:rPr>
              <a:t>Adaptive Alerts</a:t>
            </a:r>
            <a:endParaRPr lang="en-US" sz="1000" dirty="0"/>
          </a:p>
        </p:txBody>
      </p:sp>
      <p:sp>
        <p:nvSpPr>
          <p:cNvPr id="13" name="Text 11"/>
          <p:cNvSpPr/>
          <p:nvPr/>
        </p:nvSpPr>
        <p:spPr>
          <a:xfrm>
            <a:off x="822960" y="5120640"/>
            <a:ext cx="10058400" cy="320040"/>
          </a:xfrm>
          <a:prstGeom prst="rect">
            <a:avLst/>
          </a:prstGeom>
          <a:noFill/>
          <a:ln/>
        </p:spPr>
        <p:txBody>
          <a:bodyPr wrap="square" lIns="0" tIns="0" rIns="0" bIns="0" rtlCol="0" anchor="ctr"/>
          <a:lstStyle/>
          <a:p>
            <a:pPr marL="0" indent="0">
              <a:buNone/>
            </a:pPr>
            <a:r>
              <a:rPr lang="en-US" sz="1200" i="1" dirty="0">
                <a:solidFill>
                  <a:srgbClr val="93A3B0"/>
                </a:solidFill>
                <a:latin typeface="Calibri" pitchFamily="34" charset="0"/>
                <a:ea typeface="Calibri" pitchFamily="34" charset="-122"/>
                <a:cs typeface="Calibri" pitchFamily="34" charset="-120"/>
              </a:rPr>
              <a:t>Multimodal Intelligent Fall Monitoring System for Elderly Care</a:t>
            </a:r>
            <a:endParaRPr lang="en-US" sz="1200" dirty="0"/>
          </a:p>
        </p:txBody>
      </p:sp>
      <p:sp>
        <p:nvSpPr>
          <p:cNvPr id="14" name="Text 12"/>
          <p:cNvSpPr/>
          <p:nvPr/>
        </p:nvSpPr>
        <p:spPr>
          <a:xfrm>
            <a:off x="457200" y="6492240"/>
            <a:ext cx="4572000" cy="256032"/>
          </a:xfrm>
          <a:prstGeom prst="rect">
            <a:avLst/>
          </a:prstGeom>
          <a:noFill/>
          <a:ln/>
        </p:spPr>
        <p:txBody>
          <a:bodyPr wrap="square" lIns="0" tIns="0" rIns="0" bIns="0" rtlCol="0" anchor="ctr"/>
          <a:lstStyle/>
          <a:p>
            <a:pPr marL="0" indent="0">
              <a:buNone/>
            </a:pPr>
            <a:r>
              <a:rPr lang="en-US" sz="900" dirty="0">
                <a:solidFill>
                  <a:srgbClr val="93A3B0"/>
                </a:solidFill>
                <a:latin typeface="Calibri" pitchFamily="34" charset="0"/>
                <a:ea typeface="Calibri" pitchFamily="34" charset="-122"/>
                <a:cs typeface="Calibri" pitchFamily="34" charset="-120"/>
              </a:rPr>
              <a:t>SLIIT FACULTY OF COMPUTING</a:t>
            </a:r>
            <a:endParaRPr lang="en-US" sz="900" dirty="0"/>
          </a:p>
        </p:txBody>
      </p:sp>
      <p:sp>
        <p:nvSpPr>
          <p:cNvPr id="15" name="Text 13"/>
          <p:cNvSpPr/>
          <p:nvPr/>
        </p:nvSpPr>
        <p:spPr>
          <a:xfrm>
            <a:off x="9905695" y="6492240"/>
            <a:ext cx="1371600" cy="256032"/>
          </a:xfrm>
          <a:prstGeom prst="rect">
            <a:avLst/>
          </a:prstGeom>
          <a:noFill/>
          <a:ln/>
        </p:spPr>
        <p:txBody>
          <a:bodyPr wrap="square" lIns="0" tIns="0" rIns="0" bIns="0" rtlCol="0" anchor="ctr"/>
          <a:lstStyle/>
          <a:p>
            <a:pPr marL="0" indent="0" algn="l">
              <a:buNone/>
            </a:pPr>
            <a:r>
              <a:rPr lang="en-US" sz="900" dirty="0">
                <a:solidFill>
                  <a:srgbClr val="93A3B0"/>
                </a:solidFill>
                <a:latin typeface="Calibri" pitchFamily="34" charset="0"/>
                <a:ea typeface="Calibri" pitchFamily="34" charset="-122"/>
                <a:cs typeface="Calibri" pitchFamily="34" charset="-120"/>
              </a:rPr>
              <a:t>R26_IT_051</a:t>
            </a:r>
            <a:endParaRPr lang="en-US" sz="900" dirty="0"/>
          </a:p>
        </p:txBody>
      </p:sp>
      <p:sp>
        <p:nvSpPr>
          <p:cNvPr id="16" name="Text 14"/>
          <p:cNvSpPr/>
          <p:nvPr/>
        </p:nvSpPr>
        <p:spPr>
          <a:xfrm>
            <a:off x="11460175" y="6492240"/>
            <a:ext cx="457200" cy="256032"/>
          </a:xfrm>
          <a:prstGeom prst="rect">
            <a:avLst/>
          </a:prstGeom>
          <a:noFill/>
          <a:ln/>
        </p:spPr>
        <p:txBody>
          <a:bodyPr wrap="square" lIns="0" tIns="0" rIns="0" bIns="0" rtlCol="0" anchor="ctr"/>
          <a:lstStyle/>
          <a:p>
            <a:pPr marL="0" indent="0" algn="r">
              <a:buNone/>
            </a:pPr>
            <a:r>
              <a:rPr lang="en-US" sz="900" dirty="0">
                <a:solidFill>
                  <a:srgbClr val="93A3B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C351CF19874D54390B54B723E8A2D43" ma:contentTypeVersion="12" ma:contentTypeDescription="Create a new document." ma:contentTypeScope="" ma:versionID="1b463a5cf12690795c70ca22925accb2">
  <xsd:schema xmlns:xsd="http://www.w3.org/2001/XMLSchema" xmlns:xs="http://www.w3.org/2001/XMLSchema" xmlns:p="http://schemas.microsoft.com/office/2006/metadata/properties" xmlns:ns2="5aad1aa7-8ede-435c-b3a7-ac11bacaeb50" xmlns:ns3="db72c12f-87a4-44ab-bbc5-4cc8306b158a" targetNamespace="http://schemas.microsoft.com/office/2006/metadata/properties" ma:root="true" ma:fieldsID="8257c98c4c60cf9cc366d29f7e570d5e" ns2:_="" ns3:_="">
    <xsd:import namespace="5aad1aa7-8ede-435c-b3a7-ac11bacaeb50"/>
    <xsd:import namespace="db72c12f-87a4-44ab-bbc5-4cc8306b158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ad1aa7-8ede-435c-b3a7-ac11bacaeb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c8a686f-bba2-44f2-819b-edf0b3003fb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b72c12f-87a4-44ab-bbc5-4cc8306b158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a90b710-f748-4220-b362-4102ae550bf9}" ma:internalName="TaxCatchAll" ma:showField="CatchAllData" ma:web="db72c12f-87a4-44ab-bbc5-4cc8306b15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b72c12f-87a4-44ab-bbc5-4cc8306b158a" xsi:nil="true"/>
    <lcf76f155ced4ddcb4097134ff3c332f xmlns="5aad1aa7-8ede-435c-b3a7-ac11bacaeb5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21A7CDC-8702-4995-BFC8-CDB136F136D7}"/>
</file>

<file path=customXml/itemProps2.xml><?xml version="1.0" encoding="utf-8"?>
<ds:datastoreItem xmlns:ds="http://schemas.openxmlformats.org/officeDocument/2006/customXml" ds:itemID="{61CC09F4-85EA-4A83-B96D-D47CE51D0502}"/>
</file>

<file path=customXml/itemProps3.xml><?xml version="1.0" encoding="utf-8"?>
<ds:datastoreItem xmlns:ds="http://schemas.openxmlformats.org/officeDocument/2006/customXml" ds:itemID="{C7D2A799-6B09-4B50-AA15-A50817200864}"/>
</file>

<file path=docProps/app.xml><?xml version="1.0" encoding="utf-8"?>
<Properties xmlns="http://schemas.openxmlformats.org/officeDocument/2006/extended-properties" xmlns:vt="http://schemas.openxmlformats.org/officeDocument/2006/docPropsVTypes">
  <TotalTime>953</TotalTime>
  <Words>1124</Words>
  <Application>Microsoft Office PowerPoint</Application>
  <PresentationFormat>Widescreen</PresentationFormat>
  <Paragraphs>185</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Canva Sans 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Kavindya Chathuri</cp:lastModifiedBy>
  <cp:revision>11</cp:revision>
  <dcterms:created xsi:type="dcterms:W3CDTF">2026-08-30T04:03:32Z</dcterms:created>
  <dcterms:modified xsi:type="dcterms:W3CDTF">2026-09-15T07:12:00Z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0x0101003C351CF19874D54390B54B723E8A2D43</vt:lpwstr>
  </property>
</Properties>
</file>