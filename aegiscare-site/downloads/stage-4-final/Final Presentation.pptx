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 (MS) Bold" panose="020B0604020202020204" charset="0"/>
      <p:regular r:id="rId13"/>
    </p:embeddedFont>
    <p:embeddedFont>
      <p:font typeface="DM Sans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Open Sauce" panose="020B060402020202020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Times New Roman MT" panose="020B0604020202020204" charset="0"/>
      <p:regular r:id="rId23"/>
    </p:embeddedFont>
    <p:embeddedFont>
      <p:font typeface="Times New Roman MT Bold" panose="020B0604020202020204" charset="0"/>
      <p:regular r:id="rId24"/>
    </p:embeddedFont>
    <p:embeddedFont>
      <p:font typeface="Times New Roman MT Medium" panose="020B0604020202020204" charset="0"/>
      <p:regular r:id="rId25"/>
    </p:embeddedFont>
    <p:embeddedFont>
      <p:font typeface="Times New Roman MT Semi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22183"/>
            <a:ext cx="18288000" cy="9042634"/>
            <a:chOff x="0" y="0"/>
            <a:chExt cx="4816593" cy="23815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381599"/>
            </a:xfrm>
            <a:custGeom>
              <a:avLst/>
              <a:gdLst/>
              <a:ahLst/>
              <a:cxnLst/>
              <a:rect l="l" t="t" r="r" b="b"/>
              <a:pathLst>
                <a:path w="4816592" h="2381599">
                  <a:moveTo>
                    <a:pt x="0" y="0"/>
                  </a:moveTo>
                  <a:lnTo>
                    <a:pt x="4816592" y="0"/>
                  </a:lnTo>
                  <a:lnTo>
                    <a:pt x="4816592" y="2381599"/>
                  </a:lnTo>
                  <a:lnTo>
                    <a:pt x="0" y="23815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816593" cy="236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60097" y="981075"/>
            <a:ext cx="362790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www.aegiscare.com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0311" y="3751653"/>
            <a:ext cx="16907378" cy="31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4"/>
              </a:lnSpc>
            </a:pPr>
            <a:r>
              <a:rPr lang="en-US" sz="5838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Intelligent Fall Monitoring System for </a:t>
            </a:r>
          </a:p>
          <a:p>
            <a:pPr algn="ctr">
              <a:lnSpc>
                <a:spcPts val="8174"/>
              </a:lnSpc>
            </a:pPr>
            <a:r>
              <a:rPr lang="en-US" sz="5838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Elderly Care</a:t>
            </a:r>
          </a:p>
          <a:p>
            <a:pPr algn="ctr">
              <a:lnSpc>
                <a:spcPts val="7894"/>
              </a:lnSpc>
            </a:pPr>
            <a:endParaRPr lang="en-US" sz="5838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1028700"/>
            <a:ext cx="6019321" cy="1321436"/>
          </a:xfrm>
          <a:custGeom>
            <a:avLst/>
            <a:gdLst/>
            <a:ahLst/>
            <a:cxnLst/>
            <a:rect l="l" t="t" r="r" b="b"/>
            <a:pathLst>
              <a:path w="6019321" h="1321436">
                <a:moveTo>
                  <a:pt x="0" y="0"/>
                </a:moveTo>
                <a:lnTo>
                  <a:pt x="6019321" y="0"/>
                </a:lnTo>
                <a:lnTo>
                  <a:pt x="6019321" y="1321436"/>
                </a:lnTo>
                <a:lnTo>
                  <a:pt x="0" y="1321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86" r="-4757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491068" y="6892008"/>
            <a:ext cx="3305863" cy="1246790"/>
            <a:chOff x="0" y="0"/>
            <a:chExt cx="4407817" cy="16623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07817" cy="1662387"/>
            </a:xfrm>
            <a:custGeom>
              <a:avLst/>
              <a:gdLst/>
              <a:ahLst/>
              <a:cxnLst/>
              <a:rect l="l" t="t" r="r" b="b"/>
              <a:pathLst>
                <a:path w="4407817" h="1662387">
                  <a:moveTo>
                    <a:pt x="0" y="0"/>
                  </a:moveTo>
                  <a:lnTo>
                    <a:pt x="4407817" y="0"/>
                  </a:lnTo>
                  <a:lnTo>
                    <a:pt x="4407817" y="1662387"/>
                  </a:lnTo>
                  <a:lnTo>
                    <a:pt x="0" y="16623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386" r="-294154" b="-12288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407817" cy="17290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39"/>
                </a:lnSpc>
              </a:pPr>
              <a:r>
                <a:rPr lang="en-US" sz="29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Final Presentation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509426" y="8794328"/>
            <a:ext cx="3778574" cy="870489"/>
            <a:chOff x="0" y="0"/>
            <a:chExt cx="5038098" cy="11606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38099" cy="1160652"/>
            </a:xfrm>
            <a:custGeom>
              <a:avLst/>
              <a:gdLst/>
              <a:ahLst/>
              <a:cxnLst/>
              <a:rect l="l" t="t" r="r" b="b"/>
              <a:pathLst>
                <a:path w="5038099" h="1160652">
                  <a:moveTo>
                    <a:pt x="0" y="0"/>
                  </a:moveTo>
                  <a:lnTo>
                    <a:pt x="5038099" y="0"/>
                  </a:lnTo>
                  <a:lnTo>
                    <a:pt x="5038099" y="1160652"/>
                  </a:lnTo>
                  <a:lnTo>
                    <a:pt x="0" y="1160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4093" r="-244844" b="-21924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38098" cy="1208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879629"/>
            <a:ext cx="3901030" cy="757342"/>
            <a:chOff x="0" y="0"/>
            <a:chExt cx="5201374" cy="10097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01412" cy="1009777"/>
            </a:xfrm>
            <a:custGeom>
              <a:avLst/>
              <a:gdLst/>
              <a:ahLst/>
              <a:cxnLst/>
              <a:rect l="l" t="t" r="r" b="b"/>
              <a:pathLst>
                <a:path w="5201412" h="1009777">
                  <a:moveTo>
                    <a:pt x="0" y="0"/>
                  </a:moveTo>
                  <a:lnTo>
                    <a:pt x="5201412" y="0"/>
                  </a:lnTo>
                  <a:lnTo>
                    <a:pt x="5201412" y="1009777"/>
                  </a:lnTo>
                  <a:lnTo>
                    <a:pt x="0" y="1009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22183"/>
            <a:ext cx="18288000" cy="9042634"/>
            <a:chOff x="0" y="0"/>
            <a:chExt cx="4816593" cy="23815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381599"/>
            </a:xfrm>
            <a:custGeom>
              <a:avLst/>
              <a:gdLst/>
              <a:ahLst/>
              <a:cxnLst/>
              <a:rect l="l" t="t" r="r" b="b"/>
              <a:pathLst>
                <a:path w="4816592" h="2381599">
                  <a:moveTo>
                    <a:pt x="0" y="0"/>
                  </a:moveTo>
                  <a:lnTo>
                    <a:pt x="4816592" y="0"/>
                  </a:lnTo>
                  <a:lnTo>
                    <a:pt x="4816592" y="2381599"/>
                  </a:lnTo>
                  <a:lnTo>
                    <a:pt x="0" y="23815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816593" cy="236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622183"/>
            <a:ext cx="1157152" cy="1141356"/>
          </a:xfrm>
          <a:custGeom>
            <a:avLst/>
            <a:gdLst/>
            <a:ahLst/>
            <a:cxnLst/>
            <a:rect l="l" t="t" r="r" b="b"/>
            <a:pathLst>
              <a:path w="1157152" h="1141356">
                <a:moveTo>
                  <a:pt x="0" y="0"/>
                </a:moveTo>
                <a:lnTo>
                  <a:pt x="1157152" y="0"/>
                </a:lnTo>
                <a:lnTo>
                  <a:pt x="1157152" y="1141356"/>
                </a:lnTo>
                <a:lnTo>
                  <a:pt x="0" y="1141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851" t="-15845" r="-404079" b="-15777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862" b="-1086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244970" y="574877"/>
            <a:ext cx="3798059" cy="907647"/>
            <a:chOff x="0" y="0"/>
            <a:chExt cx="5064079" cy="12101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64079" cy="1210196"/>
            </a:xfrm>
            <a:custGeom>
              <a:avLst/>
              <a:gdLst/>
              <a:ahLst/>
              <a:cxnLst/>
              <a:rect l="l" t="t" r="r" b="b"/>
              <a:pathLst>
                <a:path w="5064079" h="1210196">
                  <a:moveTo>
                    <a:pt x="0" y="0"/>
                  </a:moveTo>
                  <a:lnTo>
                    <a:pt x="5064079" y="0"/>
                  </a:lnTo>
                  <a:lnTo>
                    <a:pt x="5064079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3282" r="-315301" b="-28395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5064079" cy="13054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Team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92792" y="1763539"/>
            <a:ext cx="2173869" cy="2991341"/>
            <a:chOff x="0" y="0"/>
            <a:chExt cx="2898492" cy="39884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98492" cy="3988455"/>
            </a:xfrm>
            <a:custGeom>
              <a:avLst/>
              <a:gdLst/>
              <a:ahLst/>
              <a:cxnLst/>
              <a:rect l="l" t="t" r="r" b="b"/>
              <a:pathLst>
                <a:path w="2898492" h="3988455">
                  <a:moveTo>
                    <a:pt x="0" y="319076"/>
                  </a:moveTo>
                  <a:cubicBezTo>
                    <a:pt x="0" y="142920"/>
                    <a:pt x="18547" y="0"/>
                    <a:pt x="41407" y="0"/>
                  </a:cubicBezTo>
                  <a:lnTo>
                    <a:pt x="2857085" y="0"/>
                  </a:lnTo>
                  <a:cubicBezTo>
                    <a:pt x="2879945" y="0"/>
                    <a:pt x="2898492" y="142920"/>
                    <a:pt x="2898492" y="319076"/>
                  </a:cubicBezTo>
                  <a:lnTo>
                    <a:pt x="2898492" y="3669378"/>
                  </a:lnTo>
                  <a:cubicBezTo>
                    <a:pt x="2898492" y="3845535"/>
                    <a:pt x="2879945" y="3988455"/>
                    <a:pt x="2857085" y="3988455"/>
                  </a:cubicBezTo>
                  <a:lnTo>
                    <a:pt x="41407" y="3988455"/>
                  </a:lnTo>
                  <a:cubicBezTo>
                    <a:pt x="18547" y="3988455"/>
                    <a:pt x="0" y="3845535"/>
                    <a:pt x="0" y="3669378"/>
                  </a:cubicBezTo>
                  <a:close/>
                </a:path>
              </a:pathLst>
            </a:custGeom>
            <a:solidFill>
              <a:srgbClr val="6F9FB5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792792" y="1763539"/>
            <a:ext cx="2173869" cy="2514671"/>
            <a:chOff x="0" y="0"/>
            <a:chExt cx="3666886" cy="42417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66866" cy="4241728"/>
            </a:xfrm>
            <a:custGeom>
              <a:avLst/>
              <a:gdLst/>
              <a:ahLst/>
              <a:cxnLst/>
              <a:rect l="l" t="t" r="r" b="b"/>
              <a:pathLst>
                <a:path w="3666866" h="4241728">
                  <a:moveTo>
                    <a:pt x="0" y="0"/>
                  </a:moveTo>
                  <a:lnTo>
                    <a:pt x="3666866" y="0"/>
                  </a:lnTo>
                  <a:lnTo>
                    <a:pt x="3666866" y="4241728"/>
                  </a:lnTo>
                  <a:lnTo>
                    <a:pt x="0" y="424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16" r="-881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0858880" y="1763539"/>
            <a:ext cx="2275164" cy="2991341"/>
            <a:chOff x="0" y="0"/>
            <a:chExt cx="3033552" cy="39884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33552" cy="3988455"/>
            </a:xfrm>
            <a:custGeom>
              <a:avLst/>
              <a:gdLst/>
              <a:ahLst/>
              <a:cxnLst/>
              <a:rect l="l" t="t" r="r" b="b"/>
              <a:pathLst>
                <a:path w="3033552" h="3988455">
                  <a:moveTo>
                    <a:pt x="0" y="319076"/>
                  </a:moveTo>
                  <a:cubicBezTo>
                    <a:pt x="0" y="142920"/>
                    <a:pt x="19411" y="0"/>
                    <a:pt x="43336" y="0"/>
                  </a:cubicBezTo>
                  <a:lnTo>
                    <a:pt x="2990216" y="0"/>
                  </a:lnTo>
                  <a:cubicBezTo>
                    <a:pt x="3014141" y="0"/>
                    <a:pt x="3033552" y="142920"/>
                    <a:pt x="3033552" y="319076"/>
                  </a:cubicBezTo>
                  <a:lnTo>
                    <a:pt x="3033552" y="3669378"/>
                  </a:lnTo>
                  <a:cubicBezTo>
                    <a:pt x="3033552" y="3845535"/>
                    <a:pt x="3014141" y="3988455"/>
                    <a:pt x="2990216" y="3988455"/>
                  </a:cubicBezTo>
                  <a:lnTo>
                    <a:pt x="43336" y="3988455"/>
                  </a:lnTo>
                  <a:cubicBezTo>
                    <a:pt x="19411" y="3988455"/>
                    <a:pt x="0" y="3845535"/>
                    <a:pt x="0" y="3669378"/>
                  </a:cubicBezTo>
                  <a:close/>
                </a:path>
              </a:pathLst>
            </a:custGeom>
            <a:solidFill>
              <a:srgbClr val="6F9FB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858880" y="1763539"/>
            <a:ext cx="2275164" cy="2514671"/>
            <a:chOff x="0" y="0"/>
            <a:chExt cx="4301916" cy="47547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01892" cy="4754753"/>
            </a:xfrm>
            <a:custGeom>
              <a:avLst/>
              <a:gdLst/>
              <a:ahLst/>
              <a:cxnLst/>
              <a:rect l="l" t="t" r="r" b="b"/>
              <a:pathLst>
                <a:path w="4301892" h="4754753">
                  <a:moveTo>
                    <a:pt x="0" y="0"/>
                  </a:moveTo>
                  <a:lnTo>
                    <a:pt x="4301892" y="0"/>
                  </a:lnTo>
                  <a:lnTo>
                    <a:pt x="4301892" y="4754753"/>
                  </a:lnTo>
                  <a:lnTo>
                    <a:pt x="0" y="475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039" r="-604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620474" y="6151454"/>
            <a:ext cx="2120172" cy="2392001"/>
            <a:chOff x="0" y="0"/>
            <a:chExt cx="2783402" cy="31402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783365" cy="3140315"/>
            </a:xfrm>
            <a:custGeom>
              <a:avLst/>
              <a:gdLst/>
              <a:ahLst/>
              <a:cxnLst/>
              <a:rect l="l" t="t" r="r" b="b"/>
              <a:pathLst>
                <a:path w="2783365" h="3140315">
                  <a:moveTo>
                    <a:pt x="0" y="0"/>
                  </a:moveTo>
                  <a:lnTo>
                    <a:pt x="2783365" y="0"/>
                  </a:lnTo>
                  <a:lnTo>
                    <a:pt x="2783365" y="3140315"/>
                  </a:lnTo>
                  <a:lnTo>
                    <a:pt x="0" y="3140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672" r="-17419" b="-7327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5658866" y="6151454"/>
            <a:ext cx="2120172" cy="2392001"/>
          </a:xfrm>
          <a:custGeom>
            <a:avLst/>
            <a:gdLst/>
            <a:ahLst/>
            <a:cxnLst/>
            <a:rect l="l" t="t" r="r" b="b"/>
            <a:pathLst>
              <a:path w="2120172" h="2392001">
                <a:moveTo>
                  <a:pt x="0" y="0"/>
                </a:moveTo>
                <a:lnTo>
                  <a:pt x="2120171" y="0"/>
                </a:lnTo>
                <a:lnTo>
                  <a:pt x="2120171" y="2392000"/>
                </a:lnTo>
                <a:lnTo>
                  <a:pt x="0" y="239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396" t="-1185" r="-2761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884715" y="4211535"/>
            <a:ext cx="199002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08232" y="4211535"/>
            <a:ext cx="2376459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Co-Supervisor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76944" y="4801235"/>
            <a:ext cx="3205566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MR.Uditha Dharmakeerthi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93679" y="4801235"/>
            <a:ext cx="3205566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MR.Kanishka Yapa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8055" y="8705379"/>
            <a:ext cx="320556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T K Chathuri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Activity Recognition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16169" y="8705379"/>
            <a:ext cx="320556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H S Diwyangi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 Risk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12797" y="8705379"/>
            <a:ext cx="320556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 A H Divyanjalie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BioSignal Predictor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69642" y="8705379"/>
            <a:ext cx="320556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D K M Kulathunga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Alert Classification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2183"/>
            <a:ext cx="18288000" cy="9042634"/>
            <a:chOff x="0" y="0"/>
            <a:chExt cx="4816593" cy="23815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81599"/>
            </a:xfrm>
            <a:custGeom>
              <a:avLst/>
              <a:gdLst/>
              <a:ahLst/>
              <a:cxnLst/>
              <a:rect l="l" t="t" r="r" b="b"/>
              <a:pathLst>
                <a:path w="4816592" h="2381599">
                  <a:moveTo>
                    <a:pt x="0" y="0"/>
                  </a:moveTo>
                  <a:lnTo>
                    <a:pt x="4816592" y="0"/>
                  </a:lnTo>
                  <a:lnTo>
                    <a:pt x="4816592" y="2381599"/>
                  </a:lnTo>
                  <a:lnTo>
                    <a:pt x="0" y="23815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16593" cy="236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9200" y="796176"/>
            <a:ext cx="16325088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WE NEED THIS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630566"/>
            <a:ext cx="10541914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1">
                <a:solidFill>
                  <a:srgbClr val="0B2447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Elderly falls are a major healthcare issue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9200" y="2864939"/>
            <a:ext cx="7772400" cy="3356524"/>
            <a:chOff x="0" y="0"/>
            <a:chExt cx="10363200" cy="44753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63200" cy="4475353"/>
            </a:xfrm>
            <a:custGeom>
              <a:avLst/>
              <a:gdLst/>
              <a:ahLst/>
              <a:cxnLst/>
              <a:rect l="l" t="t" r="r" b="b"/>
              <a:pathLst>
                <a:path w="10363200" h="4475353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0063861" y="0"/>
                  </a:lnTo>
                  <a:cubicBezTo>
                    <a:pt x="10229215" y="0"/>
                    <a:pt x="10363200" y="133985"/>
                    <a:pt x="10363200" y="299339"/>
                  </a:cubicBezTo>
                  <a:lnTo>
                    <a:pt x="10363200" y="4176014"/>
                  </a:lnTo>
                  <a:cubicBezTo>
                    <a:pt x="10363200" y="4341368"/>
                    <a:pt x="10229215" y="4475353"/>
                    <a:pt x="10063861" y="4475353"/>
                  </a:cubicBezTo>
                  <a:lnTo>
                    <a:pt x="299339" y="4475353"/>
                  </a:lnTo>
                  <a:cubicBezTo>
                    <a:pt x="133985" y="4475353"/>
                    <a:pt x="0" y="4341368"/>
                    <a:pt x="0" y="417601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7376A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85925" y="3331664"/>
            <a:ext cx="685800" cy="685800"/>
            <a:chOff x="0" y="0"/>
            <a:chExt cx="914400" cy="914400"/>
          </a:xfrm>
        </p:grpSpPr>
        <p:sp>
          <p:nvSpPr>
            <p:cNvPr id="10" name="Freeform 10" descr="Warni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685925" y="4141289"/>
            <a:ext cx="457962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44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Falls cause serious injuries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5925" y="4806105"/>
            <a:ext cx="7044118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A5C7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Fractures, head injuries and loss of independence can follow a single fall.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96400" y="2864939"/>
            <a:ext cx="7772400" cy="3356524"/>
            <a:chOff x="0" y="0"/>
            <a:chExt cx="10363200" cy="44753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63200" cy="4475353"/>
            </a:xfrm>
            <a:custGeom>
              <a:avLst/>
              <a:gdLst/>
              <a:ahLst/>
              <a:cxnLst/>
              <a:rect l="l" t="t" r="r" b="b"/>
              <a:pathLst>
                <a:path w="10363200" h="4475353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0063861" y="0"/>
                  </a:lnTo>
                  <a:cubicBezTo>
                    <a:pt x="10229215" y="0"/>
                    <a:pt x="10363200" y="133985"/>
                    <a:pt x="10363200" y="299339"/>
                  </a:cubicBezTo>
                  <a:lnTo>
                    <a:pt x="10363200" y="4176014"/>
                  </a:lnTo>
                  <a:cubicBezTo>
                    <a:pt x="10363200" y="4341368"/>
                    <a:pt x="10229215" y="4475353"/>
                    <a:pt x="10063861" y="4475353"/>
                  </a:cubicBezTo>
                  <a:lnTo>
                    <a:pt x="299339" y="4475353"/>
                  </a:lnTo>
                  <a:cubicBezTo>
                    <a:pt x="133985" y="4475353"/>
                    <a:pt x="0" y="4341368"/>
                    <a:pt x="0" y="417601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7376A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763125" y="3331664"/>
            <a:ext cx="685800" cy="685800"/>
            <a:chOff x="0" y="0"/>
            <a:chExt cx="914400" cy="914400"/>
          </a:xfrm>
        </p:grpSpPr>
        <p:sp>
          <p:nvSpPr>
            <p:cNvPr id="16" name="Freeform 16" descr="Clock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763125" y="4141289"/>
            <a:ext cx="529959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44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Existing systems react too late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63125" y="4806105"/>
            <a:ext cx="7044118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A5C7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Most systems detect a fall only after it has happened, when the harm is already done.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9200" y="6678663"/>
            <a:ext cx="15849600" cy="1219200"/>
            <a:chOff x="0" y="0"/>
            <a:chExt cx="21132800" cy="1625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132800" cy="1625600"/>
            </a:xfrm>
            <a:custGeom>
              <a:avLst/>
              <a:gdLst/>
              <a:ahLst/>
              <a:cxnLst/>
              <a:rect l="l" t="t" r="r" b="b"/>
              <a:pathLst>
                <a:path w="21132800" h="162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320800"/>
                  </a:lnTo>
                  <a:cubicBezTo>
                    <a:pt x="21132800" y="1489075"/>
                    <a:pt x="20996275" y="1625600"/>
                    <a:pt x="20828000" y="1625600"/>
                  </a:cubicBezTo>
                  <a:lnTo>
                    <a:pt x="304800" y="1625600"/>
                  </a:lnTo>
                  <a:cubicBezTo>
                    <a:pt x="136525" y="1625600"/>
                    <a:pt x="0" y="1489075"/>
                    <a:pt x="0" y="1320800"/>
                  </a:cubicBezTo>
                  <a:close/>
                </a:path>
              </a:pathLst>
            </a:custGeom>
            <a:solidFill>
              <a:srgbClr val="0B244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676400" y="7021563"/>
            <a:ext cx="533400" cy="533400"/>
            <a:chOff x="0" y="0"/>
            <a:chExt cx="711200" cy="711200"/>
          </a:xfrm>
        </p:grpSpPr>
        <p:sp>
          <p:nvSpPr>
            <p:cNvPr id="22" name="Freeform 22" descr="Lightbulb"/>
            <p:cNvSpPr/>
            <p:nvPr/>
          </p:nvSpPr>
          <p:spPr>
            <a:xfrm>
              <a:off x="0" y="0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438400" y="6943430"/>
            <a:ext cx="1144071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3F8F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 need a system that predicts risk early, before the fall.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862" b="-10864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754380"/>
            <a:ext cx="16325088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GAP AND 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746309"/>
            <a:ext cx="13764816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1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Existing tools solve only one piece of 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623009"/>
            <a:ext cx="749541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The gap: each tool covers one area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9200" y="3889772"/>
            <a:ext cx="5679568" cy="1066800"/>
            <a:chOff x="0" y="0"/>
            <a:chExt cx="7572757" cy="1422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72757" cy="1422400"/>
            </a:xfrm>
            <a:custGeom>
              <a:avLst/>
              <a:gdLst/>
              <a:ahLst/>
              <a:cxnLst/>
              <a:rect l="l" t="t" r="r" b="b"/>
              <a:pathLst>
                <a:path w="7572757" h="1422400">
                  <a:moveTo>
                    <a:pt x="0" y="254000"/>
                  </a:moveTo>
                  <a:cubicBezTo>
                    <a:pt x="0" y="113665"/>
                    <a:pt x="88712" y="0"/>
                    <a:pt x="198240" y="0"/>
                  </a:cubicBezTo>
                  <a:lnTo>
                    <a:pt x="7374517" y="0"/>
                  </a:lnTo>
                  <a:cubicBezTo>
                    <a:pt x="7484045" y="0"/>
                    <a:pt x="7572757" y="113665"/>
                    <a:pt x="7572757" y="254000"/>
                  </a:cubicBezTo>
                  <a:lnTo>
                    <a:pt x="7572757" y="1168400"/>
                  </a:lnTo>
                  <a:cubicBezTo>
                    <a:pt x="7572757" y="1308735"/>
                    <a:pt x="7484045" y="1422400"/>
                    <a:pt x="7374517" y="1422400"/>
                  </a:cubicBezTo>
                  <a:lnTo>
                    <a:pt x="198240" y="1422400"/>
                  </a:lnTo>
                  <a:cubicBezTo>
                    <a:pt x="88712" y="1422400"/>
                    <a:pt x="0" y="1308735"/>
                    <a:pt x="0" y="1168400"/>
                  </a:cubicBezTo>
                  <a:close/>
                </a:path>
              </a:pathLst>
            </a:custGeom>
            <a:solidFill>
              <a:srgbClr val="1737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7572757" cy="148907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4200"/>
                </a:lnSpc>
              </a:pPr>
              <a:r>
                <a:rPr lang="en-US" sz="3000" b="1">
                  <a:solidFill>
                    <a:srgbClr val="F3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Motion only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200" y="5571830"/>
            <a:ext cx="5679568" cy="1066800"/>
            <a:chOff x="0" y="0"/>
            <a:chExt cx="7572757" cy="142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72757" cy="1422400"/>
            </a:xfrm>
            <a:custGeom>
              <a:avLst/>
              <a:gdLst/>
              <a:ahLst/>
              <a:cxnLst/>
              <a:rect l="l" t="t" r="r" b="b"/>
              <a:pathLst>
                <a:path w="7572757" h="1422400">
                  <a:moveTo>
                    <a:pt x="0" y="254000"/>
                  </a:moveTo>
                  <a:cubicBezTo>
                    <a:pt x="0" y="113665"/>
                    <a:pt x="88712" y="0"/>
                    <a:pt x="198240" y="0"/>
                  </a:cubicBezTo>
                  <a:lnTo>
                    <a:pt x="7374517" y="0"/>
                  </a:lnTo>
                  <a:cubicBezTo>
                    <a:pt x="7484045" y="0"/>
                    <a:pt x="7572757" y="113665"/>
                    <a:pt x="7572757" y="254000"/>
                  </a:cubicBezTo>
                  <a:lnTo>
                    <a:pt x="7572757" y="1168400"/>
                  </a:lnTo>
                  <a:cubicBezTo>
                    <a:pt x="7572757" y="1308735"/>
                    <a:pt x="7484045" y="1422400"/>
                    <a:pt x="7374517" y="1422400"/>
                  </a:cubicBezTo>
                  <a:lnTo>
                    <a:pt x="198240" y="1422400"/>
                  </a:lnTo>
                  <a:cubicBezTo>
                    <a:pt x="88712" y="1422400"/>
                    <a:pt x="0" y="1308735"/>
                    <a:pt x="0" y="1168400"/>
                  </a:cubicBezTo>
                  <a:close/>
                </a:path>
              </a:pathLst>
            </a:custGeom>
            <a:solidFill>
              <a:srgbClr val="17376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7572757" cy="148907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4200"/>
                </a:lnSpc>
              </a:pPr>
              <a:r>
                <a:rPr lang="en-US" sz="3000" b="1">
                  <a:solidFill>
                    <a:srgbClr val="F3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Environment only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9200" y="7238705"/>
            <a:ext cx="5679568" cy="1066800"/>
            <a:chOff x="0" y="0"/>
            <a:chExt cx="7572757" cy="1422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72757" cy="1422400"/>
            </a:xfrm>
            <a:custGeom>
              <a:avLst/>
              <a:gdLst/>
              <a:ahLst/>
              <a:cxnLst/>
              <a:rect l="l" t="t" r="r" b="b"/>
              <a:pathLst>
                <a:path w="7572757" h="1422400">
                  <a:moveTo>
                    <a:pt x="0" y="254000"/>
                  </a:moveTo>
                  <a:cubicBezTo>
                    <a:pt x="0" y="113665"/>
                    <a:pt x="88712" y="0"/>
                    <a:pt x="198240" y="0"/>
                  </a:cubicBezTo>
                  <a:lnTo>
                    <a:pt x="7374517" y="0"/>
                  </a:lnTo>
                  <a:cubicBezTo>
                    <a:pt x="7484045" y="0"/>
                    <a:pt x="7572757" y="113665"/>
                    <a:pt x="7572757" y="254000"/>
                  </a:cubicBezTo>
                  <a:lnTo>
                    <a:pt x="7572757" y="1168400"/>
                  </a:lnTo>
                  <a:cubicBezTo>
                    <a:pt x="7572757" y="1308735"/>
                    <a:pt x="7484045" y="1422400"/>
                    <a:pt x="7374517" y="1422400"/>
                  </a:cubicBezTo>
                  <a:lnTo>
                    <a:pt x="198240" y="1422400"/>
                  </a:lnTo>
                  <a:cubicBezTo>
                    <a:pt x="88712" y="1422400"/>
                    <a:pt x="0" y="1308735"/>
                    <a:pt x="0" y="1168400"/>
                  </a:cubicBezTo>
                  <a:close/>
                </a:path>
              </a:pathLst>
            </a:custGeom>
            <a:solidFill>
              <a:srgbClr val="17376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7572757" cy="148907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4200"/>
                </a:lnSpc>
              </a:pPr>
              <a:r>
                <a:rPr lang="en-US" sz="3000" b="1">
                  <a:solidFill>
                    <a:srgbClr val="F3F8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Health only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07213" y="4013597"/>
            <a:ext cx="8191500" cy="4183266"/>
            <a:chOff x="0" y="0"/>
            <a:chExt cx="10922000" cy="55776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22000" cy="5577713"/>
            </a:xfrm>
            <a:custGeom>
              <a:avLst/>
              <a:gdLst/>
              <a:ahLst/>
              <a:cxnLst/>
              <a:rect l="l" t="t" r="r" b="b"/>
              <a:pathLst>
                <a:path w="10922000" h="5577713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617200" y="0"/>
                  </a:lnTo>
                  <a:cubicBezTo>
                    <a:pt x="10785602" y="0"/>
                    <a:pt x="10922000" y="136525"/>
                    <a:pt x="10922000" y="304800"/>
                  </a:cubicBezTo>
                  <a:lnTo>
                    <a:pt x="10922000" y="5272913"/>
                  </a:lnTo>
                  <a:cubicBezTo>
                    <a:pt x="10922000" y="5441315"/>
                    <a:pt x="10785475" y="5577713"/>
                    <a:pt x="10617200" y="5577713"/>
                  </a:cubicBezTo>
                  <a:lnTo>
                    <a:pt x="304800" y="5577713"/>
                  </a:lnTo>
                  <a:cubicBezTo>
                    <a:pt x="136398" y="5577713"/>
                    <a:pt x="0" y="5441188"/>
                    <a:pt x="0" y="5272913"/>
                  </a:cubicBezTo>
                  <a:close/>
                </a:path>
              </a:pathLst>
            </a:custGeom>
            <a:solidFill>
              <a:srgbClr val="BFD8F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8903300" y="4356497"/>
            <a:ext cx="749541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objective: all three together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97646" y="5167017"/>
            <a:ext cx="5981053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405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Recognize activities</a:t>
            </a:r>
          </a:p>
          <a:p>
            <a:pPr marL="488632" lvl="1" indent="-244316" algn="just">
              <a:lnSpc>
                <a:spcPts val="405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Check the environment</a:t>
            </a:r>
          </a:p>
          <a:p>
            <a:pPr marL="488632" lvl="1" indent="-244316" algn="just">
              <a:lnSpc>
                <a:spcPts val="405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Monitor the person's health</a:t>
            </a:r>
          </a:p>
          <a:p>
            <a:pPr marL="488632" lvl="1" indent="-244316" algn="just">
              <a:lnSpc>
                <a:spcPts val="405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Predict risk early and send the alert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862" b="-1086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23950"/>
            <a:ext cx="16325088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 DEVELOPED BOTH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630566"/>
            <a:ext cx="7692628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1">
                <a:solidFill>
                  <a:srgbClr val="0B2447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A website and a mobile app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885950" y="2788739"/>
            <a:ext cx="9144000" cy="4581525"/>
            <a:chOff x="0" y="0"/>
            <a:chExt cx="12192000" cy="6108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0" cy="6108700"/>
            </a:xfrm>
            <a:custGeom>
              <a:avLst/>
              <a:gdLst/>
              <a:ahLst/>
              <a:cxnLst/>
              <a:rect l="l" t="t" r="r" b="b"/>
              <a:pathLst>
                <a:path w="12192000" h="61087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1887200" y="0"/>
                  </a:lnTo>
                  <a:cubicBezTo>
                    <a:pt x="12055602" y="0"/>
                    <a:pt x="12192000" y="136525"/>
                    <a:pt x="12192000" y="304800"/>
                  </a:cubicBezTo>
                  <a:lnTo>
                    <a:pt x="12192000" y="5803900"/>
                  </a:lnTo>
                  <a:cubicBezTo>
                    <a:pt x="12192000" y="5972302"/>
                    <a:pt x="12055475" y="6108700"/>
                    <a:pt x="11887200" y="6108700"/>
                  </a:cubicBezTo>
                  <a:lnTo>
                    <a:pt x="304800" y="6108700"/>
                  </a:lnTo>
                  <a:cubicBezTo>
                    <a:pt x="136398" y="6108700"/>
                    <a:pt x="0" y="5972175"/>
                    <a:pt x="0" y="580390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038350" y="2941139"/>
            <a:ext cx="8839200" cy="4276725"/>
            <a:chOff x="0" y="0"/>
            <a:chExt cx="11785600" cy="5702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85600" cy="5702300"/>
            </a:xfrm>
            <a:custGeom>
              <a:avLst/>
              <a:gdLst/>
              <a:ahLst/>
              <a:cxnLst/>
              <a:rect l="l" t="t" r="r" b="b"/>
              <a:pathLst>
                <a:path w="11785600" h="57023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1684000" y="0"/>
                  </a:lnTo>
                  <a:cubicBezTo>
                    <a:pt x="11740134" y="0"/>
                    <a:pt x="11785600" y="45466"/>
                    <a:pt x="11785600" y="101600"/>
                  </a:cubicBezTo>
                  <a:lnTo>
                    <a:pt x="11785600" y="5600700"/>
                  </a:lnTo>
                  <a:cubicBezTo>
                    <a:pt x="11785600" y="5656834"/>
                    <a:pt x="11740134" y="5702300"/>
                    <a:pt x="11684000" y="5702300"/>
                  </a:cubicBezTo>
                  <a:lnTo>
                    <a:pt x="101600" y="5702300"/>
                  </a:lnTo>
                  <a:cubicBezTo>
                    <a:pt x="45466" y="5702300"/>
                    <a:pt x="0" y="5656834"/>
                    <a:pt x="0" y="5600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038350" y="2941139"/>
            <a:ext cx="8839200" cy="4276725"/>
            <a:chOff x="0" y="0"/>
            <a:chExt cx="11785600" cy="5702300"/>
          </a:xfrm>
        </p:grpSpPr>
        <p:sp>
          <p:nvSpPr>
            <p:cNvPr id="9" name="Freeform 9" descr="AegisCare website home page showing smarter fall detection and a live monitoring card"/>
            <p:cNvSpPr/>
            <p:nvPr/>
          </p:nvSpPr>
          <p:spPr>
            <a:xfrm>
              <a:off x="0" y="0"/>
              <a:ext cx="11785600" cy="5702300"/>
            </a:xfrm>
            <a:custGeom>
              <a:avLst/>
              <a:gdLst/>
              <a:ahLst/>
              <a:cxnLst/>
              <a:rect l="l" t="t" r="r" b="b"/>
              <a:pathLst>
                <a:path w="11785600" h="5702300">
                  <a:moveTo>
                    <a:pt x="0" y="0"/>
                  </a:moveTo>
                  <a:lnTo>
                    <a:pt x="11785600" y="0"/>
                  </a:lnTo>
                  <a:lnTo>
                    <a:pt x="11785600" y="5702300"/>
                  </a:lnTo>
                  <a:lnTo>
                    <a:pt x="0" y="570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14" r="1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9200" y="7370264"/>
            <a:ext cx="10477500" cy="228600"/>
            <a:chOff x="0" y="0"/>
            <a:chExt cx="13970000" cy="304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70000" cy="304800"/>
            </a:xfrm>
            <a:custGeom>
              <a:avLst/>
              <a:gdLst/>
              <a:ahLst/>
              <a:cxnLst/>
              <a:rect l="l" t="t" r="r" b="b"/>
              <a:pathLst>
                <a:path w="13970000" h="304800">
                  <a:moveTo>
                    <a:pt x="0" y="0"/>
                  </a:moveTo>
                  <a:lnTo>
                    <a:pt x="13970000" y="0"/>
                  </a:lnTo>
                  <a:cubicBezTo>
                    <a:pt x="13970000" y="168275"/>
                    <a:pt x="13833475" y="304800"/>
                    <a:pt x="13665200" y="304800"/>
                  </a:cubicBezTo>
                  <a:lnTo>
                    <a:pt x="304800" y="304800"/>
                  </a:lnTo>
                  <a:cubicBezTo>
                    <a:pt x="136525" y="304800"/>
                    <a:pt x="0" y="168275"/>
                    <a:pt x="0" y="0"/>
                  </a:cubicBezTo>
                  <a:close/>
                </a:path>
              </a:pathLst>
            </a:custGeom>
            <a:solidFill>
              <a:srgbClr val="C5D0DD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891145" y="7656014"/>
            <a:ext cx="3133611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sz="2349" b="1">
                <a:solidFill>
                  <a:srgbClr val="4A5C7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The AegisCare website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306300" y="3528717"/>
            <a:ext cx="4762500" cy="2000250"/>
            <a:chOff x="0" y="0"/>
            <a:chExt cx="6350000" cy="266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2667000"/>
            </a:xfrm>
            <a:custGeom>
              <a:avLst/>
              <a:gdLst/>
              <a:ahLst/>
              <a:cxnLst/>
              <a:rect l="l" t="t" r="r" b="b"/>
              <a:pathLst>
                <a:path w="6350000" h="2667000">
                  <a:moveTo>
                    <a:pt x="0" y="248793"/>
                  </a:moveTo>
                  <a:cubicBezTo>
                    <a:pt x="0" y="111379"/>
                    <a:pt x="111379" y="0"/>
                    <a:pt x="248793" y="0"/>
                  </a:cubicBezTo>
                  <a:lnTo>
                    <a:pt x="6101207" y="0"/>
                  </a:lnTo>
                  <a:cubicBezTo>
                    <a:pt x="6238621" y="0"/>
                    <a:pt x="6350000" y="111379"/>
                    <a:pt x="6350000" y="248793"/>
                  </a:cubicBezTo>
                  <a:lnTo>
                    <a:pt x="6350000" y="2418207"/>
                  </a:lnTo>
                  <a:cubicBezTo>
                    <a:pt x="6350000" y="2555621"/>
                    <a:pt x="6238621" y="2667000"/>
                    <a:pt x="6101207" y="2667000"/>
                  </a:cubicBezTo>
                  <a:lnTo>
                    <a:pt x="248793" y="2667000"/>
                  </a:lnTo>
                  <a:cubicBezTo>
                    <a:pt x="111379" y="2667000"/>
                    <a:pt x="0" y="2555621"/>
                    <a:pt x="0" y="2418207"/>
                  </a:cubicBezTo>
                  <a:close/>
                </a:path>
              </a:pathLst>
            </a:custGeom>
            <a:solidFill>
              <a:srgbClr val="FFFFFF"/>
            </a:solidFill>
            <a:ln w="228600" cap="sq">
              <a:solidFill>
                <a:srgbClr val="D5E3F1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620625" y="3843042"/>
            <a:ext cx="457200" cy="457200"/>
            <a:chOff x="0" y="0"/>
            <a:chExt cx="609600" cy="609600"/>
          </a:xfrm>
        </p:grpSpPr>
        <p:sp>
          <p:nvSpPr>
            <p:cNvPr id="16" name="Freeform 16" descr="Globe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230225" y="3776367"/>
            <a:ext cx="139446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B2447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Website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20625" y="4328817"/>
            <a:ext cx="42578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4A5C7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For hospitals and elder-care institutions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306300" y="5757567"/>
            <a:ext cx="4762500" cy="1600200"/>
            <a:chOff x="0" y="0"/>
            <a:chExt cx="6350000" cy="2133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2133600"/>
            </a:xfrm>
            <a:custGeom>
              <a:avLst/>
              <a:gdLst/>
              <a:ahLst/>
              <a:cxnLst/>
              <a:rect l="l" t="t" r="r" b="b"/>
              <a:pathLst>
                <a:path w="6350000" h="2133600">
                  <a:moveTo>
                    <a:pt x="0" y="249174"/>
                  </a:moveTo>
                  <a:cubicBezTo>
                    <a:pt x="0" y="111506"/>
                    <a:pt x="111506" y="0"/>
                    <a:pt x="249174" y="0"/>
                  </a:cubicBezTo>
                  <a:lnTo>
                    <a:pt x="6100826" y="0"/>
                  </a:lnTo>
                  <a:cubicBezTo>
                    <a:pt x="6238494" y="0"/>
                    <a:pt x="6350000" y="111506"/>
                    <a:pt x="6350000" y="249174"/>
                  </a:cubicBezTo>
                  <a:lnTo>
                    <a:pt x="6350000" y="1884426"/>
                  </a:lnTo>
                  <a:cubicBezTo>
                    <a:pt x="6350000" y="2021967"/>
                    <a:pt x="6238494" y="2133600"/>
                    <a:pt x="6100826" y="2133600"/>
                  </a:cubicBezTo>
                  <a:lnTo>
                    <a:pt x="249174" y="2133600"/>
                  </a:lnTo>
                  <a:cubicBezTo>
                    <a:pt x="111506" y="2133600"/>
                    <a:pt x="0" y="2022094"/>
                    <a:pt x="0" y="1884426"/>
                  </a:cubicBezTo>
                  <a:close/>
                </a:path>
              </a:pathLst>
            </a:custGeom>
            <a:solidFill>
              <a:srgbClr val="FFFFFF"/>
            </a:solidFill>
            <a:ln w="276225" cap="sq">
              <a:solidFill>
                <a:srgbClr val="D5E3F1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620625" y="6071892"/>
            <a:ext cx="457200" cy="457200"/>
            <a:chOff x="0" y="0"/>
            <a:chExt cx="609600" cy="609600"/>
          </a:xfrm>
        </p:grpSpPr>
        <p:sp>
          <p:nvSpPr>
            <p:cNvPr id="22" name="Freeform 22" descr="Chat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3230225" y="6005217"/>
            <a:ext cx="20166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B2447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Mobile app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20625" y="6557667"/>
            <a:ext cx="425786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4A5C7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For caregivers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862" b="-10864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23950"/>
            <a:ext cx="16325088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STAKEHOLDERS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630566"/>
            <a:ext cx="7759065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1">
                <a:solidFill>
                  <a:srgbClr val="0B2447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Who benefits from AegisCare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3017339"/>
            <a:ext cx="5079949" cy="4339533"/>
            <a:chOff x="0" y="0"/>
            <a:chExt cx="6773266" cy="57860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73291" cy="5785993"/>
            </a:xfrm>
            <a:custGeom>
              <a:avLst/>
              <a:gdLst/>
              <a:ahLst/>
              <a:cxnLst/>
              <a:rect l="l" t="t" r="r" b="b"/>
              <a:pathLst>
                <a:path w="6773291" h="5785993">
                  <a:moveTo>
                    <a:pt x="0" y="299085"/>
                  </a:moveTo>
                  <a:cubicBezTo>
                    <a:pt x="0" y="133858"/>
                    <a:pt x="133858" y="0"/>
                    <a:pt x="299085" y="0"/>
                  </a:cubicBezTo>
                  <a:lnTo>
                    <a:pt x="6474206" y="0"/>
                  </a:lnTo>
                  <a:cubicBezTo>
                    <a:pt x="6639433" y="0"/>
                    <a:pt x="6773291" y="133858"/>
                    <a:pt x="6773291" y="299085"/>
                  </a:cubicBezTo>
                  <a:lnTo>
                    <a:pt x="6773291" y="5486908"/>
                  </a:lnTo>
                  <a:cubicBezTo>
                    <a:pt x="6773291" y="5652135"/>
                    <a:pt x="6639433" y="5785993"/>
                    <a:pt x="6474206" y="5785993"/>
                  </a:cubicBezTo>
                  <a:lnTo>
                    <a:pt x="299085" y="5785993"/>
                  </a:lnTo>
                  <a:cubicBezTo>
                    <a:pt x="133858" y="5785993"/>
                    <a:pt x="0" y="5652135"/>
                    <a:pt x="0" y="5486908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D5E3F1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685925" y="3484064"/>
            <a:ext cx="1143000" cy="1143000"/>
            <a:chOff x="0" y="0"/>
            <a:chExt cx="15240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762000"/>
                  </a:moveTo>
                  <a:cubicBezTo>
                    <a:pt x="0" y="341122"/>
                    <a:pt x="341122" y="0"/>
                    <a:pt x="762000" y="0"/>
                  </a:cubicBezTo>
                  <a:cubicBezTo>
                    <a:pt x="1182878" y="0"/>
                    <a:pt x="1524000" y="341122"/>
                    <a:pt x="1524000" y="762000"/>
                  </a:cubicBezTo>
                  <a:cubicBezTo>
                    <a:pt x="1524000" y="1182878"/>
                    <a:pt x="1182878" y="1524000"/>
                    <a:pt x="762000" y="1524000"/>
                  </a:cubicBezTo>
                  <a:cubicBezTo>
                    <a:pt x="341122" y="1524000"/>
                    <a:pt x="0" y="1182878"/>
                    <a:pt x="0" y="762000"/>
                  </a:cubicBezTo>
                  <a:close/>
                </a:path>
              </a:pathLst>
            </a:custGeom>
            <a:solidFill>
              <a:srgbClr val="DCEBF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952625" y="3750764"/>
            <a:ext cx="609600" cy="609600"/>
            <a:chOff x="0" y="0"/>
            <a:chExt cx="812800" cy="812800"/>
          </a:xfrm>
        </p:grpSpPr>
        <p:sp>
          <p:nvSpPr>
            <p:cNvPr id="9" name="Freeform 9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685925" y="4855664"/>
            <a:ext cx="4270896" cy="104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Caregivers &amp; nursing staff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5925" y="6042422"/>
            <a:ext cx="427089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C75"/>
                </a:solidFill>
                <a:latin typeface="DM Sans"/>
                <a:ea typeface="DM Sans"/>
                <a:cs typeface="DM Sans"/>
                <a:sym typeface="DM Sans"/>
              </a:rPr>
              <a:t>Receive timely alerts through the mobile app.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03949" y="3017339"/>
            <a:ext cx="5080102" cy="4339533"/>
            <a:chOff x="0" y="0"/>
            <a:chExt cx="6773469" cy="57860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73418" cy="5785993"/>
            </a:xfrm>
            <a:custGeom>
              <a:avLst/>
              <a:gdLst/>
              <a:ahLst/>
              <a:cxnLst/>
              <a:rect l="l" t="t" r="r" b="b"/>
              <a:pathLst>
                <a:path w="6773418" h="5785993">
                  <a:moveTo>
                    <a:pt x="0" y="299085"/>
                  </a:moveTo>
                  <a:cubicBezTo>
                    <a:pt x="0" y="133858"/>
                    <a:pt x="133858" y="0"/>
                    <a:pt x="299085" y="0"/>
                  </a:cubicBezTo>
                  <a:lnTo>
                    <a:pt x="6474333" y="0"/>
                  </a:lnTo>
                  <a:cubicBezTo>
                    <a:pt x="6639560" y="0"/>
                    <a:pt x="6773418" y="133858"/>
                    <a:pt x="6773418" y="299085"/>
                  </a:cubicBezTo>
                  <a:lnTo>
                    <a:pt x="6773418" y="5486908"/>
                  </a:lnTo>
                  <a:cubicBezTo>
                    <a:pt x="6773418" y="5652135"/>
                    <a:pt x="6639560" y="5785993"/>
                    <a:pt x="6474333" y="5785993"/>
                  </a:cubicBezTo>
                  <a:lnTo>
                    <a:pt x="299085" y="5785993"/>
                  </a:lnTo>
                  <a:cubicBezTo>
                    <a:pt x="133858" y="5785993"/>
                    <a:pt x="0" y="5652135"/>
                    <a:pt x="0" y="5486908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D5E3F1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70674" y="3484064"/>
            <a:ext cx="1143000" cy="1143000"/>
            <a:chOff x="0" y="0"/>
            <a:chExt cx="1524000" cy="152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762000"/>
                  </a:moveTo>
                  <a:cubicBezTo>
                    <a:pt x="0" y="341122"/>
                    <a:pt x="341122" y="0"/>
                    <a:pt x="762000" y="0"/>
                  </a:cubicBezTo>
                  <a:cubicBezTo>
                    <a:pt x="1182878" y="0"/>
                    <a:pt x="1524000" y="341122"/>
                    <a:pt x="1524000" y="762000"/>
                  </a:cubicBezTo>
                  <a:cubicBezTo>
                    <a:pt x="1524000" y="1182878"/>
                    <a:pt x="1182878" y="1524000"/>
                    <a:pt x="762000" y="1524000"/>
                  </a:cubicBezTo>
                  <a:cubicBezTo>
                    <a:pt x="341122" y="1524000"/>
                    <a:pt x="0" y="1182878"/>
                    <a:pt x="0" y="762000"/>
                  </a:cubicBezTo>
                  <a:close/>
                </a:path>
              </a:pathLst>
            </a:custGeom>
            <a:solidFill>
              <a:srgbClr val="D8F3E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337374" y="3750764"/>
            <a:ext cx="609600" cy="609600"/>
            <a:chOff x="0" y="0"/>
            <a:chExt cx="812800" cy="812800"/>
          </a:xfrm>
        </p:grpSpPr>
        <p:sp>
          <p:nvSpPr>
            <p:cNvPr id="17" name="Freeform 17" descr="Home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070674" y="4855664"/>
            <a:ext cx="4271048" cy="104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Hospitals &amp; elder-care institutions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70674" y="6042422"/>
            <a:ext cx="4271048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C75"/>
                </a:solidFill>
                <a:latin typeface="DM Sans"/>
                <a:ea typeface="DM Sans"/>
                <a:cs typeface="DM Sans"/>
                <a:sym typeface="DM Sans"/>
              </a:rPr>
              <a:t>Monitor residents through the website.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988851" y="3017339"/>
            <a:ext cx="5079949" cy="4339533"/>
            <a:chOff x="0" y="0"/>
            <a:chExt cx="6773266" cy="57860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73291" cy="5785993"/>
            </a:xfrm>
            <a:custGeom>
              <a:avLst/>
              <a:gdLst/>
              <a:ahLst/>
              <a:cxnLst/>
              <a:rect l="l" t="t" r="r" b="b"/>
              <a:pathLst>
                <a:path w="6773291" h="5785993">
                  <a:moveTo>
                    <a:pt x="0" y="299085"/>
                  </a:moveTo>
                  <a:cubicBezTo>
                    <a:pt x="0" y="133858"/>
                    <a:pt x="133858" y="0"/>
                    <a:pt x="299085" y="0"/>
                  </a:cubicBezTo>
                  <a:lnTo>
                    <a:pt x="6474206" y="0"/>
                  </a:lnTo>
                  <a:cubicBezTo>
                    <a:pt x="6639433" y="0"/>
                    <a:pt x="6773291" y="133858"/>
                    <a:pt x="6773291" y="299085"/>
                  </a:cubicBezTo>
                  <a:lnTo>
                    <a:pt x="6773291" y="5486908"/>
                  </a:lnTo>
                  <a:cubicBezTo>
                    <a:pt x="6773291" y="5652135"/>
                    <a:pt x="6639433" y="5785993"/>
                    <a:pt x="6474206" y="5785993"/>
                  </a:cubicBezTo>
                  <a:lnTo>
                    <a:pt x="299085" y="5785993"/>
                  </a:lnTo>
                  <a:cubicBezTo>
                    <a:pt x="133858" y="5785993"/>
                    <a:pt x="0" y="5652135"/>
                    <a:pt x="0" y="5486908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5E3F1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455576" y="3484064"/>
            <a:ext cx="1143000" cy="1143000"/>
            <a:chOff x="0" y="0"/>
            <a:chExt cx="1524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762000"/>
                  </a:moveTo>
                  <a:cubicBezTo>
                    <a:pt x="0" y="341122"/>
                    <a:pt x="341122" y="0"/>
                    <a:pt x="762000" y="0"/>
                  </a:cubicBezTo>
                  <a:cubicBezTo>
                    <a:pt x="1182878" y="0"/>
                    <a:pt x="1524000" y="341122"/>
                    <a:pt x="1524000" y="762000"/>
                  </a:cubicBezTo>
                  <a:cubicBezTo>
                    <a:pt x="1524000" y="1182878"/>
                    <a:pt x="1182878" y="1524000"/>
                    <a:pt x="762000" y="1524000"/>
                  </a:cubicBezTo>
                  <a:cubicBezTo>
                    <a:pt x="341122" y="1524000"/>
                    <a:pt x="0" y="1182878"/>
                    <a:pt x="0" y="762000"/>
                  </a:cubicBezTo>
                  <a:close/>
                </a:path>
              </a:pathLst>
            </a:custGeom>
            <a:solidFill>
              <a:srgbClr val="DCEBF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722276" y="3750764"/>
            <a:ext cx="609600" cy="609600"/>
            <a:chOff x="0" y="0"/>
            <a:chExt cx="812800" cy="812800"/>
          </a:xfrm>
        </p:grpSpPr>
        <p:sp>
          <p:nvSpPr>
            <p:cNvPr id="25" name="Freeform 25" descr="Trust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2455576" y="4855664"/>
            <a:ext cx="4270896" cy="5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Families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55576" y="5539530"/>
            <a:ext cx="427089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C75"/>
                </a:solidFill>
                <a:latin typeface="DM Sans"/>
                <a:ea typeface="DM Sans"/>
                <a:cs typeface="DM Sans"/>
                <a:sym typeface="DM Sans"/>
              </a:rPr>
              <a:t>Peace of mind that help is notified early.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862" b="-10864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2183"/>
            <a:ext cx="18288000" cy="9042634"/>
            <a:chOff x="0" y="0"/>
            <a:chExt cx="4816593" cy="23815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81599"/>
            </a:xfrm>
            <a:custGeom>
              <a:avLst/>
              <a:gdLst/>
              <a:ahLst/>
              <a:cxnLst/>
              <a:rect l="l" t="t" r="r" b="b"/>
              <a:pathLst>
                <a:path w="4816592" h="2381599">
                  <a:moveTo>
                    <a:pt x="0" y="0"/>
                  </a:moveTo>
                  <a:lnTo>
                    <a:pt x="4816592" y="0"/>
                  </a:lnTo>
                  <a:lnTo>
                    <a:pt x="4816592" y="2381599"/>
                  </a:lnTo>
                  <a:lnTo>
                    <a:pt x="0" y="23815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16593" cy="236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84762" y="9416511"/>
            <a:ext cx="3703238" cy="870489"/>
            <a:chOff x="0" y="0"/>
            <a:chExt cx="4937651" cy="11606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37651" cy="1160652"/>
            </a:xfrm>
            <a:custGeom>
              <a:avLst/>
              <a:gdLst/>
              <a:ahLst/>
              <a:cxnLst/>
              <a:rect l="l" t="t" r="r" b="b"/>
              <a:pathLst>
                <a:path w="4937651" h="1160652">
                  <a:moveTo>
                    <a:pt x="0" y="0"/>
                  </a:moveTo>
                  <a:lnTo>
                    <a:pt x="4937651" y="0"/>
                  </a:lnTo>
                  <a:lnTo>
                    <a:pt x="4937651" y="1160652"/>
                  </a:lnTo>
                  <a:lnTo>
                    <a:pt x="0" y="11606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4093" r="-251859" b="-21924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37651" cy="1208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862" b="-1086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19200" y="1123950"/>
            <a:ext cx="16325088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OVERVIEW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54818" y="2061440"/>
            <a:ext cx="15578365" cy="7119278"/>
          </a:xfrm>
          <a:custGeom>
            <a:avLst/>
            <a:gdLst/>
            <a:ahLst/>
            <a:cxnLst/>
            <a:rect l="l" t="t" r="r" b="b"/>
            <a:pathLst>
              <a:path w="15578365" h="7119278">
                <a:moveTo>
                  <a:pt x="0" y="0"/>
                </a:moveTo>
                <a:lnTo>
                  <a:pt x="15578364" y="0"/>
                </a:lnTo>
                <a:lnTo>
                  <a:pt x="15578364" y="7119278"/>
                </a:lnTo>
                <a:lnTo>
                  <a:pt x="0" y="7119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40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981075"/>
            <a:ext cx="16325088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b="1" spc="248">
                <a:solidFill>
                  <a:srgbClr val="0B244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Component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537335"/>
            <a:ext cx="13461683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1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Context-Aware Activity Recognition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579370"/>
            <a:ext cx="16325088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 b="1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A wearable IoT  system that detects falls in elderly people in real time and explains every decision.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83584" y="4688522"/>
            <a:ext cx="5054565" cy="3760470"/>
            <a:chOff x="0" y="0"/>
            <a:chExt cx="6739420" cy="5013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9382" cy="5013960"/>
            </a:xfrm>
            <a:custGeom>
              <a:avLst/>
              <a:gdLst/>
              <a:ahLst/>
              <a:cxnLst/>
              <a:rect l="l" t="t" r="r" b="b"/>
              <a:pathLst>
                <a:path w="6739382" h="501396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85382" y="0"/>
                  </a:lnTo>
                  <a:cubicBezTo>
                    <a:pt x="6625717" y="0"/>
                    <a:pt x="6739382" y="113665"/>
                    <a:pt x="6739382" y="254000"/>
                  </a:cubicBezTo>
                  <a:lnTo>
                    <a:pt x="6739382" y="4759960"/>
                  </a:lnTo>
                  <a:cubicBezTo>
                    <a:pt x="6739382" y="4900295"/>
                    <a:pt x="6625717" y="5013960"/>
                    <a:pt x="6485382" y="5013960"/>
                  </a:cubicBezTo>
                  <a:lnTo>
                    <a:pt x="254000" y="5013960"/>
                  </a:lnTo>
                  <a:cubicBezTo>
                    <a:pt x="113665" y="5013960"/>
                    <a:pt x="0" y="4900295"/>
                    <a:pt x="0" y="4759960"/>
                  </a:cubicBezTo>
                  <a:close/>
                </a:path>
              </a:pathLst>
            </a:custGeom>
            <a:solidFill>
              <a:srgbClr val="D5E3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535816" y="4954905"/>
            <a:ext cx="44213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1D4ED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it 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5732" y="5793105"/>
            <a:ext cx="4421334" cy="162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274">
                <a:solidFill>
                  <a:srgbClr val="1226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wearable sensor and a live web dashboard that watch an elderly person's posture and movement, 10 times per second.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10752" y="4688522"/>
            <a:ext cx="5054679" cy="3760470"/>
            <a:chOff x="0" y="0"/>
            <a:chExt cx="6739572" cy="5013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9510" cy="5013960"/>
            </a:xfrm>
            <a:custGeom>
              <a:avLst/>
              <a:gdLst/>
              <a:ahLst/>
              <a:cxnLst/>
              <a:rect l="l" t="t" r="r" b="b"/>
              <a:pathLst>
                <a:path w="6739510" h="501396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485509" y="0"/>
                  </a:lnTo>
                  <a:cubicBezTo>
                    <a:pt x="6625844" y="0"/>
                    <a:pt x="6739510" y="113665"/>
                    <a:pt x="6739510" y="254000"/>
                  </a:cubicBezTo>
                  <a:lnTo>
                    <a:pt x="6739510" y="4759960"/>
                  </a:lnTo>
                  <a:cubicBezTo>
                    <a:pt x="6739510" y="4900295"/>
                    <a:pt x="6625844" y="5013960"/>
                    <a:pt x="6485509" y="5013960"/>
                  </a:cubicBezTo>
                  <a:lnTo>
                    <a:pt x="254000" y="5013960"/>
                  </a:lnTo>
                  <a:cubicBezTo>
                    <a:pt x="113665" y="5013960"/>
                    <a:pt x="0" y="4900295"/>
                    <a:pt x="0" y="4759960"/>
                  </a:cubicBezTo>
                  <a:close/>
                </a:path>
              </a:pathLst>
            </a:custGeom>
            <a:solidFill>
              <a:srgbClr val="D5E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7007476" y="4954905"/>
            <a:ext cx="442145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it does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6817" y="5583555"/>
            <a:ext cx="4302776" cy="242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Recognises standing, walking and falls</a:t>
            </a:r>
          </a:p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Confirms real falls, filters false alarms</a:t>
            </a:r>
          </a:p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Tells the caregiver why it decided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941657" y="4688522"/>
            <a:ext cx="5130765" cy="3760470"/>
            <a:chOff x="0" y="0"/>
            <a:chExt cx="6841020" cy="50139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40982" cy="5013960"/>
            </a:xfrm>
            <a:custGeom>
              <a:avLst/>
              <a:gdLst/>
              <a:ahLst/>
              <a:cxnLst/>
              <a:rect l="l" t="t" r="r" b="b"/>
              <a:pathLst>
                <a:path w="6840982" h="5013960">
                  <a:moveTo>
                    <a:pt x="0" y="230886"/>
                  </a:moveTo>
                  <a:cubicBezTo>
                    <a:pt x="0" y="103378"/>
                    <a:pt x="103378" y="0"/>
                    <a:pt x="230886" y="0"/>
                  </a:cubicBezTo>
                  <a:lnTo>
                    <a:pt x="6610096" y="0"/>
                  </a:lnTo>
                  <a:cubicBezTo>
                    <a:pt x="6737603" y="0"/>
                    <a:pt x="6840982" y="103378"/>
                    <a:pt x="6840982" y="230886"/>
                  </a:cubicBezTo>
                  <a:lnTo>
                    <a:pt x="6840982" y="4783074"/>
                  </a:lnTo>
                  <a:cubicBezTo>
                    <a:pt x="6840982" y="4910582"/>
                    <a:pt x="6737603" y="5013960"/>
                    <a:pt x="6610096" y="5013960"/>
                  </a:cubicBezTo>
                  <a:lnTo>
                    <a:pt x="230886" y="5013960"/>
                  </a:lnTo>
                  <a:cubicBezTo>
                    <a:pt x="103378" y="5013960"/>
                    <a:pt x="0" y="4910582"/>
                    <a:pt x="0" y="4783074"/>
                  </a:cubicBezTo>
                  <a:close/>
                </a:path>
              </a:pathLst>
            </a:custGeom>
            <a:solidFill>
              <a:srgbClr val="D5E3F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332182" y="4954905"/>
            <a:ext cx="44213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C241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Novelty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50863" y="5631180"/>
            <a:ext cx="4302652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Segoe UI"/>
                <a:ea typeface="Segoe UI"/>
                <a:cs typeface="Segoe UI"/>
                <a:sym typeface="Segoe UI"/>
              </a:rPr>
              <a:t>Machine learning plus physics rules, not AI alone</a:t>
            </a:r>
          </a:p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Segoe UI"/>
                <a:ea typeface="Segoe UI"/>
                <a:cs typeface="Segoe UI"/>
                <a:sym typeface="Segoe UI"/>
              </a:rPr>
              <a:t>Context-aware: knows what came before</a:t>
            </a:r>
          </a:p>
          <a:p>
            <a:pPr marL="411718" lvl="1" indent="-205859" algn="l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12263A"/>
                </a:solidFill>
                <a:latin typeface="Segoe UI"/>
                <a:ea typeface="Segoe UI"/>
                <a:cs typeface="Segoe UI"/>
                <a:sym typeface="Segoe UI"/>
              </a:rPr>
              <a:t>Explainable alerts and a fall-risk score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862" b="-1086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2183"/>
            <a:ext cx="18288000" cy="9042634"/>
            <a:chOff x="0" y="0"/>
            <a:chExt cx="4816593" cy="23815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81599"/>
            </a:xfrm>
            <a:custGeom>
              <a:avLst/>
              <a:gdLst/>
              <a:ahLst/>
              <a:cxnLst/>
              <a:rect l="l" t="t" r="r" b="b"/>
              <a:pathLst>
                <a:path w="4816592" h="2381599">
                  <a:moveTo>
                    <a:pt x="0" y="0"/>
                  </a:moveTo>
                  <a:lnTo>
                    <a:pt x="4816592" y="0"/>
                  </a:lnTo>
                  <a:lnTo>
                    <a:pt x="4816592" y="2381599"/>
                  </a:lnTo>
                  <a:lnTo>
                    <a:pt x="0" y="23815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16593" cy="236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84762" y="9416511"/>
            <a:ext cx="3703238" cy="870489"/>
            <a:chOff x="0" y="0"/>
            <a:chExt cx="4937651" cy="11606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37651" cy="1160652"/>
            </a:xfrm>
            <a:custGeom>
              <a:avLst/>
              <a:gdLst/>
              <a:ahLst/>
              <a:cxnLst/>
              <a:rect l="l" t="t" r="r" b="b"/>
              <a:pathLst>
                <a:path w="4937651" h="1160652">
                  <a:moveTo>
                    <a:pt x="0" y="0"/>
                  </a:moveTo>
                  <a:lnTo>
                    <a:pt x="4937651" y="0"/>
                  </a:lnTo>
                  <a:lnTo>
                    <a:pt x="4937651" y="1160652"/>
                  </a:lnTo>
                  <a:lnTo>
                    <a:pt x="0" y="11606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4093" r="-251859" b="-21924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37651" cy="1208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862" b="-1086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933476" y="1028700"/>
            <a:ext cx="11973299" cy="8823055"/>
          </a:xfrm>
          <a:custGeom>
            <a:avLst/>
            <a:gdLst/>
            <a:ahLst/>
            <a:cxnLst/>
            <a:rect l="l" t="t" r="r" b="b"/>
            <a:pathLst>
              <a:path w="11973299" h="8823055">
                <a:moveTo>
                  <a:pt x="0" y="0"/>
                </a:moveTo>
                <a:lnTo>
                  <a:pt x="11973299" y="0"/>
                </a:lnTo>
                <a:lnTo>
                  <a:pt x="11973299" y="8823055"/>
                </a:lnTo>
                <a:lnTo>
                  <a:pt x="0" y="8823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0" t="-9223" r="-42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64994" y="347863"/>
            <a:ext cx="8397334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IOT Base Hardware and System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862" b="-108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950515" y="1435541"/>
            <a:ext cx="13907127" cy="7822759"/>
          </a:xfrm>
          <a:custGeom>
            <a:avLst/>
            <a:gdLst/>
            <a:ahLst/>
            <a:cxnLst/>
            <a:rect l="l" t="t" r="r" b="b"/>
            <a:pathLst>
              <a:path w="13907127" h="7822759">
                <a:moveTo>
                  <a:pt x="0" y="0"/>
                </a:moveTo>
                <a:lnTo>
                  <a:pt x="13907127" y="0"/>
                </a:lnTo>
                <a:lnTo>
                  <a:pt x="13907127" y="7822759"/>
                </a:lnTo>
                <a:lnTo>
                  <a:pt x="0" y="7822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64994" y="347863"/>
            <a:ext cx="8397334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34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a Fall is Confirmed: 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664817"/>
            <a:ext cx="3901030" cy="622183"/>
            <a:chOff x="0" y="0"/>
            <a:chExt cx="5201374" cy="829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01412" cy="829567"/>
            </a:xfrm>
            <a:custGeom>
              <a:avLst/>
              <a:gdLst/>
              <a:ahLst/>
              <a:cxnLst/>
              <a:rect l="l" t="t" r="r" b="b"/>
              <a:pathLst>
                <a:path w="5201412" h="829567">
                  <a:moveTo>
                    <a:pt x="0" y="0"/>
                  </a:moveTo>
                  <a:lnTo>
                    <a:pt x="5201412" y="0"/>
                  </a:lnTo>
                  <a:lnTo>
                    <a:pt x="5201412" y="829567"/>
                  </a:lnTo>
                  <a:lnTo>
                    <a:pt x="0" y="829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862" b="-108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509426" y="9258300"/>
            <a:ext cx="3778574" cy="1028700"/>
            <a:chOff x="0" y="0"/>
            <a:chExt cx="5038098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8099" cy="1371600"/>
            </a:xfrm>
            <a:custGeom>
              <a:avLst/>
              <a:gdLst/>
              <a:ahLst/>
              <a:cxnLst/>
              <a:rect l="l" t="t" r="r" b="b"/>
              <a:pathLst>
                <a:path w="5038099" h="1371600">
                  <a:moveTo>
                    <a:pt x="0" y="0"/>
                  </a:moveTo>
                  <a:lnTo>
                    <a:pt x="5038099" y="0"/>
                  </a:lnTo>
                  <a:lnTo>
                    <a:pt x="503809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477" r="-244844" b="-17014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38098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2E2E2E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 </a:t>
              </a:r>
            </a:p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000000"/>
                  </a:solidFill>
                  <a:latin typeface="Times New Roman MT Medium"/>
                  <a:ea typeface="Times New Roman MT Medium"/>
                  <a:cs typeface="Times New Roman MT Medium"/>
                  <a:sym typeface="Times New Roman MT Medium"/>
                </a:rPr>
                <a:t>Project ID: R26_IT_051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Custom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DM Sans</vt:lpstr>
      <vt:lpstr>Poppins</vt:lpstr>
      <vt:lpstr>Segoe UI</vt:lpstr>
      <vt:lpstr>Times New Roman MT Bold</vt:lpstr>
      <vt:lpstr>Calibri (MS) Bold</vt:lpstr>
      <vt:lpstr>Calibri</vt:lpstr>
      <vt:lpstr>Poppins Bold</vt:lpstr>
      <vt:lpstr>Open Sauce</vt:lpstr>
      <vt:lpstr>Times New Roman MT Medium</vt:lpstr>
      <vt:lpstr>Times New Roman MT Semi-Bold</vt:lpstr>
      <vt:lpstr>Times New Roman MT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www.aegiscare.com</dc:title>
  <dc:creator>Kavindya</dc:creator>
  <cp:lastModifiedBy>Kavindya Chathuri</cp:lastModifiedBy>
  <cp:revision>1</cp:revision>
  <dcterms:created xsi:type="dcterms:W3CDTF">2006-08-16T00:00:00Z</dcterms:created>
  <dcterms:modified xsi:type="dcterms:W3CDTF">2026-10-09T09:59:15Z</dcterms:modified>
  <dc:identifier>DAHXJ8uDS94</dc:identifier>
</cp:coreProperties>
</file>