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7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8" r:id="rId3"/>
    <p:sldId id="257" r:id="rId4"/>
    <p:sldId id="261" r:id="rId5"/>
    <p:sldId id="259" r:id="rId6"/>
    <p:sldId id="264" r:id="rId7"/>
    <p:sldId id="262" r:id="rId8"/>
    <p:sldId id="263" r:id="rId9"/>
    <p:sldId id="265" r:id="rId10"/>
    <p:sldId id="266" r:id="rId11"/>
    <p:sldId id="267" r:id="rId12"/>
    <p:sldId id="268" r:id="rId13"/>
    <p:sldId id="272" r:id="rId14"/>
    <p:sldId id="269" r:id="rId15"/>
    <p:sldId id="270" r:id="rId16"/>
    <p:sldId id="271" r:id="rId17"/>
    <p:sldId id="273" r:id="rId18"/>
    <p:sldId id="276" r:id="rId19"/>
    <p:sldId id="277" r:id="rId20"/>
    <p:sldId id="278" r:id="rId21"/>
    <p:sldId id="282" r:id="rId22"/>
    <p:sldId id="281" r:id="rId23"/>
    <p:sldId id="286" r:id="rId24"/>
    <p:sldId id="285" r:id="rId25"/>
    <p:sldId id="287" r:id="rId26"/>
    <p:sldId id="288" r:id="rId27"/>
    <p:sldId id="289" r:id="rId28"/>
    <p:sldId id="291" r:id="rId29"/>
    <p:sldId id="295" r:id="rId30"/>
    <p:sldId id="294" r:id="rId31"/>
    <p:sldId id="296" r:id="rId32"/>
    <p:sldId id="293" r:id="rId33"/>
    <p:sldId id="297" r:id="rId34"/>
    <p:sldId id="290" r:id="rId35"/>
    <p:sldId id="298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A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CBDB6E-9A14-41E1-9A7F-2D6D217EE0E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2A7F6-F5CC-42D1-A00F-33488463B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39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2A7F6-F5CC-42D1-A00F-33488463BAF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448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Instead of just saying a patient is "High Risk," the AI explains </a:t>
            </a:r>
            <a:r>
              <a:rPr lang="en-US" b="1" dirty="0"/>
              <a:t>why</a:t>
            </a:r>
            <a:r>
              <a:rPr lang="en-US" dirty="0"/>
              <a:t>. For example, it can show if the risk is due to "low speed" or "loss of balance." This is the </a:t>
            </a:r>
            <a:r>
              <a:rPr lang="en-US" b="1" dirty="0"/>
              <a:t>Explainable AI (XAI)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tracks the patient's </a:t>
            </a:r>
            <a:r>
              <a:rPr lang="en-US" b="1" dirty="0"/>
              <a:t>balance</a:t>
            </a:r>
            <a:r>
              <a:rPr lang="en-US" dirty="0"/>
              <a:t> and their </a:t>
            </a:r>
            <a:r>
              <a:rPr lang="en-US" b="1" dirty="0"/>
              <a:t>Center of Mass (</a:t>
            </a:r>
            <a:r>
              <a:rPr lang="en-US" b="1" dirty="0" err="1"/>
              <a:t>CoM</a:t>
            </a:r>
            <a:r>
              <a:rPr lang="en-US" b="1" dirty="0"/>
              <a:t>)</a:t>
            </a:r>
            <a:r>
              <a:rPr lang="en-US" dirty="0"/>
              <a:t> second by second as they move.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2A7F6-F5CC-42D1-A00F-33488463BAF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15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recharts:</a:t>
            </a:r>
            <a:r>
              <a:rPr lang="en-US" dirty="0"/>
              <a:t> Turns raw patient data into easy-to-read graphs.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Framer Motion:</a:t>
            </a:r>
            <a:r>
              <a:rPr lang="en-US" dirty="0"/>
              <a:t> Adds smooth animations to make the UI feel responsive.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Socket.io:</a:t>
            </a:r>
            <a:r>
              <a:rPr lang="en-US" dirty="0"/>
              <a:t> Crucial for </a:t>
            </a:r>
            <a:r>
              <a:rPr lang="en-US" b="1" dirty="0"/>
              <a:t>Real-time</a:t>
            </a:r>
            <a:r>
              <a:rPr lang="en-US" dirty="0"/>
              <a:t> updates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Azure AD:</a:t>
            </a:r>
            <a:r>
              <a:rPr lang="en-US" dirty="0"/>
              <a:t> Ensures only authorized hospital staff can log in (Security).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/>
              <a:t>FastAPI</a:t>
            </a:r>
            <a:r>
              <a:rPr lang="en-US" b="1" dirty="0"/>
              <a:t>:</a:t>
            </a:r>
            <a:r>
              <a:rPr lang="en-US" dirty="0"/>
              <a:t> A high-speed bridge that connects the AI models to the backend.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SHAP/LIME (XAI):</a:t>
            </a:r>
            <a:r>
              <a:rPr lang="en-US" dirty="0"/>
              <a:t> The "Explainable" part—it tells the doctor </a:t>
            </a:r>
            <a:r>
              <a:rPr lang="en-US" i="1" dirty="0"/>
              <a:t>why</a:t>
            </a:r>
            <a:r>
              <a:rPr lang="en-US" dirty="0"/>
              <a:t> the AI flagged a patient as high risk.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2A7F6-F5CC-42D1-A00F-33488463BAF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16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31657-7DE2-D8A3-88FD-B6BDAE335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02EA75-720A-3F18-0F46-3FA9BCFB1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A8868-D15A-221F-2876-AF467575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33936-49FF-4633-8164-5C65DFB2A16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E8DDE-865E-E6A5-7962-8BBEEF2D0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9A1AF-C866-21C5-CB61-67F1ED7A5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D61A4-4CC1-42EE-A150-6EC4FA7AD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96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ACEE9-DD88-4399-2341-D064EA5CE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988C2-015F-13B3-656A-27EDB6A33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286CE-95A8-A138-C460-EC1C2CD97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33936-49FF-4633-8164-5C65DFB2A16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67A34-49FF-644B-73C2-10E08C892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109C0-8900-BFE3-110F-0455F717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D61A4-4CC1-42EE-A150-6EC4FA7AD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57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B85D-E249-CF7F-6995-17841E15B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C8D89-FAA5-53AB-EC8A-0B61FF0CB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85EA2-7005-240E-9611-EF05B7AAA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33936-49FF-4633-8164-5C65DFB2A16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29C32-B242-CC7E-0029-F2771E26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F3569-B3B2-DA28-6BCF-C4FEE8390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D61A4-4CC1-42EE-A150-6EC4FA7AD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99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BB3E-F0BB-6EE0-067B-1EA251C89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50E7A-5F07-DD80-FE8B-8C161BF88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F1F05-F8F1-BEF4-663B-D2E0AC0C7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8C600-6A4F-A843-DFAD-16964B191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33936-49FF-4633-8164-5C65DFB2A16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17F41-1C37-6A24-1059-BD588DD26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A75A9-59A9-C14C-E38B-405542BFE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D61A4-4CC1-42EE-A150-6EC4FA7AD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64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BA8AC-8068-2B59-BB7E-0C42DF9D4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55A0B-3EDA-7138-2E4A-1EE4BB2E8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D2BE8-34EA-28FE-CA1D-596767890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BE949E-ABF7-59C2-4772-0280F2F5A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EDEF4-D580-2337-34BB-0F237BA6C6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ACBAF9-D937-874A-7289-9324C531B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33936-49FF-4633-8164-5C65DFB2A16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F6786-D03A-07C0-D204-3E8FA1372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961FCF-811E-F0D2-33E0-C69A84FE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D61A4-4CC1-42EE-A150-6EC4FA7AD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754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A53A-193F-7569-BEE0-F947A96B7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ECE21-B7AD-19D3-8B93-259A3612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33936-49FF-4633-8164-5C65DFB2A16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4E5265-0431-BE48-637B-6065B873D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1A664-032F-04B3-2860-7E2A537E1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D61A4-4CC1-42EE-A150-6EC4FA7AD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11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F4337D-6DD5-A97E-B6A8-8F01D2DC8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33936-49FF-4633-8164-5C65DFB2A16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16389E-D8B2-25B5-C4CD-87533BD7B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C7B40-52C5-5C45-4E2C-48FFD72A7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D61A4-4CC1-42EE-A150-6EC4FA7AD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11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65B3A-929E-89DC-7938-A700E893D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69395-3E10-7BDE-4F4D-91F35AD9E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73EB0-023C-A787-D089-0ACB74417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5B65C-9108-69B5-1147-A440A49B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33936-49FF-4633-8164-5C65DFB2A16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9FA42-C3EB-CDD0-6A4F-AB0D84BAA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E8515-6DEC-6796-FD9E-3DF95C68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D61A4-4CC1-42EE-A150-6EC4FA7AD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369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9EF8F-6A60-0D45-BF8C-7E0596A2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43126D-DBBE-FAA3-4C42-642A406209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6EBB0-0F2E-2A6E-E49D-1D1A23B29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14C00-8A1A-A5AC-F8FB-A6801A3DF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33936-49FF-4633-8164-5C65DFB2A16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CA299-8616-2E30-BA48-FD29FF55F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99BD6-ED28-1331-E50E-BEE13B11F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D61A4-4CC1-42EE-A150-6EC4FA7AD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83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14D23-3325-BBE6-F9F5-650E97F86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B7D4FF-51E4-67F3-21FF-9E3798858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F727E-F392-D896-43FD-AFB515A6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33936-49FF-4633-8164-5C65DFB2A16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CA7D9-86BD-B38F-071F-6E43E234D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B8F16-C221-1A2D-A431-F33951E2B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D61A4-4CC1-42EE-A150-6EC4FA7AD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5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50CD9A-9C30-8735-89A5-EFC76ABB2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7D11C-CAA3-E587-1D61-8084462B0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6CFA0-E1A0-A892-EAD8-4E85FA612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33936-49FF-4633-8164-5C65DFB2A16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AB95A-C0ED-865A-2284-898FB6A79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231B1-5DFC-2B01-6CC7-AB987ED92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D61A4-4CC1-42EE-A150-6EC4FA7AD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74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CC561C-7AC2-FEE4-64D3-F5196F128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CC504-5B2C-81AB-4306-448FD906F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1ACC4-854C-938E-0ADC-B4E769F2CE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33936-49FF-4633-8164-5C65DFB2A161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B4F4B-5C15-E594-2944-5B7EF37388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F8BD0-E3BB-131E-A613-822FB2F51F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D61A4-4CC1-42EE-A150-6EC4FA7AD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97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0B497C-B736-B620-545F-36520AD54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88285" y="6335907"/>
            <a:ext cx="2198914" cy="522093"/>
          </a:xfrm>
        </p:spPr>
        <p:txBody>
          <a:bodyPr/>
          <a:lstStyle/>
          <a:p>
            <a:r>
              <a:rPr lang="en-US" b="1" dirty="0"/>
              <a:t>R26-IT-051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9C6591-B7A5-8666-C9C8-FF368699E32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56049" y="748109"/>
            <a:ext cx="1087990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 Intelligent Fall Monitoring System for</a:t>
            </a:r>
            <a:b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Elderly Care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2C2D9B-18F5-741D-543B-E8CE7E6CF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65" y="1948438"/>
            <a:ext cx="11117226" cy="41820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5A29EA-F1EE-4C76-FEEF-807D83D41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03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ABA526-7B52-78A1-56B4-7AC999485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EB721340-5E5A-4B4C-D9F6-5F1E45B98464}"/>
              </a:ext>
            </a:extLst>
          </p:cNvPr>
          <p:cNvSpPr txBox="1">
            <a:spLocks/>
          </p:cNvSpPr>
          <p:nvPr/>
        </p:nvSpPr>
        <p:spPr>
          <a:xfrm>
            <a:off x="10472057" y="6418230"/>
            <a:ext cx="2198914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R26-IT-051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57A379-E60B-320A-FE31-C1FDCA61E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3105"/>
            <a:ext cx="2600688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280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667971D-84CE-0CD1-A9D0-66F3A46ED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78"/>
            <a:ext cx="12191999" cy="69875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7EB1FE-C8A7-5AF9-D04D-09CB18097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3105"/>
            <a:ext cx="2600688" cy="50489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F4A242A-8A6B-4269-2E25-78EC52FC9C6B}"/>
              </a:ext>
            </a:extLst>
          </p:cNvPr>
          <p:cNvSpPr txBox="1">
            <a:spLocks/>
          </p:cNvSpPr>
          <p:nvPr/>
        </p:nvSpPr>
        <p:spPr>
          <a:xfrm>
            <a:off x="10478600" y="6487472"/>
            <a:ext cx="2198914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R26-IT-051</a:t>
            </a:r>
          </a:p>
        </p:txBody>
      </p:sp>
    </p:spTree>
    <p:extLst>
      <p:ext uri="{BB962C8B-B14F-4D97-AF65-F5344CB8AC3E}">
        <p14:creationId xmlns:p14="http://schemas.microsoft.com/office/powerpoint/2010/main" val="458905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33591-FC13-6992-DD29-D8FCD9390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108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+mn-lt"/>
              </a:rPr>
              <a:t>Context-Aware Activity Recognition for Early Fall Risk Detection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9F0DE84-40D2-C79C-F7A5-75C9E8154112}"/>
              </a:ext>
            </a:extLst>
          </p:cNvPr>
          <p:cNvSpPr txBox="1">
            <a:spLocks/>
          </p:cNvSpPr>
          <p:nvPr/>
        </p:nvSpPr>
        <p:spPr>
          <a:xfrm>
            <a:off x="7483152" y="6492875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IT22548078  |  Chathuri M T K  | R26-IT-051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67525-0D09-8D5A-0435-876684B6B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3105"/>
            <a:ext cx="2600688" cy="50489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D2886F6-C5B6-BC0D-CB5C-C876733CF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62CE82-7383-E9DE-F576-DD7EF80F2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26" y="2956650"/>
            <a:ext cx="7506748" cy="27054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537E956-98A9-4657-DF7A-6C0DDC44C2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4972" y="108311"/>
            <a:ext cx="1457656" cy="14144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4755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A0203-3380-8A3E-67CE-2C56F4817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+mn-lt"/>
              </a:rPr>
              <a:t>Users &amp; Stakeholders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5F84DF-A272-898A-EA70-CD266AA8DA08}"/>
              </a:ext>
            </a:extLst>
          </p:cNvPr>
          <p:cNvSpPr txBox="1"/>
          <p:nvPr/>
        </p:nvSpPr>
        <p:spPr>
          <a:xfrm>
            <a:off x="7430279" y="2069698"/>
            <a:ext cx="2796072" cy="1415772"/>
          </a:xfrm>
          <a:prstGeom prst="rect">
            <a:avLst/>
          </a:prstGeom>
          <a:solidFill>
            <a:srgbClr val="63A4F7"/>
          </a:solidFill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Primary Users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/>
              <a:t>Elderly individuals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/>
              <a:t>  Patients living alone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AE990-C3B1-0DD3-1A60-F6EB2A3F68A2}"/>
              </a:ext>
            </a:extLst>
          </p:cNvPr>
          <p:cNvSpPr txBox="1"/>
          <p:nvPr/>
        </p:nvSpPr>
        <p:spPr>
          <a:xfrm>
            <a:off x="1576875" y="1769824"/>
            <a:ext cx="3912636" cy="2000548"/>
          </a:xfrm>
          <a:prstGeom prst="rect">
            <a:avLst/>
          </a:prstGeom>
          <a:solidFill>
            <a:srgbClr val="63A4F7"/>
          </a:solidFill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Stakeholders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Family members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Caregivers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Hospitals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Healthcare providers</a:t>
            </a:r>
          </a:p>
          <a:p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883334-7D24-94C2-7EBB-5DE7D117C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90575"/>
            <a:ext cx="10821910" cy="236253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3E26DF9-9D24-CE2D-EBDA-AB9AD802BB7C}"/>
              </a:ext>
            </a:extLst>
          </p:cNvPr>
          <p:cNvCxnSpPr>
            <a:cxnSpLocks/>
          </p:cNvCxnSpPr>
          <p:nvPr/>
        </p:nvCxnSpPr>
        <p:spPr>
          <a:xfrm flipV="1">
            <a:off x="5489511" y="2770098"/>
            <a:ext cx="1940768" cy="74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AFA4F0C-AA75-281A-78C9-65BD687F6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3105"/>
            <a:ext cx="2600688" cy="504895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D4DE96D3-D246-5745-E86C-F4C554E98153}"/>
              </a:ext>
            </a:extLst>
          </p:cNvPr>
          <p:cNvSpPr txBox="1">
            <a:spLocks/>
          </p:cNvSpPr>
          <p:nvPr/>
        </p:nvSpPr>
        <p:spPr>
          <a:xfrm>
            <a:off x="7483152" y="6492875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IT22548078  |  Chathuri M T K  | R26-IT-051</a:t>
            </a:r>
          </a:p>
        </p:txBody>
      </p:sp>
    </p:spTree>
    <p:extLst>
      <p:ext uri="{BB962C8B-B14F-4D97-AF65-F5344CB8AC3E}">
        <p14:creationId xmlns:p14="http://schemas.microsoft.com/office/powerpoint/2010/main" val="333381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662BD0-EE8D-0516-8C90-087860AFD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13" y="1109339"/>
            <a:ext cx="11460174" cy="4639322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98440D3D-D831-AAE1-1E2D-8327B36829CA}"/>
              </a:ext>
            </a:extLst>
          </p:cNvPr>
          <p:cNvSpPr txBox="1">
            <a:spLocks/>
          </p:cNvSpPr>
          <p:nvPr/>
        </p:nvSpPr>
        <p:spPr>
          <a:xfrm>
            <a:off x="7483152" y="6492875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IT22548078  |  Chathuri M T K  | R26-IT-051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BDC859-3E44-BA1C-FED5-7A76CE840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3105"/>
            <a:ext cx="2600688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921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53E84D-7B07-C449-BA2A-E0F9E1404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75" y="227213"/>
            <a:ext cx="11812649" cy="6220693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56EA9F42-8F6E-25CF-5C10-3469C95F3220}"/>
              </a:ext>
            </a:extLst>
          </p:cNvPr>
          <p:cNvSpPr txBox="1">
            <a:spLocks/>
          </p:cNvSpPr>
          <p:nvPr/>
        </p:nvSpPr>
        <p:spPr>
          <a:xfrm>
            <a:off x="7483152" y="6492875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IT22548078  |  Chathuri M T K  | R26-IT-051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D80B01-F9C5-8703-EB08-9EF9F1085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3105"/>
            <a:ext cx="2600688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0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D0CBA5-A6D6-C304-9FA6-236265D27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44" y="452022"/>
            <a:ext cx="11183911" cy="5953956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0DDC881B-E210-A845-D26C-39DFFC23D0B6}"/>
              </a:ext>
            </a:extLst>
          </p:cNvPr>
          <p:cNvSpPr txBox="1">
            <a:spLocks/>
          </p:cNvSpPr>
          <p:nvPr/>
        </p:nvSpPr>
        <p:spPr>
          <a:xfrm>
            <a:off x="7483152" y="6492875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IT22548078  |  Chathuri M T K  | R26-IT-051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2D6768-B530-5064-4FC4-943219BA4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3105"/>
            <a:ext cx="2600688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88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C97578-E8A7-D706-CBEE-9E4E01091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36" y="0"/>
            <a:ext cx="121951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201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868680-3A79-4A48-89AB-A2D62E8C7503}"/>
              </a:ext>
            </a:extLst>
          </p:cNvPr>
          <p:cNvSpPr/>
          <p:nvPr/>
        </p:nvSpPr>
        <p:spPr>
          <a:xfrm>
            <a:off x="1780674" y="555139"/>
            <a:ext cx="861461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Risk Mapping &amp;</a:t>
            </a:r>
            <a:endParaRPr lang="en-US" sz="4800" dirty="0"/>
          </a:p>
          <a:p>
            <a:pPr algn="ctr"/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Safety Zone System</a:t>
            </a:r>
            <a:endParaRPr lang="en-US"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4F6896-87DC-405D-AEF5-A6248C898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671" y="2543589"/>
            <a:ext cx="7414590" cy="36385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E47F5E-42A4-405F-9633-3FCB24126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CBA90940-9BF3-4F06-81B7-02AF05FBF902}"/>
              </a:ext>
            </a:extLst>
          </p:cNvPr>
          <p:cNvSpPr txBox="1">
            <a:spLocks/>
          </p:cNvSpPr>
          <p:nvPr/>
        </p:nvSpPr>
        <p:spPr>
          <a:xfrm>
            <a:off x="7483152" y="6492875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IT22559968|  </a:t>
            </a:r>
            <a:r>
              <a:rPr lang="en-US" sz="2000" b="1" dirty="0" err="1"/>
              <a:t>Diwyangi</a:t>
            </a:r>
            <a:r>
              <a:rPr lang="en-US" sz="2000" b="1" dirty="0"/>
              <a:t> D.H.S| R26-IT-051</a:t>
            </a:r>
          </a:p>
        </p:txBody>
      </p:sp>
    </p:spTree>
    <p:extLst>
      <p:ext uri="{BB962C8B-B14F-4D97-AF65-F5344CB8AC3E}">
        <p14:creationId xmlns:p14="http://schemas.microsoft.com/office/powerpoint/2010/main" val="2722103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8F05BD3-F43C-4B27-960A-B9F79A91A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21" y="336884"/>
            <a:ext cx="11566357" cy="57591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EC9EBE-3912-4343-9658-D0DFE2652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A476DED2-898B-4DBA-A2E8-4A2CC7735CFF}"/>
              </a:ext>
            </a:extLst>
          </p:cNvPr>
          <p:cNvSpPr txBox="1">
            <a:spLocks/>
          </p:cNvSpPr>
          <p:nvPr/>
        </p:nvSpPr>
        <p:spPr>
          <a:xfrm>
            <a:off x="7483152" y="6492875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IT22559968|  </a:t>
            </a:r>
            <a:r>
              <a:rPr lang="en-US" sz="2000" b="1" dirty="0" err="1"/>
              <a:t>Diwyangi</a:t>
            </a:r>
            <a:r>
              <a:rPr lang="en-US" sz="2000" b="1" dirty="0"/>
              <a:t> D.H.S| R26-IT-051</a:t>
            </a:r>
          </a:p>
        </p:txBody>
      </p:sp>
    </p:spTree>
    <p:extLst>
      <p:ext uri="{BB962C8B-B14F-4D97-AF65-F5344CB8AC3E}">
        <p14:creationId xmlns:p14="http://schemas.microsoft.com/office/powerpoint/2010/main" val="4231079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5F235-2704-42B0-90DD-BA61C4CED841}"/>
              </a:ext>
            </a:extLst>
          </p:cNvPr>
          <p:cNvSpPr/>
          <p:nvPr/>
        </p:nvSpPr>
        <p:spPr>
          <a:xfrm>
            <a:off x="1729340" y="758149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3864"/>
                </a:solidFill>
              </a:rPr>
              <a:t>Dynamic Environmental Risk Map</a:t>
            </a:r>
            <a:endParaRPr lang="en-US"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9C1CE3-6935-4163-828B-B9370EDA0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958" y="2030142"/>
            <a:ext cx="10098505" cy="39535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3793BE-9E2E-4591-B207-8C0491A9C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679BA8F0-C08D-4520-A381-F4A08F2823F0}"/>
              </a:ext>
            </a:extLst>
          </p:cNvPr>
          <p:cNvSpPr txBox="1">
            <a:spLocks/>
          </p:cNvSpPr>
          <p:nvPr/>
        </p:nvSpPr>
        <p:spPr>
          <a:xfrm>
            <a:off x="7483152" y="6492875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IT22559968|  </a:t>
            </a:r>
            <a:r>
              <a:rPr lang="en-US" sz="2000" b="1" dirty="0" err="1"/>
              <a:t>Diwyangi</a:t>
            </a:r>
            <a:r>
              <a:rPr lang="en-US" sz="2000" b="1" dirty="0"/>
              <a:t> D.H.S| R26-IT-051</a:t>
            </a:r>
          </a:p>
        </p:txBody>
      </p:sp>
    </p:spTree>
    <p:extLst>
      <p:ext uri="{BB962C8B-B14F-4D97-AF65-F5344CB8AC3E}">
        <p14:creationId xmlns:p14="http://schemas.microsoft.com/office/powerpoint/2010/main" val="3597394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E68CEA-48AE-4E7D-8A7B-414C99090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63" y="160421"/>
            <a:ext cx="10716126" cy="58553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F7B6AE-8B44-484B-BC96-8F4EA707D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FA2A0796-144E-4906-9579-57B8352DC425}"/>
              </a:ext>
            </a:extLst>
          </p:cNvPr>
          <p:cNvSpPr txBox="1">
            <a:spLocks/>
          </p:cNvSpPr>
          <p:nvPr/>
        </p:nvSpPr>
        <p:spPr>
          <a:xfrm>
            <a:off x="7483152" y="6492875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IT22559968|  </a:t>
            </a:r>
            <a:r>
              <a:rPr lang="en-US" sz="2000" b="1" dirty="0" err="1"/>
              <a:t>Diwyangi</a:t>
            </a:r>
            <a:r>
              <a:rPr lang="en-US" sz="2000" b="1" dirty="0"/>
              <a:t> D.H.S| R26-IT-051</a:t>
            </a:r>
          </a:p>
        </p:txBody>
      </p:sp>
    </p:spTree>
    <p:extLst>
      <p:ext uri="{BB962C8B-B14F-4D97-AF65-F5344CB8AC3E}">
        <p14:creationId xmlns:p14="http://schemas.microsoft.com/office/powerpoint/2010/main" val="63808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E79DBF-8EA3-420C-A7FA-C07C35A7106C}"/>
              </a:ext>
            </a:extLst>
          </p:cNvPr>
          <p:cNvSpPr/>
          <p:nvPr/>
        </p:nvSpPr>
        <p:spPr>
          <a:xfrm>
            <a:off x="3164987" y="372798"/>
            <a:ext cx="557338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rgbClr val="1F3864"/>
                </a:solidFill>
              </a:rPr>
              <a:t>Smart Safety Zone </a:t>
            </a:r>
            <a:endParaRPr lang="en-US"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13CC5B-8268-4A75-B77D-7488F6E57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38" y="1524000"/>
            <a:ext cx="11758862" cy="47163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3D230A-D1EC-4BFE-9D5A-8441367E1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44776597-180C-4F27-9D5B-C140B572986D}"/>
              </a:ext>
            </a:extLst>
          </p:cNvPr>
          <p:cNvSpPr txBox="1">
            <a:spLocks/>
          </p:cNvSpPr>
          <p:nvPr/>
        </p:nvSpPr>
        <p:spPr>
          <a:xfrm>
            <a:off x="7483152" y="6492875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IT22559968|  </a:t>
            </a:r>
            <a:r>
              <a:rPr lang="en-US" sz="2000" b="1" dirty="0" err="1"/>
              <a:t>Diwyangi</a:t>
            </a:r>
            <a:r>
              <a:rPr lang="en-US" sz="2000" b="1" dirty="0"/>
              <a:t> D.H.S| R26-IT-051</a:t>
            </a:r>
          </a:p>
        </p:txBody>
      </p:sp>
    </p:spTree>
    <p:extLst>
      <p:ext uri="{BB962C8B-B14F-4D97-AF65-F5344CB8AC3E}">
        <p14:creationId xmlns:p14="http://schemas.microsoft.com/office/powerpoint/2010/main" val="75663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072735-1F93-4FDA-86B4-1BBC6F2B1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324" y="128338"/>
            <a:ext cx="7925251" cy="60639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EFA71F-A917-4B7F-A672-0D9CF0C92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9AD5828-2EAA-42D3-800A-EEC79976499B}"/>
              </a:ext>
            </a:extLst>
          </p:cNvPr>
          <p:cNvSpPr txBox="1">
            <a:spLocks/>
          </p:cNvSpPr>
          <p:nvPr/>
        </p:nvSpPr>
        <p:spPr>
          <a:xfrm>
            <a:off x="7483152" y="6492875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IT22559968|  </a:t>
            </a:r>
            <a:r>
              <a:rPr lang="en-US" sz="2000" b="1" dirty="0" err="1"/>
              <a:t>Diwyangi</a:t>
            </a:r>
            <a:r>
              <a:rPr lang="en-US" sz="2000" b="1" dirty="0"/>
              <a:t> D.H.S| R26-IT-051</a:t>
            </a:r>
          </a:p>
        </p:txBody>
      </p:sp>
    </p:spTree>
    <p:extLst>
      <p:ext uri="{BB962C8B-B14F-4D97-AF65-F5344CB8AC3E}">
        <p14:creationId xmlns:p14="http://schemas.microsoft.com/office/powerpoint/2010/main" val="1534484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CD60C1-4367-4561-ADD3-1D16588C8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3D7C7FE4-A4C4-4B7E-9B73-5488DD3B60B9}"/>
              </a:ext>
            </a:extLst>
          </p:cNvPr>
          <p:cNvSpPr txBox="1">
            <a:spLocks/>
          </p:cNvSpPr>
          <p:nvPr/>
        </p:nvSpPr>
        <p:spPr>
          <a:xfrm>
            <a:off x="7483152" y="6492875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IT22559968|  </a:t>
            </a:r>
            <a:r>
              <a:rPr lang="en-US" sz="2000" b="1" dirty="0" err="1"/>
              <a:t>Diwyangi</a:t>
            </a:r>
            <a:r>
              <a:rPr lang="en-US" sz="2000" b="1" dirty="0"/>
              <a:t> D.H.S| R26-IT-051</a:t>
            </a:r>
          </a:p>
        </p:txBody>
      </p:sp>
      <p:sp>
        <p:nvSpPr>
          <p:cNvPr id="6" name="AutoShape 2" descr="Smart safety zone system architecture">
            <a:extLst>
              <a:ext uri="{FF2B5EF4-FFF2-40B4-BE49-F238E27FC236}">
                <a16:creationId xmlns:a16="http://schemas.microsoft.com/office/drawing/2014/main" id="{71B850CD-4CED-4479-9DF7-4F5223DA6B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08429" y="3276599"/>
            <a:ext cx="2439971" cy="24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3665BD-6E33-493B-BAE5-8E7957CAB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555" y="311086"/>
            <a:ext cx="9581585" cy="567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72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4F134-17BD-DB65-DB81-C50AA9EC8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95FCF9-481A-80D7-488F-F1B9B4402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CFA8EE3-E785-0376-CDF6-1B6D5C7317A3}"/>
              </a:ext>
            </a:extLst>
          </p:cNvPr>
          <p:cNvSpPr txBox="1">
            <a:spLocks/>
          </p:cNvSpPr>
          <p:nvPr/>
        </p:nvSpPr>
        <p:spPr>
          <a:xfrm>
            <a:off x="7294466" y="6463847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IT22227690|  Divyanjalie W.A.H| R26-IT-051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27E832-27BE-BB97-D845-04A4D9CE1C34}"/>
              </a:ext>
            </a:extLst>
          </p:cNvPr>
          <p:cNvSpPr txBox="1"/>
          <p:nvPr/>
        </p:nvSpPr>
        <p:spPr>
          <a:xfrm>
            <a:off x="1645920" y="1658143"/>
            <a:ext cx="8097012" cy="667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latin typeface="Urbanist"/>
                <a:ea typeface="Urbanist"/>
                <a:cs typeface="Urbanist"/>
                <a:sym typeface="Urbanist"/>
              </a:rPr>
              <a:t>Intelligent Monitoring Dashboard</a:t>
            </a:r>
            <a:endParaRPr 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2E0EBD-32C3-A207-2DFC-C09876FF8381}"/>
              </a:ext>
            </a:extLst>
          </p:cNvPr>
          <p:cNvSpPr txBox="1"/>
          <p:nvPr/>
        </p:nvSpPr>
        <p:spPr>
          <a:xfrm>
            <a:off x="1155954" y="2325826"/>
            <a:ext cx="9880092" cy="46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latin typeface="Urbanist"/>
                <a:ea typeface="Urbanist"/>
                <a:cs typeface="Urbanist"/>
                <a:sym typeface="Urbanist"/>
              </a:rPr>
              <a:t>Component 3: Advanced Visualization &amp; Decision Support System for Hospital Clinical Staff.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B175B5-44DA-84EB-1873-209E2672DFBA}"/>
              </a:ext>
            </a:extLst>
          </p:cNvPr>
          <p:cNvSpPr txBox="1"/>
          <p:nvPr/>
        </p:nvSpPr>
        <p:spPr>
          <a:xfrm>
            <a:off x="-1101852" y="5239342"/>
            <a:ext cx="6391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latin typeface="Urbanist Medium"/>
                <a:ea typeface="Urbanist Medium"/>
                <a:cs typeface="Urbanist Medium"/>
                <a:sym typeface="Urbanist Medium"/>
              </a:rPr>
              <a:t>Strategic Objective</a:t>
            </a:r>
            <a:endParaRPr lang="en-US" sz="1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968718-DBA7-8BD4-8F05-370AC7F0E24E}"/>
              </a:ext>
            </a:extLst>
          </p:cNvPr>
          <p:cNvSpPr txBox="1"/>
          <p:nvPr/>
        </p:nvSpPr>
        <p:spPr>
          <a:xfrm>
            <a:off x="897636" y="5590386"/>
            <a:ext cx="10396728" cy="38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latin typeface="Urbanist"/>
                <a:ea typeface="Urbanist"/>
                <a:cs typeface="Urbanist"/>
                <a:sym typeface="Urbanist"/>
              </a:rPr>
              <a:t>Bridging the gap between AI-driven Gait Analysis and actionable Clinical Intervention through a high-fidelity monitoring interface.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72227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7EAC7-857D-315A-7CBB-D899883B6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75FE99-EC23-0138-A5F0-26CEE2443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CA0DBF13-25FC-D014-646C-C6702AE14C84}"/>
              </a:ext>
            </a:extLst>
          </p:cNvPr>
          <p:cNvSpPr txBox="1">
            <a:spLocks/>
          </p:cNvSpPr>
          <p:nvPr/>
        </p:nvSpPr>
        <p:spPr>
          <a:xfrm>
            <a:off x="7170381" y="6393016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IT22227690|  Divyanjalie W.A.H | R26-IT-051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0BC2E4-1916-37C7-6A85-4658230BFE16}"/>
              </a:ext>
            </a:extLst>
          </p:cNvPr>
          <p:cNvSpPr txBox="1"/>
          <p:nvPr/>
        </p:nvSpPr>
        <p:spPr>
          <a:xfrm>
            <a:off x="3425825" y="739706"/>
            <a:ext cx="6394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latin typeface="Urbanist Medium"/>
                <a:ea typeface="Urbanist Medium"/>
                <a:cs typeface="Urbanist Medium"/>
                <a:sym typeface="Urbanist Medium"/>
              </a:rPr>
              <a:t>Primary User: Hospital Staff</a:t>
            </a:r>
            <a:endParaRPr lang="en-US" sz="2800" b="1" dirty="0"/>
          </a:p>
        </p:txBody>
      </p:sp>
      <p:pic>
        <p:nvPicPr>
          <p:cNvPr id="6" name="Google Shape;106;p15" descr="image.png">
            <a:extLst>
              <a:ext uri="{FF2B5EF4-FFF2-40B4-BE49-F238E27FC236}">
                <a16:creationId xmlns:a16="http://schemas.microsoft.com/office/drawing/2014/main" id="{0F708F6A-9F27-3CA5-9755-B80E0A689D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1794391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01;p15">
            <a:extLst>
              <a:ext uri="{FF2B5EF4-FFF2-40B4-BE49-F238E27FC236}">
                <a16:creationId xmlns:a16="http://schemas.microsoft.com/office/drawing/2014/main" id="{112C6E94-A5FC-181B-CAF0-D4A29C9ABDF9}"/>
              </a:ext>
            </a:extLst>
          </p:cNvPr>
          <p:cNvSpPr txBox="1"/>
          <p:nvPr/>
        </p:nvSpPr>
        <p:spPr>
          <a:xfrm>
            <a:off x="571500" y="288518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latin typeface="Urbanist"/>
                <a:ea typeface="Urbanist"/>
                <a:cs typeface="Urbanist"/>
                <a:sym typeface="Urbanist"/>
              </a:rPr>
              <a:t>Designed for Clinicians</a:t>
            </a:r>
            <a:endParaRPr/>
          </a:p>
        </p:txBody>
      </p:sp>
      <p:sp>
        <p:nvSpPr>
          <p:cNvPr id="10" name="Google Shape;102;p15">
            <a:extLst>
              <a:ext uri="{FF2B5EF4-FFF2-40B4-BE49-F238E27FC236}">
                <a16:creationId xmlns:a16="http://schemas.microsoft.com/office/drawing/2014/main" id="{0F60BF30-435E-1A18-856D-BA5DBCDA4C29}"/>
              </a:ext>
            </a:extLst>
          </p:cNvPr>
          <p:cNvSpPr txBox="1"/>
          <p:nvPr/>
        </p:nvSpPr>
        <p:spPr>
          <a:xfrm>
            <a:off x="809625" y="3351907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latin typeface="Urbanist"/>
                <a:ea typeface="Urbanist"/>
                <a:cs typeface="Urbanist"/>
                <a:sym typeface="Urbanist"/>
              </a:rPr>
              <a:t>Real-time monitoring of multiple patient wards.</a:t>
            </a:r>
            <a:endParaRPr dirty="0"/>
          </a:p>
        </p:txBody>
      </p:sp>
      <p:sp>
        <p:nvSpPr>
          <p:cNvPr id="12" name="Google Shape;103;p15">
            <a:extLst>
              <a:ext uri="{FF2B5EF4-FFF2-40B4-BE49-F238E27FC236}">
                <a16:creationId xmlns:a16="http://schemas.microsoft.com/office/drawing/2014/main" id="{D40272AE-23A3-D269-8CDD-DFABD15877A6}"/>
              </a:ext>
            </a:extLst>
          </p:cNvPr>
          <p:cNvSpPr txBox="1"/>
          <p:nvPr/>
        </p:nvSpPr>
        <p:spPr>
          <a:xfrm>
            <a:off x="809625" y="3740497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latin typeface="Urbanist"/>
                <a:ea typeface="Urbanist"/>
                <a:cs typeface="Urbanist"/>
                <a:sym typeface="Urbanist"/>
              </a:rPr>
              <a:t>Detailed Gait parameters for professional diagnosis.</a:t>
            </a:r>
            <a:endParaRPr/>
          </a:p>
        </p:txBody>
      </p:sp>
      <p:sp>
        <p:nvSpPr>
          <p:cNvPr id="14" name="Google Shape;104;p15">
            <a:extLst>
              <a:ext uri="{FF2B5EF4-FFF2-40B4-BE49-F238E27FC236}">
                <a16:creationId xmlns:a16="http://schemas.microsoft.com/office/drawing/2014/main" id="{896AD227-617C-B9D9-616A-9823BE2822D3}"/>
              </a:ext>
            </a:extLst>
          </p:cNvPr>
          <p:cNvSpPr txBox="1"/>
          <p:nvPr/>
        </p:nvSpPr>
        <p:spPr>
          <a:xfrm>
            <a:off x="809625" y="4129087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latin typeface="Urbanist"/>
                <a:ea typeface="Urbanist"/>
                <a:cs typeface="Urbanist"/>
                <a:sym typeface="Urbanist"/>
              </a:rPr>
              <a:t>High-priority visual and audible alerts for fall risks.</a:t>
            </a:r>
            <a:endParaRPr/>
          </a:p>
        </p:txBody>
      </p:sp>
      <p:sp>
        <p:nvSpPr>
          <p:cNvPr id="15" name="Google Shape;105;p15">
            <a:extLst>
              <a:ext uri="{FF2B5EF4-FFF2-40B4-BE49-F238E27FC236}">
                <a16:creationId xmlns:a16="http://schemas.microsoft.com/office/drawing/2014/main" id="{40A24541-5AC6-16DA-2EB2-FDFC7FAC86B2}"/>
              </a:ext>
            </a:extLst>
          </p:cNvPr>
          <p:cNvSpPr txBox="1"/>
          <p:nvPr/>
        </p:nvSpPr>
        <p:spPr>
          <a:xfrm>
            <a:off x="809625" y="4517677"/>
            <a:ext cx="50006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latin typeface="Urbanist"/>
                <a:ea typeface="Urbanist"/>
                <a:cs typeface="Urbanist"/>
                <a:sym typeface="Urbanist"/>
              </a:rPr>
              <a:t>Intuitive design to reduce cognitive load on nurses.</a:t>
            </a:r>
            <a:endParaRPr dirty="0"/>
          </a:p>
        </p:txBody>
      </p:sp>
      <p:sp>
        <p:nvSpPr>
          <p:cNvPr id="16" name="Google Shape;107;p15">
            <a:extLst>
              <a:ext uri="{FF2B5EF4-FFF2-40B4-BE49-F238E27FC236}">
                <a16:creationId xmlns:a16="http://schemas.microsoft.com/office/drawing/2014/main" id="{4B75E527-2C71-B87F-FADC-678A1A5A27F0}"/>
              </a:ext>
            </a:extLst>
          </p:cNvPr>
          <p:cNvSpPr txBox="1"/>
          <p:nvPr/>
        </p:nvSpPr>
        <p:spPr>
          <a:xfrm>
            <a:off x="571500" y="3304282"/>
            <a:ext cx="381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" name="Google Shape;110;p15">
            <a:extLst>
              <a:ext uri="{FF2B5EF4-FFF2-40B4-BE49-F238E27FC236}">
                <a16:creationId xmlns:a16="http://schemas.microsoft.com/office/drawing/2014/main" id="{DC0567CA-4618-569A-6CCE-AE97CF336C44}"/>
              </a:ext>
            </a:extLst>
          </p:cNvPr>
          <p:cNvSpPr txBox="1"/>
          <p:nvPr/>
        </p:nvSpPr>
        <p:spPr>
          <a:xfrm>
            <a:off x="571500" y="4470052"/>
            <a:ext cx="381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4F917F-027E-B861-50DD-131BBDB26404}"/>
              </a:ext>
            </a:extLst>
          </p:cNvPr>
          <p:cNvSpPr txBox="1"/>
          <p:nvPr/>
        </p:nvSpPr>
        <p:spPr>
          <a:xfrm>
            <a:off x="483870" y="3645237"/>
            <a:ext cx="6393180" cy="48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latin typeface="Urbanist"/>
                <a:ea typeface="Urbanist"/>
                <a:cs typeface="Urbanist"/>
                <a:sym typeface="Urbanist"/>
              </a:rPr>
              <a:t>•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32EB6D-143C-1D9A-B986-9FDF4D045DC9}"/>
              </a:ext>
            </a:extLst>
          </p:cNvPr>
          <p:cNvSpPr txBox="1"/>
          <p:nvPr/>
        </p:nvSpPr>
        <p:spPr>
          <a:xfrm>
            <a:off x="483870" y="4010967"/>
            <a:ext cx="6393180" cy="48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latin typeface="Urbanist"/>
                <a:ea typeface="Urbanist"/>
                <a:cs typeface="Urbanist"/>
                <a:sym typeface="Urbanist"/>
              </a:rPr>
              <a:t>•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627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49566-2953-CDBE-62F3-405E5597D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41F882-72F2-5617-98F2-EC1205B6C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4A039429-1077-02D1-1B30-ADA774A0DD86}"/>
              </a:ext>
            </a:extLst>
          </p:cNvPr>
          <p:cNvSpPr txBox="1">
            <a:spLocks/>
          </p:cNvSpPr>
          <p:nvPr/>
        </p:nvSpPr>
        <p:spPr>
          <a:xfrm>
            <a:off x="7294466" y="6463847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IT22227690|  Divyanjalie W.A.H| R26-IT-051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F7DA35-60BE-7C69-A690-6B02E18E1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70" y="485364"/>
            <a:ext cx="11888859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114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566EA-7CAB-6972-F35D-0FD7EC8E9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C3D2F4-5FE0-511B-5344-2CB0A8B8C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27376E0A-FD89-5E95-34C7-0DA39156B478}"/>
              </a:ext>
            </a:extLst>
          </p:cNvPr>
          <p:cNvSpPr txBox="1">
            <a:spLocks/>
          </p:cNvSpPr>
          <p:nvPr/>
        </p:nvSpPr>
        <p:spPr>
          <a:xfrm>
            <a:off x="7294466" y="6463847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IT22227690|  Divyanjalie W.A.H| R26-IT-051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3E739C-D61F-175D-8F54-61F40F17FDA1}"/>
              </a:ext>
            </a:extLst>
          </p:cNvPr>
          <p:cNvSpPr txBox="1"/>
          <p:nvPr/>
        </p:nvSpPr>
        <p:spPr>
          <a:xfrm>
            <a:off x="3340100" y="577334"/>
            <a:ext cx="629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latin typeface="Urbanist Medium"/>
                <a:ea typeface="Urbanist Medium"/>
                <a:cs typeface="Urbanist Medium"/>
                <a:sym typeface="Urbanist Medium"/>
              </a:rPr>
              <a:t>Core Dashboard Pillars</a:t>
            </a:r>
            <a:endParaRPr lang="en-US" sz="2800" b="1" dirty="0"/>
          </a:p>
        </p:txBody>
      </p:sp>
      <p:pic>
        <p:nvPicPr>
          <p:cNvPr id="21" name="Google Shape;117;p16" descr="image.png">
            <a:extLst>
              <a:ext uri="{FF2B5EF4-FFF2-40B4-BE49-F238E27FC236}">
                <a16:creationId xmlns:a16="http://schemas.microsoft.com/office/drawing/2014/main" id="{865CC7C0-1F58-5018-FC6F-BC55333B0A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38400"/>
            <a:ext cx="3492549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18;p16" descr="image.png">
            <a:extLst>
              <a:ext uri="{FF2B5EF4-FFF2-40B4-BE49-F238E27FC236}">
                <a16:creationId xmlns:a16="http://schemas.microsoft.com/office/drawing/2014/main" id="{1882F9A2-816D-DBB2-B119-8598D93E2D3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438400"/>
            <a:ext cx="3492549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19;p16" descr="image.png">
            <a:extLst>
              <a:ext uri="{FF2B5EF4-FFF2-40B4-BE49-F238E27FC236}">
                <a16:creationId xmlns:a16="http://schemas.microsoft.com/office/drawing/2014/main" id="{7F3D76BA-B0FD-55D8-4796-9E44FD11AC6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438400"/>
            <a:ext cx="3492549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20;p16" descr="image.png">
            <a:extLst>
              <a:ext uri="{FF2B5EF4-FFF2-40B4-BE49-F238E27FC236}">
                <a16:creationId xmlns:a16="http://schemas.microsoft.com/office/drawing/2014/main" id="{456A2413-95C4-F8F8-4633-7869796B192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8289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21;p16">
            <a:extLst>
              <a:ext uri="{FF2B5EF4-FFF2-40B4-BE49-F238E27FC236}">
                <a16:creationId xmlns:a16="http://schemas.microsoft.com/office/drawing/2014/main" id="{92657CBF-F3CE-4E8A-7BD2-8E164486027B}"/>
              </a:ext>
            </a:extLst>
          </p:cNvPr>
          <p:cNvSpPr txBox="1"/>
          <p:nvPr/>
        </p:nvSpPr>
        <p:spPr>
          <a:xfrm>
            <a:off x="962025" y="3638550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Live Risk Meter</a:t>
            </a:r>
            <a:endParaRPr dirty="0"/>
          </a:p>
        </p:txBody>
      </p:sp>
      <p:sp>
        <p:nvSpPr>
          <p:cNvPr id="26" name="Google Shape;122;p16">
            <a:extLst>
              <a:ext uri="{FF2B5EF4-FFF2-40B4-BE49-F238E27FC236}">
                <a16:creationId xmlns:a16="http://schemas.microsoft.com/office/drawing/2014/main" id="{73804A31-5AFF-B138-A9DB-EB88E82231F2}"/>
              </a:ext>
            </a:extLst>
          </p:cNvPr>
          <p:cNvSpPr txBox="1"/>
          <p:nvPr/>
        </p:nvSpPr>
        <p:spPr>
          <a:xfrm>
            <a:off x="962025" y="4105275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Real-time probability score derived from Single-Sensor IMU data streams.</a:t>
            </a:r>
            <a:endParaRPr dirty="0"/>
          </a:p>
        </p:txBody>
      </p:sp>
      <p:pic>
        <p:nvPicPr>
          <p:cNvPr id="27" name="Google Shape;123;p16" descr="image.png">
            <a:extLst>
              <a:ext uri="{FF2B5EF4-FFF2-40B4-BE49-F238E27FC236}">
                <a16:creationId xmlns:a16="http://schemas.microsoft.com/office/drawing/2014/main" id="{CF31F12D-7203-9B43-1C23-DE0C6F6F971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40324" y="28289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124;p16">
            <a:extLst>
              <a:ext uri="{FF2B5EF4-FFF2-40B4-BE49-F238E27FC236}">
                <a16:creationId xmlns:a16="http://schemas.microsoft.com/office/drawing/2014/main" id="{BC375A87-00C5-114A-0178-BA0D0F757E94}"/>
              </a:ext>
            </a:extLst>
          </p:cNvPr>
          <p:cNvSpPr txBox="1"/>
          <p:nvPr/>
        </p:nvSpPr>
        <p:spPr>
          <a:xfrm>
            <a:off x="4740324" y="3638550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Gait Analytics</a:t>
            </a:r>
            <a:endParaRPr dirty="0"/>
          </a:p>
        </p:txBody>
      </p:sp>
      <p:sp>
        <p:nvSpPr>
          <p:cNvPr id="29" name="Google Shape;125;p16">
            <a:extLst>
              <a:ext uri="{FF2B5EF4-FFF2-40B4-BE49-F238E27FC236}">
                <a16:creationId xmlns:a16="http://schemas.microsoft.com/office/drawing/2014/main" id="{EB40104F-8075-7DAA-0410-6AD7B602D5EA}"/>
              </a:ext>
            </a:extLst>
          </p:cNvPr>
          <p:cNvSpPr txBox="1"/>
          <p:nvPr/>
        </p:nvSpPr>
        <p:spPr>
          <a:xfrm>
            <a:off x="4740324" y="4105275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Visualization of Tilt, Balance, and Speed metrics for clinical deep-dives.</a:t>
            </a:r>
            <a:endParaRPr/>
          </a:p>
        </p:txBody>
      </p:sp>
      <p:pic>
        <p:nvPicPr>
          <p:cNvPr id="30" name="Google Shape;126;p16" descr="image.png">
            <a:extLst>
              <a:ext uri="{FF2B5EF4-FFF2-40B4-BE49-F238E27FC236}">
                <a16:creationId xmlns:a16="http://schemas.microsoft.com/office/drawing/2014/main" id="{B577E004-8EBB-0C65-3EEE-ABD779E0DCB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8624" y="28289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127;p16">
            <a:extLst>
              <a:ext uri="{FF2B5EF4-FFF2-40B4-BE49-F238E27FC236}">
                <a16:creationId xmlns:a16="http://schemas.microsoft.com/office/drawing/2014/main" id="{2ACCCAE8-9382-FC6B-5401-BAFAA4C895AC}"/>
              </a:ext>
            </a:extLst>
          </p:cNvPr>
          <p:cNvSpPr txBox="1"/>
          <p:nvPr/>
        </p:nvSpPr>
        <p:spPr>
          <a:xfrm>
            <a:off x="8518624" y="3638550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XAI Engine</a:t>
            </a:r>
            <a:endParaRPr/>
          </a:p>
        </p:txBody>
      </p:sp>
      <p:sp>
        <p:nvSpPr>
          <p:cNvPr id="32" name="Google Shape;128;p16">
            <a:extLst>
              <a:ext uri="{FF2B5EF4-FFF2-40B4-BE49-F238E27FC236}">
                <a16:creationId xmlns:a16="http://schemas.microsoft.com/office/drawing/2014/main" id="{F7443D10-9810-4024-3BE0-95AC04675688}"/>
              </a:ext>
            </a:extLst>
          </p:cNvPr>
          <p:cNvSpPr txBox="1"/>
          <p:nvPr/>
        </p:nvSpPr>
        <p:spPr>
          <a:xfrm>
            <a:off x="8518624" y="4105275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Explainable AI insights providing the "Why" behind every high-risk prediction.</a:t>
            </a:r>
            <a:endParaRPr/>
          </a:p>
        </p:txBody>
      </p:sp>
      <p:pic>
        <p:nvPicPr>
          <p:cNvPr id="33" name="Google Shape;129;p16" descr="image.png">
            <a:extLst>
              <a:ext uri="{FF2B5EF4-FFF2-40B4-BE49-F238E27FC236}">
                <a16:creationId xmlns:a16="http://schemas.microsoft.com/office/drawing/2014/main" id="{39055F4D-392E-7262-29C1-7EA7F3AB97D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33475" y="30003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30;p16" descr="image.png">
            <a:extLst>
              <a:ext uri="{FF2B5EF4-FFF2-40B4-BE49-F238E27FC236}">
                <a16:creationId xmlns:a16="http://schemas.microsoft.com/office/drawing/2014/main" id="{F053ECCE-B8EA-1C86-CF5D-BB67A764F2C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11774" y="30003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131;p16" descr="image.png">
            <a:extLst>
              <a:ext uri="{FF2B5EF4-FFF2-40B4-BE49-F238E27FC236}">
                <a16:creationId xmlns:a16="http://schemas.microsoft.com/office/drawing/2014/main" id="{D8F288B2-A71B-33E6-5D01-147D35358224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75786" y="3000375"/>
            <a:ext cx="257175" cy="22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06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F04E5-A795-4FF3-FC7B-64675592C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618204-AEF5-D894-F29E-35CB73C86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593C1EB-9458-7EA8-1166-FAAF93F8D045}"/>
              </a:ext>
            </a:extLst>
          </p:cNvPr>
          <p:cNvSpPr txBox="1">
            <a:spLocks/>
          </p:cNvSpPr>
          <p:nvPr/>
        </p:nvSpPr>
        <p:spPr>
          <a:xfrm>
            <a:off x="7294466" y="6463847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IT22227690|  Divyanjalie W.A.H| R26-IT-051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BEBEE2-C544-D6DB-5837-041EA2F742EF}"/>
              </a:ext>
            </a:extLst>
          </p:cNvPr>
          <p:cNvSpPr txBox="1"/>
          <p:nvPr/>
        </p:nvSpPr>
        <p:spPr>
          <a:xfrm>
            <a:off x="177800" y="1269976"/>
            <a:ext cx="629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latin typeface="Urbanist Medium"/>
                <a:ea typeface="Urbanist Medium"/>
                <a:cs typeface="Urbanist Medium"/>
                <a:sym typeface="Urbanist Medium"/>
              </a:rPr>
              <a:t>Centralized Ward View</a:t>
            </a:r>
            <a:endParaRPr lang="en-US" sz="2800" b="1" dirty="0"/>
          </a:p>
        </p:txBody>
      </p:sp>
      <p:pic>
        <p:nvPicPr>
          <p:cNvPr id="6" name="Google Shape;140;p17" descr="image.png">
            <a:extLst>
              <a:ext uri="{FF2B5EF4-FFF2-40B4-BE49-F238E27FC236}">
                <a16:creationId xmlns:a16="http://schemas.microsoft.com/office/drawing/2014/main" id="{A92DF760-441C-B457-5F5C-3FCA5D9126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C202C7-8278-3433-0035-42F171AFFFC4}"/>
              </a:ext>
            </a:extLst>
          </p:cNvPr>
          <p:cNvSpPr txBox="1"/>
          <p:nvPr/>
        </p:nvSpPr>
        <p:spPr>
          <a:xfrm>
            <a:off x="44450" y="2352395"/>
            <a:ext cx="6299200" cy="3235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700" b="0" i="0" u="none" strike="noStrike" cap="none" dirty="0">
                <a:latin typeface="Urbanist"/>
                <a:ea typeface="Urbanist"/>
                <a:cs typeface="Urbanist"/>
                <a:sym typeface="Urbanist"/>
              </a:rPr>
              <a:t>The ward-level monitoring interface allows nursing staff to oversee all patients simultaneously. 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</a:pPr>
            <a:endParaRPr lang="en-US" sz="1800" dirty="0">
              <a:latin typeface="Urbanist"/>
              <a:ea typeface="Urbanist"/>
              <a:cs typeface="Urbanist"/>
              <a:sym typeface="Urbanist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700" b="0" i="0" u="none" strike="noStrike" cap="none" dirty="0">
                <a:latin typeface="Urbanist"/>
                <a:ea typeface="Urbanist"/>
                <a:cs typeface="Urbanist"/>
                <a:sym typeface="Urbanist"/>
              </a:rPr>
              <a:t>High-risk candidates are automatically moved to the top of the grid with distinct visual warnings.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sz="1800" b="0" i="0" u="none" strike="noStrike" cap="none" dirty="0">
              <a:latin typeface="Urbanist"/>
              <a:ea typeface="Urbanist"/>
              <a:cs typeface="Urbanist"/>
              <a:sym typeface="Urbanist"/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700" dirty="0">
                <a:latin typeface="Urbanist"/>
                <a:ea typeface="Urbanist"/>
                <a:cs typeface="Urbanist"/>
                <a:sym typeface="Urbanist"/>
              </a:rPr>
              <a:t>Eliminating the need for manual hourly checks, the system provides 24/7 proactive surveillance.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700453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096DB-9D27-0785-E72A-063211C27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0CD304-FBFC-C9D6-2585-0C704B33C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B3CB26F1-2577-4D2B-5593-A61EE72B8460}"/>
              </a:ext>
            </a:extLst>
          </p:cNvPr>
          <p:cNvSpPr txBox="1">
            <a:spLocks/>
          </p:cNvSpPr>
          <p:nvPr/>
        </p:nvSpPr>
        <p:spPr>
          <a:xfrm>
            <a:off x="7294466" y="6463847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IT22227690|  Divyanjalie W.A.H| R26-IT-051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88BCD-FEE0-69D7-F3C0-FEC3DEF224FA}"/>
              </a:ext>
            </a:extLst>
          </p:cNvPr>
          <p:cNvSpPr txBox="1"/>
          <p:nvPr/>
        </p:nvSpPr>
        <p:spPr>
          <a:xfrm>
            <a:off x="1397000" y="704334"/>
            <a:ext cx="629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latin typeface="Urbanist Medium"/>
                <a:ea typeface="Urbanist Medium"/>
                <a:cs typeface="Urbanist Medium"/>
                <a:sym typeface="Urbanist Medium"/>
              </a:rPr>
              <a:t>Reducing Response Time</a:t>
            </a:r>
            <a:endParaRPr lang="en-US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7B8CC4-E3A3-868D-0976-BCE6F26BA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095" y="1702491"/>
            <a:ext cx="10023809" cy="345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93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33825-8226-6CA5-C7F6-2086AD196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372FFB-30AA-2704-F51D-5E615B8AF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B15276EE-4E0D-1646-CD0A-7714FDCA9F2C}"/>
              </a:ext>
            </a:extLst>
          </p:cNvPr>
          <p:cNvSpPr txBox="1">
            <a:spLocks/>
          </p:cNvSpPr>
          <p:nvPr/>
        </p:nvSpPr>
        <p:spPr>
          <a:xfrm>
            <a:off x="7294466" y="6463847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IT22227690|  Divyanjalie W.A.H| R26-IT-051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9552A7-C4D3-BC5A-A634-17E15581D277}"/>
              </a:ext>
            </a:extLst>
          </p:cNvPr>
          <p:cNvSpPr txBox="1"/>
          <p:nvPr/>
        </p:nvSpPr>
        <p:spPr>
          <a:xfrm>
            <a:off x="581025" y="629716"/>
            <a:ext cx="629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latin typeface="Urbanist Medium"/>
                <a:ea typeface="Urbanist Medium"/>
                <a:cs typeface="Urbanist Medium"/>
                <a:sym typeface="Urbanist Medium"/>
              </a:rPr>
              <a:t>Visualizing Gait Parameters</a:t>
            </a:r>
            <a:endParaRPr lang="en-US" sz="2800" b="1" dirty="0"/>
          </a:p>
        </p:txBody>
      </p:sp>
      <p:sp>
        <p:nvSpPr>
          <p:cNvPr id="6" name="Google Shape;166;p20">
            <a:extLst>
              <a:ext uri="{FF2B5EF4-FFF2-40B4-BE49-F238E27FC236}">
                <a16:creationId xmlns:a16="http://schemas.microsoft.com/office/drawing/2014/main" id="{888CE556-5D3C-964C-6BDD-60CFDDB418DC}"/>
              </a:ext>
            </a:extLst>
          </p:cNvPr>
          <p:cNvSpPr txBox="1"/>
          <p:nvPr/>
        </p:nvSpPr>
        <p:spPr>
          <a:xfrm>
            <a:off x="571500" y="4662487"/>
            <a:ext cx="36671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latin typeface="Urbanist"/>
                <a:ea typeface="Urbanist"/>
                <a:cs typeface="Urbanist"/>
                <a:sym typeface="Urbanist"/>
              </a:rPr>
              <a:t>Signal Analysis</a:t>
            </a:r>
            <a:endParaRPr dirty="0"/>
          </a:p>
        </p:txBody>
      </p:sp>
      <p:sp>
        <p:nvSpPr>
          <p:cNvPr id="7" name="Google Shape;167;p20">
            <a:extLst>
              <a:ext uri="{FF2B5EF4-FFF2-40B4-BE49-F238E27FC236}">
                <a16:creationId xmlns:a16="http://schemas.microsoft.com/office/drawing/2014/main" id="{1FD443C7-B8F4-013F-0F9C-8E4F5AE075A4}"/>
              </a:ext>
            </a:extLst>
          </p:cNvPr>
          <p:cNvSpPr txBox="1"/>
          <p:nvPr/>
        </p:nvSpPr>
        <p:spPr>
          <a:xfrm>
            <a:off x="571500" y="5129212"/>
            <a:ext cx="3492549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latin typeface="Urbanist"/>
                <a:ea typeface="Urbanist"/>
                <a:cs typeface="Urbanist"/>
                <a:sym typeface="Urbanist"/>
              </a:rPr>
              <a:t>Cleaned IMU signal representing walking cadence and rhythm.</a:t>
            </a:r>
            <a:endParaRPr dirty="0"/>
          </a:p>
        </p:txBody>
      </p:sp>
      <p:sp>
        <p:nvSpPr>
          <p:cNvPr id="8" name="Google Shape;168;p20">
            <a:extLst>
              <a:ext uri="{FF2B5EF4-FFF2-40B4-BE49-F238E27FC236}">
                <a16:creationId xmlns:a16="http://schemas.microsoft.com/office/drawing/2014/main" id="{4C5439B6-1E72-D482-CD60-07DC50569F10}"/>
              </a:ext>
            </a:extLst>
          </p:cNvPr>
          <p:cNvSpPr txBox="1"/>
          <p:nvPr/>
        </p:nvSpPr>
        <p:spPr>
          <a:xfrm>
            <a:off x="4349799" y="4662487"/>
            <a:ext cx="36671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latin typeface="Urbanist"/>
                <a:ea typeface="Urbanist"/>
                <a:cs typeface="Urbanist"/>
                <a:sym typeface="Urbanist"/>
              </a:rPr>
              <a:t>Feature Mapping</a:t>
            </a:r>
            <a:endParaRPr dirty="0"/>
          </a:p>
        </p:txBody>
      </p:sp>
      <p:sp>
        <p:nvSpPr>
          <p:cNvPr id="9" name="Google Shape;169;p20">
            <a:extLst>
              <a:ext uri="{FF2B5EF4-FFF2-40B4-BE49-F238E27FC236}">
                <a16:creationId xmlns:a16="http://schemas.microsoft.com/office/drawing/2014/main" id="{4A5A07CE-2F1C-C8C7-72AD-2A8A399BA2AE}"/>
              </a:ext>
            </a:extLst>
          </p:cNvPr>
          <p:cNvSpPr txBox="1"/>
          <p:nvPr/>
        </p:nvSpPr>
        <p:spPr>
          <a:xfrm>
            <a:off x="4349799" y="5129212"/>
            <a:ext cx="3492549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latin typeface="Urbanist"/>
                <a:ea typeface="Urbanist"/>
                <a:cs typeface="Urbanist"/>
                <a:sym typeface="Urbanist"/>
              </a:rPr>
              <a:t>Identifying the specific sensor features contributing to fall risk.</a:t>
            </a:r>
            <a:endParaRPr dirty="0"/>
          </a:p>
        </p:txBody>
      </p:sp>
      <p:sp>
        <p:nvSpPr>
          <p:cNvPr id="10" name="Google Shape;170;p20">
            <a:extLst>
              <a:ext uri="{FF2B5EF4-FFF2-40B4-BE49-F238E27FC236}">
                <a16:creationId xmlns:a16="http://schemas.microsoft.com/office/drawing/2014/main" id="{F98593B6-5704-74EA-AAC4-355EF880D353}"/>
              </a:ext>
            </a:extLst>
          </p:cNvPr>
          <p:cNvSpPr txBox="1"/>
          <p:nvPr/>
        </p:nvSpPr>
        <p:spPr>
          <a:xfrm>
            <a:off x="8128099" y="4662487"/>
            <a:ext cx="366717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latin typeface="Urbanist"/>
                <a:ea typeface="Urbanist"/>
                <a:cs typeface="Urbanist"/>
                <a:sym typeface="Urbanist"/>
              </a:rPr>
              <a:t>Posture Stability</a:t>
            </a:r>
            <a:endParaRPr dirty="0"/>
          </a:p>
        </p:txBody>
      </p:sp>
      <p:sp>
        <p:nvSpPr>
          <p:cNvPr id="11" name="Google Shape;171;p20">
            <a:extLst>
              <a:ext uri="{FF2B5EF4-FFF2-40B4-BE49-F238E27FC236}">
                <a16:creationId xmlns:a16="http://schemas.microsoft.com/office/drawing/2014/main" id="{47632A28-6289-AD80-F0EA-FA952A5DE5D5}"/>
              </a:ext>
            </a:extLst>
          </p:cNvPr>
          <p:cNvSpPr txBox="1"/>
          <p:nvPr/>
        </p:nvSpPr>
        <p:spPr>
          <a:xfrm>
            <a:off x="8128099" y="5129212"/>
            <a:ext cx="3492549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latin typeface="Urbanist"/>
                <a:ea typeface="Urbanist"/>
                <a:cs typeface="Urbanist"/>
                <a:sym typeface="Urbanist"/>
              </a:rPr>
              <a:t>Real-time calculation of Center of Mass (</a:t>
            </a:r>
            <a:r>
              <a:rPr lang="en-US" sz="1500" b="0" i="0" u="none" strike="noStrike" cap="none" dirty="0" err="1">
                <a:latin typeface="Urbanist"/>
                <a:ea typeface="Urbanist"/>
                <a:cs typeface="Urbanist"/>
                <a:sym typeface="Urbanist"/>
              </a:rPr>
              <a:t>CoM</a:t>
            </a:r>
            <a:r>
              <a:rPr lang="en-US" sz="1500" b="0" i="0" u="none" strike="noStrike" cap="none" dirty="0">
                <a:latin typeface="Urbanist"/>
                <a:ea typeface="Urbanist"/>
                <a:cs typeface="Urbanist"/>
                <a:sym typeface="Urbanist"/>
              </a:rPr>
              <a:t>) fluctuations.</a:t>
            </a:r>
            <a:endParaRPr dirty="0"/>
          </a:p>
        </p:txBody>
      </p:sp>
      <p:pic>
        <p:nvPicPr>
          <p:cNvPr id="12" name="Google Shape;172;p20" descr="image.png">
            <a:extLst>
              <a:ext uri="{FF2B5EF4-FFF2-40B4-BE49-F238E27FC236}">
                <a16:creationId xmlns:a16="http://schemas.microsoft.com/office/drawing/2014/main" id="{77FB212D-96FE-6FB3-CEE4-431FBD96205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00262"/>
            <a:ext cx="347349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73;p20" descr="image.png">
            <a:extLst>
              <a:ext uri="{FF2B5EF4-FFF2-40B4-BE49-F238E27FC236}">
                <a16:creationId xmlns:a16="http://schemas.microsoft.com/office/drawing/2014/main" id="{730D06F7-A8BA-30F5-645D-010B3E8232F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9324" y="2100262"/>
            <a:ext cx="347349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74;p20" descr="image.png">
            <a:extLst>
              <a:ext uri="{FF2B5EF4-FFF2-40B4-BE49-F238E27FC236}">
                <a16:creationId xmlns:a16="http://schemas.microsoft.com/office/drawing/2014/main" id="{9F00178E-114F-20C3-03DF-DD2E59C4DBC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37624" y="2100262"/>
            <a:ext cx="3473499" cy="2362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677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CAA40-A441-3D3C-2304-9E014D38B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E8D1A9-2197-FD20-0A97-39CB59150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C04DF202-4881-DB47-80CE-827D62FF41F7}"/>
              </a:ext>
            </a:extLst>
          </p:cNvPr>
          <p:cNvSpPr txBox="1">
            <a:spLocks/>
          </p:cNvSpPr>
          <p:nvPr/>
        </p:nvSpPr>
        <p:spPr>
          <a:xfrm>
            <a:off x="7294466" y="6463847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IT22227690|  Divyanjalie W.A.H| R26-IT-051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A8DAC9-D640-1747-21C0-93F8EDFD8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5440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D2984-F1AE-BCF4-DC11-FC984F698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7E6868-4C2B-1BF6-5226-9329DE9EA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0179B449-F820-C871-79B6-9EB03787E88A}"/>
              </a:ext>
            </a:extLst>
          </p:cNvPr>
          <p:cNvSpPr txBox="1">
            <a:spLocks/>
          </p:cNvSpPr>
          <p:nvPr/>
        </p:nvSpPr>
        <p:spPr>
          <a:xfrm>
            <a:off x="7294466" y="6463847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IT22227690|  Divyanjalie W.A.H| R26-IT-051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5AD63F-F7FB-049D-8D3C-D79116575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92" y="508254"/>
            <a:ext cx="10603992" cy="530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86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08EFB-7C98-94A8-AFE6-21DD8122E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1292A1-25A7-92EC-DBC0-EE5D22632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338D0821-B773-C5AA-2859-303894092140}"/>
              </a:ext>
            </a:extLst>
          </p:cNvPr>
          <p:cNvSpPr txBox="1">
            <a:spLocks/>
          </p:cNvSpPr>
          <p:nvPr/>
        </p:nvSpPr>
        <p:spPr>
          <a:xfrm>
            <a:off x="7294466" y="6463847"/>
            <a:ext cx="5299787" cy="522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IT22227690|  Divyanjalie W.A.H| R26-IT-051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41C501-265D-6B6F-CD57-2AABCF2908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7045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916C14-AD8A-BD44-535B-407C9A3DD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0AD4C53-6E16-A7C1-F10E-04963EF5BEA7}"/>
              </a:ext>
            </a:extLst>
          </p:cNvPr>
          <p:cNvSpPr txBox="1">
            <a:spLocks/>
          </p:cNvSpPr>
          <p:nvPr/>
        </p:nvSpPr>
        <p:spPr>
          <a:xfrm>
            <a:off x="7049730" y="6492875"/>
            <a:ext cx="5733210" cy="365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IT21066948|  Kulathunga E D K M| R26-IT-051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63489F-CCCE-A1B8-9817-F220E217C43E}"/>
              </a:ext>
            </a:extLst>
          </p:cNvPr>
          <p:cNvSpPr txBox="1"/>
          <p:nvPr/>
        </p:nvSpPr>
        <p:spPr>
          <a:xfrm>
            <a:off x="953729" y="144714"/>
            <a:ext cx="98224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</a:rPr>
              <a:t>Intelligent Multi-Level Alert System for Elderly Safety Monitoring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A8C07C-0291-A910-7895-A6CCAAC3058F}"/>
              </a:ext>
            </a:extLst>
          </p:cNvPr>
          <p:cNvSpPr txBox="1"/>
          <p:nvPr/>
        </p:nvSpPr>
        <p:spPr>
          <a:xfrm>
            <a:off x="172720" y="1973969"/>
            <a:ext cx="636311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A real-time smart alert system designed to detect high-risk situations such as falls in elderly individuals and trigger immediate emergency notifications.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87F13B-0771-0800-D089-9411841AA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134" y="2116117"/>
            <a:ext cx="5638145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4518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64E90C-49E3-BE1B-D0F8-E12F06AFC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7942446-D4D4-2508-DA60-2EE121A57730}"/>
              </a:ext>
            </a:extLst>
          </p:cNvPr>
          <p:cNvSpPr txBox="1">
            <a:spLocks/>
          </p:cNvSpPr>
          <p:nvPr/>
        </p:nvSpPr>
        <p:spPr>
          <a:xfrm>
            <a:off x="7049730" y="6492875"/>
            <a:ext cx="5733210" cy="365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IT21066948|  Kulathunga E D K M| R26-IT-051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37952F-6D91-E0F8-0974-A56994C04D71}"/>
              </a:ext>
            </a:extLst>
          </p:cNvPr>
          <p:cNvSpPr txBox="1"/>
          <p:nvPr/>
        </p:nvSpPr>
        <p:spPr>
          <a:xfrm>
            <a:off x="1300344" y="1139142"/>
            <a:ext cx="6809821" cy="457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000" dirty="0"/>
              <a:t>Elderly users 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000" dirty="0"/>
              <a:t>Caregivers and family members 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000" dirty="0"/>
              <a:t>Hospitals and healthcare providers 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000" dirty="0"/>
              <a:t>Emergency response teams 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000" dirty="0"/>
              <a:t>Assisted living facilities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23EDD1-E606-8D3B-B0D7-238BBF410E2D}"/>
              </a:ext>
            </a:extLst>
          </p:cNvPr>
          <p:cNvSpPr txBox="1"/>
          <p:nvPr/>
        </p:nvSpPr>
        <p:spPr>
          <a:xfrm>
            <a:off x="3854247" y="80805"/>
            <a:ext cx="63909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0070C0"/>
                </a:solidFill>
              </a:rPr>
              <a:t>Users &amp; Stakeholders</a:t>
            </a:r>
          </a:p>
        </p:txBody>
      </p:sp>
    </p:spTree>
    <p:extLst>
      <p:ext uri="{BB962C8B-B14F-4D97-AF65-F5344CB8AC3E}">
        <p14:creationId xmlns:p14="http://schemas.microsoft.com/office/powerpoint/2010/main" val="13683292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AFF356-CC41-9111-8ED9-C5366BEC1EC3}"/>
              </a:ext>
            </a:extLst>
          </p:cNvPr>
          <p:cNvSpPr txBox="1"/>
          <p:nvPr/>
        </p:nvSpPr>
        <p:spPr>
          <a:xfrm>
            <a:off x="412955" y="50359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rgbClr val="0070C0"/>
                </a:solidFill>
              </a:rPr>
              <a:t>Motivation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287EA9-773F-CC71-36BC-353BEA23F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55" y="1355688"/>
            <a:ext cx="8485239" cy="2932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Falls are a major risk for elderly people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Delayed help can lead to serious injuries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elderly people live alone without support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a fast and reliable alert system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8F6AC7-FF39-EE3F-548C-2B31B9974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E7C90C70-2130-C1CC-C0D6-E6FDB03C715B}"/>
              </a:ext>
            </a:extLst>
          </p:cNvPr>
          <p:cNvSpPr txBox="1">
            <a:spLocks/>
          </p:cNvSpPr>
          <p:nvPr/>
        </p:nvSpPr>
        <p:spPr>
          <a:xfrm>
            <a:off x="7049730" y="6492875"/>
            <a:ext cx="5142270" cy="365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IT21066948|  Kulathunga E D K M| R26-IT-051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7163CA-43E5-FB2F-87F8-6B70454256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689" y="303673"/>
            <a:ext cx="4643356" cy="474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350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7A1262-43C7-4170-4E61-6C8F4EB87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97EFD9C-4DC2-031C-363B-EBF02F8E041C}"/>
              </a:ext>
            </a:extLst>
          </p:cNvPr>
          <p:cNvSpPr txBox="1">
            <a:spLocks/>
          </p:cNvSpPr>
          <p:nvPr/>
        </p:nvSpPr>
        <p:spPr>
          <a:xfrm>
            <a:off x="7049730" y="6492875"/>
            <a:ext cx="5142270" cy="365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IT21066948|  Kulathunga E D K M| R26-IT-051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93A223-EA03-504F-1377-2FDFA2B73D59}"/>
              </a:ext>
            </a:extLst>
          </p:cNvPr>
          <p:cNvSpPr txBox="1"/>
          <p:nvPr/>
        </p:nvSpPr>
        <p:spPr>
          <a:xfrm>
            <a:off x="432618" y="0"/>
            <a:ext cx="84878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Existing System vs Proposed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6F3DD6-94CA-310E-6C28-74A4876CF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779" y="1081836"/>
            <a:ext cx="10638442" cy="469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159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B51F30-8D22-BFC2-FA02-645EFC26F51D}"/>
              </a:ext>
            </a:extLst>
          </p:cNvPr>
          <p:cNvSpPr txBox="1"/>
          <p:nvPr/>
        </p:nvSpPr>
        <p:spPr>
          <a:xfrm>
            <a:off x="609600" y="1158115"/>
            <a:ext cx="6096000" cy="322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Collects data from sensors / user input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Processes the detected event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Identifies emergency situations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Sends alerts to connected users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640FA-4D4F-74BE-2ADC-65F408A155A1}"/>
              </a:ext>
            </a:extLst>
          </p:cNvPr>
          <p:cNvSpPr txBox="1"/>
          <p:nvPr/>
        </p:nvSpPr>
        <p:spPr>
          <a:xfrm>
            <a:off x="609600" y="44459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0070C0"/>
                </a:solidFill>
              </a:rPr>
              <a:t>System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73074A-DA2A-78FA-B3FD-C001035FE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3105"/>
            <a:ext cx="2600688" cy="504895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094407F4-EFDF-5DC9-142C-A5B6C4D99637}"/>
              </a:ext>
            </a:extLst>
          </p:cNvPr>
          <p:cNvSpPr txBox="1">
            <a:spLocks/>
          </p:cNvSpPr>
          <p:nvPr/>
        </p:nvSpPr>
        <p:spPr>
          <a:xfrm>
            <a:off x="7049730" y="6492875"/>
            <a:ext cx="5142270" cy="365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IT21066948|  Kulathunga E D K M| R26-IT-051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9B278E-8C87-C7B6-E534-FB15889616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212" y="989990"/>
            <a:ext cx="4587201" cy="432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117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B94FE9-5DD9-EB0A-77EE-4C303E7E8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18194CA-1E76-805D-E728-3393E29A6281}"/>
              </a:ext>
            </a:extLst>
          </p:cNvPr>
          <p:cNvSpPr txBox="1">
            <a:spLocks/>
          </p:cNvSpPr>
          <p:nvPr/>
        </p:nvSpPr>
        <p:spPr>
          <a:xfrm>
            <a:off x="7049730" y="6492875"/>
            <a:ext cx="5142270" cy="365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IT21066948|  Kulathunga E D K M| R26-IT-051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C68ED1-DDF8-595E-393F-2211F0A88AE7}"/>
              </a:ext>
            </a:extLst>
          </p:cNvPr>
          <p:cNvSpPr txBox="1"/>
          <p:nvPr/>
        </p:nvSpPr>
        <p:spPr>
          <a:xfrm>
            <a:off x="658764" y="0"/>
            <a:ext cx="63909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System Architecture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04CC74-5F50-FC4A-FA58-00F9AA49C7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709" y="93162"/>
            <a:ext cx="4333150" cy="626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7584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99EA73-3617-6C73-D0D0-9838F5F71633}"/>
              </a:ext>
            </a:extLst>
          </p:cNvPr>
          <p:cNvSpPr txBox="1"/>
          <p:nvPr/>
        </p:nvSpPr>
        <p:spPr>
          <a:xfrm>
            <a:off x="737420" y="636158"/>
            <a:ext cx="6096000" cy="4420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Real-time emergency alerts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Automatic fall detection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Quick notification system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Easy to use interface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Reliable and fast response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132136-4C0A-EA6C-90BB-B7EA26E48A8B}"/>
              </a:ext>
            </a:extLst>
          </p:cNvPr>
          <p:cNvSpPr txBox="1"/>
          <p:nvPr/>
        </p:nvSpPr>
        <p:spPr>
          <a:xfrm>
            <a:off x="737420" y="48392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0070C0"/>
                </a:solidFill>
              </a:rPr>
              <a:t>Key Features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28413B-6E15-1BF6-86BA-DFCDF9529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3105"/>
            <a:ext cx="2600688" cy="504895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369FCB4A-3F16-1689-E21B-D9E45AE79070}"/>
              </a:ext>
            </a:extLst>
          </p:cNvPr>
          <p:cNvSpPr txBox="1">
            <a:spLocks/>
          </p:cNvSpPr>
          <p:nvPr/>
        </p:nvSpPr>
        <p:spPr>
          <a:xfrm>
            <a:off x="7118556" y="6492875"/>
            <a:ext cx="5142270" cy="365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IT21066948|  Kulathunga E D K M| R26-IT-051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9D8B38-58D7-5755-B1EA-D256E9B45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805" y="245806"/>
            <a:ext cx="6853085" cy="612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0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F400FD-9DA1-328C-D4B8-3CBAA8A3E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7CD4E8B-CA48-5966-4B4D-4D2E2CE49049}"/>
              </a:ext>
            </a:extLst>
          </p:cNvPr>
          <p:cNvSpPr txBox="1">
            <a:spLocks/>
          </p:cNvSpPr>
          <p:nvPr/>
        </p:nvSpPr>
        <p:spPr>
          <a:xfrm>
            <a:off x="7049730" y="6492875"/>
            <a:ext cx="5733210" cy="365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IT21066948|  Kulathunga E D K M| R26-IT-051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B3E80A-75EA-A506-B17E-B5CD7C3FB3C5}"/>
              </a:ext>
            </a:extLst>
          </p:cNvPr>
          <p:cNvSpPr>
            <a:spLocks noGrp="1"/>
          </p:cNvSpPr>
          <p:nvPr/>
        </p:nvSpPr>
        <p:spPr>
          <a:xfrm>
            <a:off x="149323" y="233488"/>
            <a:ext cx="2302042" cy="539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200" b="1" dirty="0">
                <a:solidFill>
                  <a:srgbClr val="0070C0"/>
                </a:solidFill>
                <a:latin typeface="+mn-lt"/>
              </a:rPr>
              <a:t>System Flow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5C0BFD-EAD4-6978-D121-384A621A68CE}"/>
              </a:ext>
            </a:extLst>
          </p:cNvPr>
          <p:cNvSpPr>
            <a:spLocks noGrp="1"/>
          </p:cNvSpPr>
          <p:nvPr/>
        </p:nvSpPr>
        <p:spPr>
          <a:xfrm>
            <a:off x="296779" y="946483"/>
            <a:ext cx="6752951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sz="2800" dirty="0"/>
              <a:t>Input captured from sensors or manual trigger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sz="2800" dirty="0"/>
              <a:t>System continuously monitors conditions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sz="2800" dirty="0"/>
              <a:t>Emergency condition identified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sz="2800" dirty="0"/>
              <a:t>Alert is generated instantly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sz="2800" dirty="0"/>
              <a:t>Notifications sent to relevant users</a:t>
            </a:r>
          </a:p>
          <a:p>
            <a:pPr marL="0" indent="0">
              <a:buNone/>
            </a:pP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3640873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ABA488-4CC3-5100-CDB9-8EE869CABC1F}"/>
              </a:ext>
            </a:extLst>
          </p:cNvPr>
          <p:cNvSpPr txBox="1"/>
          <p:nvPr/>
        </p:nvSpPr>
        <p:spPr>
          <a:xfrm>
            <a:off x="698090" y="646837"/>
            <a:ext cx="6096000" cy="3682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Faster emergency response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Improved safety for elderly individuals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Reduced risk of serious injury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Increased confidence for caregivers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ED49A4-8102-314B-624E-0734A59D2145}"/>
              </a:ext>
            </a:extLst>
          </p:cNvPr>
          <p:cNvSpPr txBox="1"/>
          <p:nvPr/>
        </p:nvSpPr>
        <p:spPr>
          <a:xfrm>
            <a:off x="698090" y="54292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0070C0"/>
                </a:solidFill>
              </a:rPr>
              <a:t>Expected Outcome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DC77E8-2EEC-8BFA-A8CD-BA1C16B0C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7770"/>
            <a:ext cx="2600688" cy="504895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34357B79-660C-000B-39EC-CB03D001988D}"/>
              </a:ext>
            </a:extLst>
          </p:cNvPr>
          <p:cNvSpPr txBox="1">
            <a:spLocks/>
          </p:cNvSpPr>
          <p:nvPr/>
        </p:nvSpPr>
        <p:spPr>
          <a:xfrm>
            <a:off x="7049730" y="6492875"/>
            <a:ext cx="5142270" cy="365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IT21066948|  Kulathunga E D K M| R26-IT-051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B54667-794C-DB03-EED1-085D69DC0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187" y="646837"/>
            <a:ext cx="5889522" cy="550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86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2" ma:contentTypeDescription="Create a new document." ma:contentTypeScope="" ma:versionID="1b463a5cf12690795c70ca22925accb2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8257c98c4c60cf9cc366d29f7e570d5e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1A7B783-F8D8-444F-B445-7954950E2D12}"/>
</file>

<file path=customXml/itemProps2.xml><?xml version="1.0" encoding="utf-8"?>
<ds:datastoreItem xmlns:ds="http://schemas.openxmlformats.org/officeDocument/2006/customXml" ds:itemID="{C0877FF8-88B0-4ACD-B6E0-CDFEEDDE76F9}"/>
</file>

<file path=customXml/itemProps3.xml><?xml version="1.0" encoding="utf-8"?>
<ds:datastoreItem xmlns:ds="http://schemas.openxmlformats.org/officeDocument/2006/customXml" ds:itemID="{085B4954-5DC2-4667-BA9D-46C511057D20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523</TotalTime>
  <Words>880</Words>
  <Application>Microsoft Office PowerPoint</Application>
  <PresentationFormat>Widescreen</PresentationFormat>
  <Paragraphs>135</Paragraphs>
  <Slides>35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Urbanist</vt:lpstr>
      <vt:lpstr>Urbanist Medium</vt:lpstr>
      <vt:lpstr>Wingdings</vt:lpstr>
      <vt:lpstr>Office Theme</vt:lpstr>
      <vt:lpstr>Multimodal Intelligent Fall Monitoring System for  Elderly Care</vt:lpstr>
      <vt:lpstr>PowerPoint Presentation</vt:lpstr>
      <vt:lpstr>PowerPoint Presentation</vt:lpstr>
      <vt:lpstr>Context-Aware Activity Recognition for Early Fall Risk Detection</vt:lpstr>
      <vt:lpstr>Users &amp; Stakeholders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Intelligent Fall Monitoring System for  Elderly Care</dc:title>
  <dc:creator>Kavindya Chathuri</dc:creator>
  <cp:lastModifiedBy>DIWYANGI D.H.S it22559968</cp:lastModifiedBy>
  <cp:revision>11</cp:revision>
  <dcterms:created xsi:type="dcterms:W3CDTF">2026-05-03T04:59:51Z</dcterms:created>
  <dcterms:modified xsi:type="dcterms:W3CDTF">2026-05-04T00:34:52Z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</Properties>
</file>