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07" r:id="rId3"/>
    <p:sldId id="304" r:id="rId4"/>
    <p:sldId id="306" r:id="rId5"/>
    <p:sldId id="261" r:id="rId6"/>
    <p:sldId id="264" r:id="rId7"/>
    <p:sldId id="311" r:id="rId8"/>
    <p:sldId id="310" r:id="rId9"/>
    <p:sldId id="312" r:id="rId10"/>
    <p:sldId id="313" r:id="rId11"/>
    <p:sldId id="300" r:id="rId12"/>
    <p:sldId id="309" r:id="rId13"/>
    <p:sldId id="314" r:id="rId14"/>
    <p:sldId id="266" r:id="rId15"/>
    <p:sldId id="267" r:id="rId16"/>
    <p:sldId id="269" r:id="rId17"/>
    <p:sldId id="271" r:id="rId18"/>
    <p:sldId id="289" r:id="rId19"/>
    <p:sldId id="291" r:id="rId20"/>
    <p:sldId id="295" r:id="rId21"/>
    <p:sldId id="294" r:id="rId22"/>
    <p:sldId id="296" r:id="rId23"/>
    <p:sldId id="293" r:id="rId24"/>
    <p:sldId id="297" r:id="rId25"/>
    <p:sldId id="290" r:id="rId26"/>
    <p:sldId id="298" r:id="rId27"/>
    <p:sldId id="273" r:id="rId28"/>
    <p:sldId id="276" r:id="rId29"/>
    <p:sldId id="282" r:id="rId30"/>
    <p:sldId id="278" r:id="rId31"/>
    <p:sldId id="285" r:id="rId32"/>
    <p:sldId id="287" r:id="rId33"/>
    <p:sldId id="302" r:id="rId34"/>
    <p:sldId id="30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A4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84133" autoAdjust="0"/>
  </p:normalViewPr>
  <p:slideViewPr>
    <p:cSldViewPr snapToGrid="0">
      <p:cViewPr varScale="1">
        <p:scale>
          <a:sx n="74" d="100"/>
          <a:sy n="74" d="100"/>
        </p:scale>
        <p:origin x="787" y="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3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CBDB6E-9A14-41E1-9A7F-2D6D217EE0E3}" type="datetimeFigureOut">
              <a:rPr lang="en-US" smtClean="0"/>
              <a:t>5/23/2026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2A7F6-F5CC-42D1-A00F-33488463BAFC}" type="slidenum">
              <a:rPr lang="en-US" smtClean="0"/>
              <a:t>‹#›</a:t>
            </a:fld>
            <a:endParaRPr lang="en-US"/>
          </a:p>
        </p:txBody>
      </p:sp>
    </p:spTree>
    <p:extLst>
      <p:ext uri="{BB962C8B-B14F-4D97-AF65-F5344CB8AC3E}">
        <p14:creationId xmlns:p14="http://schemas.microsoft.com/office/powerpoint/2010/main" val="645539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1</a:t>
            </a:fld>
            <a:endParaRPr lang="en-US"/>
          </a:p>
        </p:txBody>
      </p:sp>
    </p:spTree>
    <p:extLst>
      <p:ext uri="{BB962C8B-B14F-4D97-AF65-F5344CB8AC3E}">
        <p14:creationId xmlns:p14="http://schemas.microsoft.com/office/powerpoint/2010/main" val="1397458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3</a:t>
            </a:fld>
            <a:endParaRPr lang="en-US"/>
          </a:p>
        </p:txBody>
      </p:sp>
    </p:spTree>
    <p:extLst>
      <p:ext uri="{BB962C8B-B14F-4D97-AF65-F5344CB8AC3E}">
        <p14:creationId xmlns:p14="http://schemas.microsoft.com/office/powerpoint/2010/main" val="1869458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5</a:t>
            </a:fld>
            <a:endParaRPr lang="en-US"/>
          </a:p>
        </p:txBody>
      </p:sp>
    </p:spTree>
    <p:extLst>
      <p:ext uri="{BB962C8B-B14F-4D97-AF65-F5344CB8AC3E}">
        <p14:creationId xmlns:p14="http://schemas.microsoft.com/office/powerpoint/2010/main" val="1356659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D2A7F6-F5CC-42D1-A00F-33488463BAFC}" type="slidenum">
              <a:rPr lang="en-US" smtClean="0"/>
              <a:t>6</a:t>
            </a:fld>
            <a:endParaRPr lang="en-US"/>
          </a:p>
        </p:txBody>
      </p:sp>
    </p:spTree>
    <p:extLst>
      <p:ext uri="{BB962C8B-B14F-4D97-AF65-F5344CB8AC3E}">
        <p14:creationId xmlns:p14="http://schemas.microsoft.com/office/powerpoint/2010/main" val="584090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factors in each location in the environment are </a:t>
            </a:r>
            <a:r>
              <a:rPr lang="en-US" dirty="0" err="1"/>
              <a:t>analized</a:t>
            </a:r>
            <a:r>
              <a:rPr lang="en-US" dirty="0"/>
              <a:t> to determine whether there is a risk of someone falling in that environment like moisture light, motion gyro</a:t>
            </a:r>
          </a:p>
          <a:p>
            <a:r>
              <a:rPr lang="en-US" dirty="0" err="1"/>
              <a:t>NodeMCU</a:t>
            </a:r>
            <a:r>
              <a:rPr lang="en-US" dirty="0"/>
              <a:t> ESP32S microcontroller ● MPU6050 accelerometer and gyroscope sensor ● BH1750 light intensity sensor ● VL53L0X laser distance sensor ● Soil moisture sensor ● PIR motion sensor ● Wi-Fi communication module (built into ESP32) </a:t>
            </a:r>
          </a:p>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14</a:t>
            </a:fld>
            <a:endParaRPr lang="en-US"/>
          </a:p>
        </p:txBody>
      </p:sp>
    </p:spTree>
    <p:extLst>
      <p:ext uri="{BB962C8B-B14F-4D97-AF65-F5344CB8AC3E}">
        <p14:creationId xmlns:p14="http://schemas.microsoft.com/office/powerpoint/2010/main" val="2659271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factors in each location in the environment are </a:t>
            </a:r>
            <a:r>
              <a:rPr lang="en-US" dirty="0" err="1"/>
              <a:t>analized</a:t>
            </a:r>
            <a:r>
              <a:rPr lang="en-US" dirty="0"/>
              <a:t> to determine whether there is a risk of someone falling in that environment like moisture light, motion gyro</a:t>
            </a:r>
          </a:p>
          <a:p>
            <a:r>
              <a:rPr lang="en-US" dirty="0" err="1"/>
              <a:t>NodeMCU</a:t>
            </a:r>
            <a:r>
              <a:rPr lang="en-US" dirty="0"/>
              <a:t> ESP32S microcontroller ● MPU6050 accelerometer and gyroscope sensor ● BH1750 light intensity sensor ● VL53L0X laser distance sensor ● Soil moisture sensor ● PIR motion sensor ● Wi-Fi communication module (built into ESP32) </a:t>
            </a:r>
          </a:p>
        </p:txBody>
      </p:sp>
      <p:sp>
        <p:nvSpPr>
          <p:cNvPr id="4" name="Slide Number Placeholder 3"/>
          <p:cNvSpPr>
            <a:spLocks noGrp="1"/>
          </p:cNvSpPr>
          <p:nvPr>
            <p:ph type="sldNum" sz="quarter" idx="5"/>
          </p:nvPr>
        </p:nvSpPr>
        <p:spPr/>
        <p:txBody>
          <a:bodyPr/>
          <a:lstStyle/>
          <a:p>
            <a:fld id="{E4D2A7F6-F5CC-42D1-A00F-33488463BAFC}" type="slidenum">
              <a:rPr lang="en-US" smtClean="0"/>
              <a:t>15</a:t>
            </a:fld>
            <a:endParaRPr lang="en-US"/>
          </a:p>
        </p:txBody>
      </p:sp>
    </p:spTree>
    <p:extLst>
      <p:ext uri="{BB962C8B-B14F-4D97-AF65-F5344CB8AC3E}">
        <p14:creationId xmlns:p14="http://schemas.microsoft.com/office/powerpoint/2010/main" val="471991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16</a:t>
            </a:fld>
            <a:endParaRPr lang="en-US"/>
          </a:p>
        </p:txBody>
      </p:sp>
    </p:spTree>
    <p:extLst>
      <p:ext uri="{BB962C8B-B14F-4D97-AF65-F5344CB8AC3E}">
        <p14:creationId xmlns:p14="http://schemas.microsoft.com/office/powerpoint/2010/main" val="1614153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Currently, hospital staff rely on manual observation or CCTV, which can be reactive and slow.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My component is designed specifically for clinicians and nurses.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It reduces their 'cognitive load' by taking complex gait data and turning it into simple, visual alerts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This allows them to monitor multiple patients simultaneously without needing to be in the room 24/7.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29</a:t>
            </a:fld>
            <a:endParaRPr lang="en-US"/>
          </a:p>
        </p:txBody>
      </p:sp>
    </p:spTree>
    <p:extLst>
      <p:ext uri="{BB962C8B-B14F-4D97-AF65-F5344CB8AC3E}">
        <p14:creationId xmlns:p14="http://schemas.microsoft.com/office/powerpoint/2010/main" val="820382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"The dashboard stands on three pillars:</a:t>
            </a:r>
          </a:p>
          <a:p>
            <a:r>
              <a:rPr lang="en-US" sz="1200" kern="1200" dirty="0">
                <a:solidFill>
                  <a:schemeClr val="tx1"/>
                </a:solidFill>
                <a:latin typeface="+mn-lt"/>
                <a:ea typeface="+mn-ea"/>
                <a:cs typeface="+mn-cs"/>
              </a:rPr>
              <a:t>The Live Risk Meter: it </a:t>
            </a:r>
            <a:r>
              <a:rPr lang="en-US" sz="1200" kern="1200" dirty="0" err="1">
                <a:solidFill>
                  <a:schemeClr val="tx1"/>
                </a:solidFill>
                <a:latin typeface="+mn-lt"/>
                <a:ea typeface="+mn-ea"/>
                <a:cs typeface="+mn-cs"/>
              </a:rPr>
              <a:t>disply</a:t>
            </a:r>
            <a:r>
              <a:rPr lang="en-US" sz="1200" kern="1200" dirty="0">
                <a:solidFill>
                  <a:schemeClr val="tx1"/>
                </a:solidFill>
                <a:latin typeface="+mn-lt"/>
                <a:ea typeface="+mn-ea"/>
                <a:cs typeface="+mn-cs"/>
              </a:rPr>
              <a:t> real-time probability score.</a:t>
            </a:r>
          </a:p>
          <a:p>
            <a:r>
              <a:rPr lang="en-US" sz="1200" kern="1200" dirty="0">
                <a:solidFill>
                  <a:schemeClr val="tx1"/>
                </a:solidFill>
                <a:latin typeface="+mn-lt"/>
                <a:ea typeface="+mn-ea"/>
                <a:cs typeface="+mn-cs"/>
              </a:rPr>
              <a:t>Gait Analytics: it Deep-dives into balance and posture.</a:t>
            </a:r>
          </a:p>
          <a:p>
            <a:r>
              <a:rPr lang="en-US" sz="1200" kern="1200" dirty="0">
                <a:solidFill>
                  <a:schemeClr val="tx1"/>
                </a:solidFill>
                <a:latin typeface="+mn-lt"/>
                <a:ea typeface="+mn-ea"/>
                <a:cs typeface="+mn-cs"/>
              </a:rPr>
              <a:t>The XAI Engine: This provides the 'Why' behind every prediction.</a:t>
            </a:r>
          </a:p>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30</a:t>
            </a:fld>
            <a:endParaRPr lang="en-US"/>
          </a:p>
        </p:txBody>
      </p:sp>
    </p:spTree>
    <p:extLst>
      <p:ext uri="{BB962C8B-B14F-4D97-AF65-F5344CB8AC3E}">
        <p14:creationId xmlns:p14="http://schemas.microsoft.com/office/powerpoint/2010/main" val="2991755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Magnitude is equal to the square root of the sum of the squares of x, y, and z.      The process begins with a </a:t>
            </a:r>
            <a:r>
              <a:rPr lang="en-US" b="1" dirty="0"/>
              <a:t>Wearable Sensor</a:t>
            </a:r>
            <a:r>
              <a:rPr lang="en-US" dirty="0"/>
              <a:t> that captures real-time data, including movement (Accel/Gyro), heart rate, and device health (battery/signal).</a:t>
            </a:r>
          </a:p>
          <a:p>
            <a:r>
              <a:rPr lang="en-US" dirty="0"/>
              <a:t>Raw data is go via </a:t>
            </a:r>
            <a:r>
              <a:rPr lang="en-US" b="1" dirty="0" err="1"/>
              <a:t>WebSockets</a:t>
            </a:r>
            <a:r>
              <a:rPr lang="en-US" b="1" dirty="0"/>
              <a:t> and </a:t>
            </a:r>
            <a:r>
              <a:rPr lang="en-US" b="1" dirty="0" err="1"/>
              <a:t>FastAPI</a:t>
            </a:r>
            <a:r>
              <a:rPr lang="en-US" dirty="0"/>
              <a:t>. This ensures "low-latency," </a:t>
            </a:r>
          </a:p>
          <a:p>
            <a:r>
              <a:rPr lang="en-US" b="1" dirty="0"/>
              <a:t>In the Preprocessing engine</a:t>
            </a:r>
            <a:r>
              <a:rPr lang="en-US" dirty="0"/>
              <a:t>, it do signal filtering and </a:t>
            </a:r>
            <a:r>
              <a:rPr lang="en-US" b="1" dirty="0"/>
              <a:t>Advanced Gait Feature Extraction like </a:t>
            </a:r>
            <a:r>
              <a:rPr lang="en-US" b="1" dirty="0" err="1"/>
              <a:t>magnirtude</a:t>
            </a:r>
            <a:r>
              <a:rPr lang="en-US" b="1" dirty="0"/>
              <a:t>     </a:t>
            </a:r>
            <a:r>
              <a:rPr lang="en-US" dirty="0"/>
              <a:t>All data is sent to </a:t>
            </a:r>
            <a:r>
              <a:rPr lang="en-US" b="1" dirty="0" err="1"/>
              <a:t>Supabase</a:t>
            </a:r>
            <a:r>
              <a:rPr lang="en-US" dirty="0"/>
              <a:t>. Meantime </a:t>
            </a:r>
            <a:r>
              <a:rPr lang="en-US" b="1" dirty="0"/>
              <a:t>Component 1</a:t>
            </a:r>
            <a:r>
              <a:rPr lang="en-US" dirty="0"/>
              <a:t> inserts critical alerts into the </a:t>
            </a:r>
            <a:r>
              <a:rPr lang="en-US" sz="1200" kern="1200" dirty="0" err="1">
                <a:solidFill>
                  <a:schemeClr val="tx1"/>
                </a:solidFill>
                <a:latin typeface="+mn-lt"/>
                <a:ea typeface="+mn-ea"/>
                <a:cs typeface="+mn-cs"/>
              </a:rPr>
              <a:t>Fall_alert_log</a:t>
            </a:r>
            <a:r>
              <a:rPr lang="en-US" dirty="0"/>
              <a:t> table.</a:t>
            </a:r>
          </a:p>
          <a:p>
            <a:r>
              <a:rPr lang="en-US" dirty="0"/>
              <a:t>Finally, the </a:t>
            </a:r>
            <a:r>
              <a:rPr lang="en-US" b="1" dirty="0"/>
              <a:t>React Dashboard</a:t>
            </a:r>
            <a:r>
              <a:rPr lang="en-US" dirty="0"/>
              <a:t> visualizes everything for the clinician. It shows a </a:t>
            </a:r>
            <a:r>
              <a:rPr lang="en-US" b="1" dirty="0"/>
              <a:t>3D Gait View</a:t>
            </a:r>
            <a:r>
              <a:rPr lang="en-US" dirty="0"/>
              <a:t>, a </a:t>
            </a:r>
            <a:r>
              <a:rPr lang="en-US" b="1" dirty="0"/>
              <a:t>Live Risk Meter</a:t>
            </a:r>
            <a:r>
              <a:rPr lang="en-US" dirty="0"/>
              <a:t>, and a detailed </a:t>
            </a:r>
            <a:r>
              <a:rPr lang="en-US" b="1" dirty="0"/>
              <a:t>Alert History</a:t>
            </a:r>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31</a:t>
            </a:fld>
            <a:endParaRPr lang="en-US"/>
          </a:p>
        </p:txBody>
      </p:sp>
    </p:spTree>
    <p:extLst>
      <p:ext uri="{BB962C8B-B14F-4D97-AF65-F5344CB8AC3E}">
        <p14:creationId xmlns:p14="http://schemas.microsoft.com/office/powerpoint/2010/main" val="738868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t>
            </a:r>
            <a:r>
              <a:rPr lang="en-US" dirty="0" err="1"/>
              <a:t>ipatients</a:t>
            </a:r>
            <a:r>
              <a:rPr lang="en-US" dirty="0"/>
              <a:t> Magnitude value is not a value close to 9.8 it add some risk score. And unstable or have fall history / If identify fall, and if movement is abnormal</a:t>
            </a:r>
          </a:p>
          <a:p>
            <a:r>
              <a:rPr lang="en-US" sz="1200" kern="1200" dirty="0">
                <a:solidFill>
                  <a:schemeClr val="tx1"/>
                </a:solidFill>
                <a:latin typeface="+mn-lt"/>
                <a:ea typeface="+mn-ea"/>
                <a:cs typeface="+mn-cs"/>
              </a:rPr>
              <a:t> Designed to help clinical staff make fast and accurate decisions.</a:t>
            </a:r>
          </a:p>
          <a:p>
            <a:r>
              <a:rPr lang="en-US" sz="1200" kern="1200" dirty="0">
                <a:solidFill>
                  <a:schemeClr val="tx1"/>
                </a:solidFill>
                <a:latin typeface="+mn-lt"/>
                <a:ea typeface="+mn-ea"/>
                <a:cs typeface="+mn-cs"/>
              </a:rPr>
              <a:t>At the center, shows the patient’s real-time fall risk as a percentage, with red indicating a critical situation.</a:t>
            </a:r>
          </a:p>
          <a:p>
            <a:r>
              <a:rPr lang="en-US" sz="1200" kern="1200" dirty="0">
                <a:solidFill>
                  <a:schemeClr val="tx1"/>
                </a:solidFill>
                <a:latin typeface="+mn-lt"/>
                <a:ea typeface="+mn-ea"/>
                <a:cs typeface="+mn-cs"/>
              </a:rPr>
              <a:t>Ward Overview: On the left, nurses can monitor the entire ward at once. High-risk patients, like John Doe in Bed 05, are automatically highlighted so staff can prioritize them immediately.</a:t>
            </a:r>
          </a:p>
          <a:p>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Gait Analytics: The bottom charts visualize movement speed and balance, providing doctors with objective data instead of manual observations.</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XAI Insights: Most importantly, the Explainable AI section on the right explains why the risk is High such as when </a:t>
            </a:r>
            <a:r>
              <a:rPr lang="en-US" sz="1200" kern="1200" dirty="0" err="1">
                <a:solidFill>
                  <a:schemeClr val="tx1"/>
                </a:solidFill>
                <a:latin typeface="+mn-lt"/>
                <a:ea typeface="+mn-ea"/>
                <a:cs typeface="+mn-cs"/>
              </a:rPr>
              <a:t>disply</a:t>
            </a:r>
            <a:r>
              <a:rPr lang="en-US" sz="1200" kern="1200" dirty="0">
                <a:solidFill>
                  <a:schemeClr val="tx1"/>
                </a:solidFill>
                <a:latin typeface="+mn-lt"/>
                <a:ea typeface="+mn-ea"/>
                <a:cs typeface="+mn-cs"/>
              </a:rPr>
              <a:t> Risk High: and as the reason it </a:t>
            </a:r>
            <a:r>
              <a:rPr lang="en-US" sz="1200" kern="1200" dirty="0" err="1">
                <a:solidFill>
                  <a:schemeClr val="tx1"/>
                </a:solidFill>
                <a:latin typeface="+mn-lt"/>
                <a:ea typeface="+mn-ea"/>
                <a:cs typeface="+mn-cs"/>
              </a:rPr>
              <a:t>disply</a:t>
            </a:r>
            <a:r>
              <a:rPr lang="en-US" sz="1200" kern="1200" dirty="0">
                <a:solidFill>
                  <a:schemeClr val="tx1"/>
                </a:solidFill>
                <a:latin typeface="+mn-lt"/>
                <a:ea typeface="+mn-ea"/>
                <a:cs typeface="+mn-cs"/>
              </a:rPr>
              <a:t>- Suddenly 45% body tilt to the right detected..</a:t>
            </a:r>
          </a:p>
          <a:p>
            <a:endParaRPr lang="en-US" dirty="0"/>
          </a:p>
        </p:txBody>
      </p:sp>
      <p:sp>
        <p:nvSpPr>
          <p:cNvPr id="4" name="Slide Number Placeholder 3"/>
          <p:cNvSpPr>
            <a:spLocks noGrp="1"/>
          </p:cNvSpPr>
          <p:nvPr>
            <p:ph type="sldNum" sz="quarter" idx="5"/>
          </p:nvPr>
        </p:nvSpPr>
        <p:spPr/>
        <p:txBody>
          <a:bodyPr/>
          <a:lstStyle/>
          <a:p>
            <a:fld id="{E4D2A7F6-F5CC-42D1-A00F-33488463BAFC}" type="slidenum">
              <a:rPr lang="en-US" smtClean="0"/>
              <a:t>33</a:t>
            </a:fld>
            <a:endParaRPr lang="en-US"/>
          </a:p>
        </p:txBody>
      </p:sp>
    </p:spTree>
    <p:extLst>
      <p:ext uri="{BB962C8B-B14F-4D97-AF65-F5344CB8AC3E}">
        <p14:creationId xmlns:p14="http://schemas.microsoft.com/office/powerpoint/2010/main" val="774789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3037E-6942-084C-8A15-D052D74C2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C3855-E60E-C400-F1B3-EB604D230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1E07-C722-85A9-F2CC-DD55711139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1AEA7B-4B52-F4F6-3A09-5C3AF4BC88ED}"/>
              </a:ext>
            </a:extLst>
          </p:cNvPr>
          <p:cNvSpPr>
            <a:spLocks noGrp="1"/>
          </p:cNvSpPr>
          <p:nvPr>
            <p:ph type="sldNum" sz="quarter" idx="5"/>
          </p:nvPr>
        </p:nvSpPr>
        <p:spPr/>
        <p:txBody>
          <a:bodyPr/>
          <a:lstStyle/>
          <a:p>
            <a:fld id="{E4D2A7F6-F5CC-42D1-A00F-33488463BAFC}" type="slidenum">
              <a:rPr lang="en-US" smtClean="0"/>
              <a:t>34</a:t>
            </a:fld>
            <a:endParaRPr lang="en-US"/>
          </a:p>
        </p:txBody>
      </p:sp>
    </p:spTree>
    <p:extLst>
      <p:ext uri="{BB962C8B-B14F-4D97-AF65-F5344CB8AC3E}">
        <p14:creationId xmlns:p14="http://schemas.microsoft.com/office/powerpoint/2010/main" val="2964926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31657-7DE2-D8A3-88FD-B6BDAE335C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02EA75-720A-3F18-0F46-3FA9BCFB1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BA8868-D15A-221F-2876-AF46757535BF}"/>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5" name="Footer Placeholder 4">
            <a:extLst>
              <a:ext uri="{FF2B5EF4-FFF2-40B4-BE49-F238E27FC236}">
                <a16:creationId xmlns:a16="http://schemas.microsoft.com/office/drawing/2014/main" id="{B4CE8DDE-865E-E6A5-7962-8BBEEF2D04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9A1AF-C866-21C5-CB61-67F1ED7A5251}"/>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509896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ACEE9-DD88-4399-2341-D064EA5CEC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E988C2-015F-13B3-656A-27EDB6A330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286CE-95A8-A138-C460-EC1C2CD97B7E}"/>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5" name="Footer Placeholder 4">
            <a:extLst>
              <a:ext uri="{FF2B5EF4-FFF2-40B4-BE49-F238E27FC236}">
                <a16:creationId xmlns:a16="http://schemas.microsoft.com/office/drawing/2014/main" id="{56867A34-49FF-644B-73C2-10E08C892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109C0-8900-BFE3-110F-0455F717C5CA}"/>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122657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B85D-E249-CF7F-6995-17841E15B2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6C8D89-FAA5-53AB-EC8A-0B61FF0CB2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985EA2-7005-240E-9611-EF05B7AAA6F4}"/>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5" name="Footer Placeholder 4">
            <a:extLst>
              <a:ext uri="{FF2B5EF4-FFF2-40B4-BE49-F238E27FC236}">
                <a16:creationId xmlns:a16="http://schemas.microsoft.com/office/drawing/2014/main" id="{68B29C32-B242-CC7E-0029-F2771E268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F3569-B3B2-DA28-6BCF-C4FEE8390CCC}"/>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2848299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BB3E-F0BB-6EE0-067B-1EA251C897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A50E7A-5F07-DD80-FE8B-8C161BF88A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4F1F05-F8F1-BEF4-663B-D2E0AC0C78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A8C600-6A4F-A843-DFAD-16964B191306}"/>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6" name="Footer Placeholder 5">
            <a:extLst>
              <a:ext uri="{FF2B5EF4-FFF2-40B4-BE49-F238E27FC236}">
                <a16:creationId xmlns:a16="http://schemas.microsoft.com/office/drawing/2014/main" id="{14217F41-1C37-6A24-1059-BD588DD266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A75A9-59A9-C14C-E38B-405542BFE196}"/>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205364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A8AC-8068-2B59-BB7E-0C42DF9D4C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255A0B-3EDA-7138-2E4A-1EE4BB2E8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9D2BE8-34EA-28FE-CA1D-5967678901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E949E-ABF7-59C2-4772-0280F2F5A2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EDEF4-D580-2337-34BB-0F237BA6C6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ACBAF9-D937-874A-7289-9324C531B3F2}"/>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8" name="Footer Placeholder 7">
            <a:extLst>
              <a:ext uri="{FF2B5EF4-FFF2-40B4-BE49-F238E27FC236}">
                <a16:creationId xmlns:a16="http://schemas.microsoft.com/office/drawing/2014/main" id="{8B0F6786-D03A-07C0-D204-3E8FA13724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961FCF-811E-F0D2-33E0-C69A84FE2DF9}"/>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340475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9A53A-193F-7569-BEE0-F947A96B7C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3ECE21-B7AD-19D3-8B93-259A36128F46}"/>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4" name="Footer Placeholder 3">
            <a:extLst>
              <a:ext uri="{FF2B5EF4-FFF2-40B4-BE49-F238E27FC236}">
                <a16:creationId xmlns:a16="http://schemas.microsoft.com/office/drawing/2014/main" id="{A34E5265-0431-BE48-637B-6065B873D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81A664-032F-04B3-2860-7E2A537E13C0}"/>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705411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4337D-6DD5-A97E-B6A8-8F01D2DC88AC}"/>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3" name="Footer Placeholder 2">
            <a:extLst>
              <a:ext uri="{FF2B5EF4-FFF2-40B4-BE49-F238E27FC236}">
                <a16:creationId xmlns:a16="http://schemas.microsoft.com/office/drawing/2014/main" id="{AF16389E-D8B2-25B5-C4CD-87533BD7BE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7B40-52C5-5C45-4E2C-48FFD72A7D85}"/>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2955111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65B3A-929E-89DC-7938-A700E893D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169395-3E10-7BDE-4F4D-91F35AD9EF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873EB0-023C-A787-D089-0ACB74417C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65B65C-9108-69B5-1147-A440A49B419A}"/>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6" name="Footer Placeholder 5">
            <a:extLst>
              <a:ext uri="{FF2B5EF4-FFF2-40B4-BE49-F238E27FC236}">
                <a16:creationId xmlns:a16="http://schemas.microsoft.com/office/drawing/2014/main" id="{F029FA42-C3EB-CDD0-6A4F-AB0D84BAA7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EE8515-6DEC-6796-FD9E-3DF95C685730}"/>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117536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EF8F-6A60-0D45-BF8C-7E0596A247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3126D-DBBE-FAA3-4C42-642A40620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86EBB0-0F2E-2A6E-E49D-1D1A23B29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14C00-8A1A-A5AC-F8FB-A6801A3DF4F3}"/>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6" name="Footer Placeholder 5">
            <a:extLst>
              <a:ext uri="{FF2B5EF4-FFF2-40B4-BE49-F238E27FC236}">
                <a16:creationId xmlns:a16="http://schemas.microsoft.com/office/drawing/2014/main" id="{624CA299-8616-2E30-BA48-FD29FF55FF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899BD6-ED28-1331-E50E-BEE13B11F327}"/>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1528783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4D23-3325-BBE6-F9F5-650E97F86F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B7D4FF-51E4-67F3-21FF-9E3798858C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0F727E-F392-D896-43FD-AFB515A64FB9}"/>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5" name="Footer Placeholder 4">
            <a:extLst>
              <a:ext uri="{FF2B5EF4-FFF2-40B4-BE49-F238E27FC236}">
                <a16:creationId xmlns:a16="http://schemas.microsoft.com/office/drawing/2014/main" id="{D68CA7D9-86BD-B38F-071F-6E43E234DA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B8F16-C221-1A2D-A431-F33951E2B8EA}"/>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149155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0CD9A-9C30-8735-89A5-EFC76ABB24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C7D11C-CAA3-E587-1D61-8084462B0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96CFA0-E1A0-A892-EAD8-4E85FA612A97}"/>
              </a:ext>
            </a:extLst>
          </p:cNvPr>
          <p:cNvSpPr>
            <a:spLocks noGrp="1"/>
          </p:cNvSpPr>
          <p:nvPr>
            <p:ph type="dt" sz="half" idx="10"/>
          </p:nvPr>
        </p:nvSpPr>
        <p:spPr/>
        <p:txBody>
          <a:bodyPr/>
          <a:lstStyle/>
          <a:p>
            <a:fld id="{62033936-49FF-4633-8164-5C65DFB2A161}" type="datetimeFigureOut">
              <a:rPr lang="en-US" smtClean="0"/>
              <a:t>5/23/2026</a:t>
            </a:fld>
            <a:endParaRPr lang="en-US"/>
          </a:p>
        </p:txBody>
      </p:sp>
      <p:sp>
        <p:nvSpPr>
          <p:cNvPr id="5" name="Footer Placeholder 4">
            <a:extLst>
              <a:ext uri="{FF2B5EF4-FFF2-40B4-BE49-F238E27FC236}">
                <a16:creationId xmlns:a16="http://schemas.microsoft.com/office/drawing/2014/main" id="{544AB95A-C0ED-865A-2284-898FB6A791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231B1-5DFC-2B01-6CC7-AB987ED92281}"/>
              </a:ext>
            </a:extLst>
          </p:cNvPr>
          <p:cNvSpPr>
            <a:spLocks noGrp="1"/>
          </p:cNvSpPr>
          <p:nvPr>
            <p:ph type="sldNum" sz="quarter" idx="12"/>
          </p:nvPr>
        </p:nvSpPr>
        <p:spPr/>
        <p:txBody>
          <a:bodyPr/>
          <a:lstStyle/>
          <a:p>
            <a:fld id="{82ED61A4-4CC1-42EE-A150-6EC4FA7AD504}" type="slidenum">
              <a:rPr lang="en-US" smtClean="0"/>
              <a:t>‹#›</a:t>
            </a:fld>
            <a:endParaRPr lang="en-US"/>
          </a:p>
        </p:txBody>
      </p:sp>
    </p:spTree>
    <p:extLst>
      <p:ext uri="{BB962C8B-B14F-4D97-AF65-F5344CB8AC3E}">
        <p14:creationId xmlns:p14="http://schemas.microsoft.com/office/powerpoint/2010/main" val="1105747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5573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CC561C-7AC2-FEE4-64D3-F5196F1287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CC504-5B2C-81AB-4306-448FD906F6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1ACC4-854C-938E-0ADC-B4E769F2CE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33936-49FF-4633-8164-5C65DFB2A161}" type="datetimeFigureOut">
              <a:rPr lang="en-US" smtClean="0"/>
              <a:t>5/23/2026</a:t>
            </a:fld>
            <a:endParaRPr lang="en-US"/>
          </a:p>
        </p:txBody>
      </p:sp>
      <p:sp>
        <p:nvSpPr>
          <p:cNvPr id="5" name="Footer Placeholder 4">
            <a:extLst>
              <a:ext uri="{FF2B5EF4-FFF2-40B4-BE49-F238E27FC236}">
                <a16:creationId xmlns:a16="http://schemas.microsoft.com/office/drawing/2014/main" id="{460B4F4B-5C15-E594-2944-5B7EF37388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EF8BD0-E3BB-131E-A613-822FB2F51F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D61A4-4CC1-42EE-A150-6EC4FA7AD504}" type="slidenum">
              <a:rPr lang="en-US" smtClean="0"/>
              <a:t>‹#›</a:t>
            </a:fld>
            <a:endParaRPr lang="en-US"/>
          </a:p>
        </p:txBody>
      </p:sp>
    </p:spTree>
    <p:extLst>
      <p:ext uri="{BB962C8B-B14F-4D97-AF65-F5344CB8AC3E}">
        <p14:creationId xmlns:p14="http://schemas.microsoft.com/office/powerpoint/2010/main" val="1627797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A0B497C-B736-B620-545F-36520AD54A94}"/>
              </a:ext>
            </a:extLst>
          </p:cNvPr>
          <p:cNvSpPr>
            <a:spLocks noGrp="1"/>
          </p:cNvSpPr>
          <p:nvPr>
            <p:ph type="subTitle" idx="1"/>
          </p:nvPr>
        </p:nvSpPr>
        <p:spPr>
          <a:xfrm>
            <a:off x="9688285" y="6335907"/>
            <a:ext cx="2198914" cy="522093"/>
          </a:xfrm>
        </p:spPr>
        <p:txBody>
          <a:bodyPr/>
          <a:lstStyle/>
          <a:p>
            <a:r>
              <a:rPr lang="en-US" b="1" dirty="0"/>
              <a:t>R26-IT-051</a:t>
            </a:r>
          </a:p>
        </p:txBody>
      </p:sp>
      <p:sp>
        <p:nvSpPr>
          <p:cNvPr id="4" name="Rectangle 1">
            <a:extLst>
              <a:ext uri="{FF2B5EF4-FFF2-40B4-BE49-F238E27FC236}">
                <a16:creationId xmlns:a16="http://schemas.microsoft.com/office/drawing/2014/main" id="{3D9C6591-B7A5-8666-C9C8-FF368699E32C}"/>
              </a:ext>
            </a:extLst>
          </p:cNvPr>
          <p:cNvSpPr>
            <a:spLocks noGrp="1" noChangeArrowheads="1"/>
          </p:cNvSpPr>
          <p:nvPr>
            <p:ph type="ctrTitle"/>
          </p:nvPr>
        </p:nvSpPr>
        <p:spPr bwMode="auto">
          <a:xfrm>
            <a:off x="656049" y="748109"/>
            <a:ext cx="108799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Multimodal Intelligent Fall Monitoring System for</a:t>
            </a:r>
            <a:br>
              <a:rPr kumimoji="0" lang="en-US" altLang="en-US" sz="3600" b="1" i="0" u="none" strike="noStrike" cap="none" normalizeH="0" baseline="0" dirty="0">
                <a:ln>
                  <a:noFill/>
                </a:ln>
                <a:solidFill>
                  <a:schemeClr val="tx1"/>
                </a:solidFill>
                <a:effectLst/>
                <a:latin typeface="Arial" panose="020B0604020202020204" pitchFamily="34" charset="0"/>
              </a:rPr>
            </a:br>
            <a:r>
              <a:rPr kumimoji="0" lang="en-US" altLang="en-US" sz="3600" b="1" i="0" u="none" strike="noStrike" cap="none" normalizeH="0" baseline="0" dirty="0">
                <a:ln>
                  <a:noFill/>
                </a:ln>
                <a:solidFill>
                  <a:schemeClr val="tx1"/>
                </a:solidFill>
                <a:effectLst/>
                <a:latin typeface="Arial" panose="020B0604020202020204" pitchFamily="34" charset="0"/>
              </a:rPr>
              <a:t> Elderly Care</a:t>
            </a:r>
          </a:p>
        </p:txBody>
      </p:sp>
      <p:pic>
        <p:nvPicPr>
          <p:cNvPr id="6" name="Picture 5">
            <a:extLst>
              <a:ext uri="{FF2B5EF4-FFF2-40B4-BE49-F238E27FC236}">
                <a16:creationId xmlns:a16="http://schemas.microsoft.com/office/drawing/2014/main" id="{822C2D9B-18F5-741D-543B-E8CE7E6CF99A}"/>
              </a:ext>
            </a:extLst>
          </p:cNvPr>
          <p:cNvPicPr>
            <a:picLocks noChangeAspect="1"/>
          </p:cNvPicPr>
          <p:nvPr/>
        </p:nvPicPr>
        <p:blipFill>
          <a:blip r:embed="rId3"/>
          <a:stretch>
            <a:fillRect/>
          </a:stretch>
        </p:blipFill>
        <p:spPr>
          <a:xfrm>
            <a:off x="835965" y="1948438"/>
            <a:ext cx="11117226" cy="4182059"/>
          </a:xfrm>
          <a:prstGeom prst="rect">
            <a:avLst/>
          </a:prstGeom>
        </p:spPr>
      </p:pic>
      <p:pic>
        <p:nvPicPr>
          <p:cNvPr id="8" name="Picture 7">
            <a:extLst>
              <a:ext uri="{FF2B5EF4-FFF2-40B4-BE49-F238E27FC236}">
                <a16:creationId xmlns:a16="http://schemas.microsoft.com/office/drawing/2014/main" id="{005A29EA-F1EE-4C76-FEEF-807D83D41A4A}"/>
              </a:ext>
            </a:extLst>
          </p:cNvPr>
          <p:cNvPicPr>
            <a:picLocks noChangeAspect="1"/>
          </p:cNvPicPr>
          <p:nvPr/>
        </p:nvPicPr>
        <p:blipFill>
          <a:blip r:embed="rId4"/>
          <a:stretch>
            <a:fillRect/>
          </a:stretch>
        </p:blipFill>
        <p:spPr>
          <a:xfrm>
            <a:off x="0" y="6357770"/>
            <a:ext cx="2600688" cy="504895"/>
          </a:xfrm>
          <a:prstGeom prst="rect">
            <a:avLst/>
          </a:prstGeom>
        </p:spPr>
      </p:pic>
    </p:spTree>
    <p:extLst>
      <p:ext uri="{BB962C8B-B14F-4D97-AF65-F5344CB8AC3E}">
        <p14:creationId xmlns:p14="http://schemas.microsoft.com/office/powerpoint/2010/main" val="714903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F3DC4-12BA-46CD-A403-2B96F632B59D}"/>
              </a:ext>
            </a:extLst>
          </p:cNvPr>
          <p:cNvSpPr>
            <a:spLocks noGrp="1"/>
          </p:cNvSpPr>
          <p:nvPr>
            <p:ph type="title"/>
          </p:nvPr>
        </p:nvSpPr>
        <p:spPr>
          <a:xfrm>
            <a:off x="838200" y="365126"/>
            <a:ext cx="10515600" cy="900836"/>
          </a:xfrm>
        </p:spPr>
        <p:txBody>
          <a:bodyPr/>
          <a:lstStyle/>
          <a:p>
            <a:pPr algn="ctr"/>
            <a:r>
              <a:rPr lang="en-US" b="1" u="sng" dirty="0">
                <a:latin typeface="+mn-lt"/>
              </a:rPr>
              <a:t>Main Components </a:t>
            </a:r>
          </a:p>
        </p:txBody>
      </p:sp>
      <p:sp>
        <p:nvSpPr>
          <p:cNvPr id="3" name="Content Placeholder 2">
            <a:extLst>
              <a:ext uri="{FF2B5EF4-FFF2-40B4-BE49-F238E27FC236}">
                <a16:creationId xmlns:a16="http://schemas.microsoft.com/office/drawing/2014/main" id="{0008B888-6DD1-4452-8C20-76CF8FFAE32E}"/>
              </a:ext>
            </a:extLst>
          </p:cNvPr>
          <p:cNvSpPr>
            <a:spLocks noGrp="1"/>
          </p:cNvSpPr>
          <p:nvPr>
            <p:ph idx="1"/>
          </p:nvPr>
        </p:nvSpPr>
        <p:spPr>
          <a:xfrm>
            <a:off x="838200" y="1358557"/>
            <a:ext cx="10432473" cy="2070443"/>
          </a:xfrm>
        </p:spPr>
        <p:txBody>
          <a:bodyPr>
            <a:normAutofit/>
          </a:bodyPr>
          <a:lstStyle/>
          <a:p>
            <a:pPr marL="457200" indent="-457200">
              <a:buFont typeface="+mj-lt"/>
              <a:buAutoNum type="arabicPeriod"/>
            </a:pPr>
            <a:r>
              <a:rPr lang="en-US" sz="2000" b="1" dirty="0">
                <a:solidFill>
                  <a:schemeClr val="bg2">
                    <a:lumMod val="25000"/>
                  </a:schemeClr>
                </a:solidFill>
              </a:rPr>
              <a:t>Context-Aware Activity Recognition for Elderly</a:t>
            </a:r>
            <a:r>
              <a:rPr lang="en-US" sz="2000" dirty="0">
                <a:solidFill>
                  <a:schemeClr val="bg2">
                    <a:lumMod val="25000"/>
                  </a:schemeClr>
                </a:solidFill>
              </a:rPr>
              <a:t> </a:t>
            </a:r>
            <a:r>
              <a:rPr lang="en-US" sz="2000" b="1" dirty="0">
                <a:solidFill>
                  <a:schemeClr val="bg2">
                    <a:lumMod val="25000"/>
                  </a:schemeClr>
                </a:solidFill>
              </a:rPr>
              <a:t> Fall Risk Detection</a:t>
            </a:r>
          </a:p>
          <a:p>
            <a:pPr marL="457200" indent="-457200">
              <a:buFont typeface="+mj-lt"/>
              <a:buAutoNum type="arabicPeriod"/>
            </a:pPr>
            <a:r>
              <a:rPr lang="en-US" sz="2000" b="1" dirty="0">
                <a:solidFill>
                  <a:schemeClr val="bg2">
                    <a:lumMod val="25000"/>
                  </a:schemeClr>
                </a:solidFill>
                <a:ea typeface="Calibri" pitchFamily="34" charset="-122"/>
                <a:cs typeface="Calibri" pitchFamily="34" charset="-120"/>
              </a:rPr>
              <a:t>Environmental Risk Mapping &amp;</a:t>
            </a:r>
            <a:r>
              <a:rPr lang="en-US" sz="2000" dirty="0">
                <a:solidFill>
                  <a:schemeClr val="bg2">
                    <a:lumMod val="25000"/>
                  </a:schemeClr>
                </a:solidFill>
              </a:rPr>
              <a:t> </a:t>
            </a:r>
            <a:r>
              <a:rPr lang="en-US" sz="2000" b="1" dirty="0">
                <a:solidFill>
                  <a:schemeClr val="bg2">
                    <a:lumMod val="25000"/>
                  </a:schemeClr>
                </a:solidFill>
                <a:ea typeface="Calibri" pitchFamily="34" charset="-122"/>
                <a:cs typeface="Calibri" pitchFamily="34" charset="-120"/>
              </a:rPr>
              <a:t>Smart Safety Zone System</a:t>
            </a:r>
          </a:p>
          <a:p>
            <a:pPr marL="457200" indent="-457200">
              <a:buFont typeface="+mj-lt"/>
              <a:buAutoNum type="arabicPeriod"/>
            </a:pPr>
            <a:r>
              <a:rPr lang="en-US" sz="2000" b="1" dirty="0">
                <a:solidFill>
                  <a:schemeClr val="bg2">
                    <a:lumMod val="25000"/>
                  </a:schemeClr>
                </a:solidFill>
              </a:rPr>
              <a:t>Intelligent Multi-Level Alert System for Elderly Safety Monitoring</a:t>
            </a:r>
          </a:p>
          <a:p>
            <a:pPr marL="457200" indent="-457200">
              <a:buFont typeface="+mj-lt"/>
              <a:buAutoNum type="arabicPeriod"/>
            </a:pPr>
            <a:r>
              <a:rPr lang="en-US" sz="2000" b="1" dirty="0">
                <a:solidFill>
                  <a:schemeClr val="bg2">
                    <a:lumMod val="25000"/>
                  </a:schemeClr>
                </a:solidFill>
                <a:ea typeface="Urbanist"/>
                <a:cs typeface="Urbanist"/>
                <a:sym typeface="Urbanist"/>
              </a:rPr>
              <a:t>Intelligent Monitoring Dashboard</a:t>
            </a:r>
            <a:endParaRPr lang="en-US" sz="2000" dirty="0">
              <a:solidFill>
                <a:schemeClr val="bg2">
                  <a:lumMod val="25000"/>
                </a:schemeClr>
              </a:solidFill>
            </a:endParaRPr>
          </a:p>
          <a:p>
            <a:pPr marL="514350" indent="-514350">
              <a:buFont typeface="Arial" panose="020B0604020202020204" pitchFamily="34" charset="0"/>
              <a:buAutoNum type="arabicPeriod"/>
            </a:pPr>
            <a:endParaRPr lang="en-US" b="1" dirty="0">
              <a:solidFill>
                <a:schemeClr val="tx2"/>
              </a:solidFill>
            </a:endParaRPr>
          </a:p>
          <a:p>
            <a:pPr marL="514350" indent="-514350">
              <a:buAutoNum type="arabicPeriod"/>
            </a:pPr>
            <a:endParaRPr lang="en-US" b="1" dirty="0">
              <a:solidFill>
                <a:srgbClr val="1F3864"/>
              </a:solidFill>
              <a:latin typeface="Calibri" pitchFamily="34" charset="0"/>
              <a:ea typeface="Calibri" pitchFamily="34" charset="-122"/>
              <a:cs typeface="Calibri" pitchFamily="34" charset="-120"/>
            </a:endParaRPr>
          </a:p>
          <a:p>
            <a:pPr marL="514350" indent="-514350">
              <a:buAutoNum type="arabicPeriod"/>
            </a:pPr>
            <a:endParaRPr lang="en-US" dirty="0"/>
          </a:p>
          <a:p>
            <a:pPr marL="0" indent="0">
              <a:buNone/>
            </a:pPr>
            <a:endParaRPr lang="en-US" b="1" dirty="0"/>
          </a:p>
          <a:p>
            <a:pPr marL="514350" indent="-514350">
              <a:buAutoNum type="arabicPeriod"/>
            </a:pPr>
            <a:endParaRPr lang="en-US" dirty="0"/>
          </a:p>
        </p:txBody>
      </p:sp>
      <p:pic>
        <p:nvPicPr>
          <p:cNvPr id="1026" name="Picture 2" descr="In-Home Senior Care in Greater Burlington, NJ | Home Matters">
            <a:extLst>
              <a:ext uri="{FF2B5EF4-FFF2-40B4-BE49-F238E27FC236}">
                <a16:creationId xmlns:a16="http://schemas.microsoft.com/office/drawing/2014/main" id="{73291590-D3AA-433C-B91E-9AB45EF23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3793" y="2896564"/>
            <a:ext cx="5579918" cy="317174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73A8018-86A1-68F4-41D2-4B345DDFA548}"/>
              </a:ext>
            </a:extLst>
          </p:cNvPr>
          <p:cNvPicPr>
            <a:picLocks noChangeAspect="1"/>
          </p:cNvPicPr>
          <p:nvPr/>
        </p:nvPicPr>
        <p:blipFill>
          <a:blip r:embed="rId3"/>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739BB4B5-736F-BB4B-0417-68AE0D22E0FA}"/>
              </a:ext>
            </a:extLst>
          </p:cNvPr>
          <p:cNvSpPr txBox="1">
            <a:spLocks/>
          </p:cNvSpPr>
          <p:nvPr/>
        </p:nvSpPr>
        <p:spPr>
          <a:xfrm>
            <a:off x="10171216" y="6327601"/>
            <a:ext cx="2198914"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R26-IT-051</a:t>
            </a:r>
          </a:p>
        </p:txBody>
      </p:sp>
    </p:spTree>
    <p:extLst>
      <p:ext uri="{BB962C8B-B14F-4D97-AF65-F5344CB8AC3E}">
        <p14:creationId xmlns:p14="http://schemas.microsoft.com/office/powerpoint/2010/main" val="575415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49C56-8A50-2C1B-0FCC-E8F39F169AC3}"/>
              </a:ext>
            </a:extLst>
          </p:cNvPr>
          <p:cNvSpPr>
            <a:spLocks noGrp="1"/>
          </p:cNvSpPr>
          <p:nvPr>
            <p:ph type="title"/>
          </p:nvPr>
        </p:nvSpPr>
        <p:spPr>
          <a:xfrm>
            <a:off x="838200" y="172085"/>
            <a:ext cx="10515600" cy="610235"/>
          </a:xfrm>
        </p:spPr>
        <p:txBody>
          <a:bodyPr>
            <a:normAutofit fontScale="90000"/>
          </a:bodyPr>
          <a:lstStyle/>
          <a:p>
            <a:pPr algn="ctr"/>
            <a:r>
              <a:rPr lang="en-US" b="1" u="sng" dirty="0"/>
              <a:t>TEAM</a:t>
            </a:r>
          </a:p>
        </p:txBody>
      </p:sp>
      <p:sp>
        <p:nvSpPr>
          <p:cNvPr id="3" name="Content Placeholder 2">
            <a:extLst>
              <a:ext uri="{FF2B5EF4-FFF2-40B4-BE49-F238E27FC236}">
                <a16:creationId xmlns:a16="http://schemas.microsoft.com/office/drawing/2014/main" id="{63146829-C36D-D0A1-693C-7522EF6C3401}"/>
              </a:ext>
            </a:extLst>
          </p:cNvPr>
          <p:cNvSpPr>
            <a:spLocks noGrp="1"/>
          </p:cNvSpPr>
          <p:nvPr>
            <p:ph idx="1"/>
          </p:nvPr>
        </p:nvSpPr>
        <p:spPr>
          <a:xfrm>
            <a:off x="2402840" y="3241039"/>
            <a:ext cx="1915160" cy="457201"/>
          </a:xfrm>
        </p:spPr>
        <p:txBody>
          <a:bodyPr>
            <a:normAutofit/>
          </a:bodyPr>
          <a:lstStyle/>
          <a:p>
            <a:pPr marL="0" indent="0">
              <a:buNone/>
            </a:pPr>
            <a:r>
              <a:rPr lang="en-US" sz="2400" b="1" dirty="0">
                <a:solidFill>
                  <a:schemeClr val="bg2">
                    <a:lumMod val="10000"/>
                  </a:schemeClr>
                </a:solidFill>
                <a:latin typeface="Times New Roman" panose="02020603050405020304" pitchFamily="18" charset="0"/>
                <a:ea typeface="Canva Sans"/>
                <a:cs typeface="Times New Roman" panose="02020603050405020304" pitchFamily="18" charset="0"/>
                <a:sym typeface="Canva Sans"/>
              </a:rPr>
              <a:t>Supervisor</a:t>
            </a:r>
            <a:endParaRPr lang="en-US" sz="24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5" name="Freeform 9">
            <a:extLst>
              <a:ext uri="{FF2B5EF4-FFF2-40B4-BE49-F238E27FC236}">
                <a16:creationId xmlns:a16="http://schemas.microsoft.com/office/drawing/2014/main" id="{C52A0152-533D-FA29-6F56-1318856FE536}"/>
              </a:ext>
            </a:extLst>
          </p:cNvPr>
          <p:cNvSpPr/>
          <p:nvPr/>
        </p:nvSpPr>
        <p:spPr>
          <a:xfrm>
            <a:off x="2021839" y="955091"/>
            <a:ext cx="2343670" cy="2285948"/>
          </a:xfrm>
          <a:custGeom>
            <a:avLst/>
            <a:gdLst/>
            <a:ahLst/>
            <a:cxnLst/>
            <a:rect l="l" t="t" r="r" b="b"/>
            <a:pathLst>
              <a:path w="2612450" h="2566110">
                <a:moveTo>
                  <a:pt x="0" y="0"/>
                </a:moveTo>
                <a:lnTo>
                  <a:pt x="2612450" y="0"/>
                </a:lnTo>
                <a:lnTo>
                  <a:pt x="2612450" y="2566110"/>
                </a:lnTo>
                <a:lnTo>
                  <a:pt x="0" y="2566110"/>
                </a:lnTo>
                <a:lnTo>
                  <a:pt x="0" y="0"/>
                </a:lnTo>
                <a:close/>
              </a:path>
            </a:pathLst>
          </a:custGeom>
          <a:blipFill>
            <a:blip r:embed="rId3"/>
            <a:stretch>
              <a:fillRect/>
            </a:stretch>
          </a:blipFill>
        </p:spPr>
        <p:txBody>
          <a:bodyPr/>
          <a:lstStyle/>
          <a:p>
            <a:endParaRPr lang="en-GB"/>
          </a:p>
        </p:txBody>
      </p:sp>
      <p:sp>
        <p:nvSpPr>
          <p:cNvPr id="6" name="Content Placeholder 2">
            <a:extLst>
              <a:ext uri="{FF2B5EF4-FFF2-40B4-BE49-F238E27FC236}">
                <a16:creationId xmlns:a16="http://schemas.microsoft.com/office/drawing/2014/main" id="{22158E3F-9B57-6312-E8FF-32CD62A60448}"/>
              </a:ext>
            </a:extLst>
          </p:cNvPr>
          <p:cNvSpPr txBox="1">
            <a:spLocks/>
          </p:cNvSpPr>
          <p:nvPr/>
        </p:nvSpPr>
        <p:spPr>
          <a:xfrm>
            <a:off x="1656080" y="3616962"/>
            <a:ext cx="3591560" cy="457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Mr. </a:t>
            </a:r>
            <a:r>
              <a:rPr lang="en-US" sz="2000" dirty="0" err="1">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Uditha</a:t>
            </a:r>
            <a:r>
              <a:rPr lang="en-US" sz="20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 </a:t>
            </a:r>
            <a:r>
              <a:rPr lang="en-US" sz="2000" dirty="0" err="1">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Dharmakeerthi</a:t>
            </a:r>
            <a:endParaRPr lang="en-US" sz="20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endParaRPr>
          </a:p>
          <a:p>
            <a:pPr marL="0" indent="0">
              <a:buFont typeface="Arial" panose="020B0604020202020204" pitchFamily="34" charset="0"/>
              <a:buNone/>
            </a:pPr>
            <a:endParaRPr lang="en-US"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7" name="Freeform 10">
            <a:extLst>
              <a:ext uri="{FF2B5EF4-FFF2-40B4-BE49-F238E27FC236}">
                <a16:creationId xmlns:a16="http://schemas.microsoft.com/office/drawing/2014/main" id="{63BD95F3-7A5E-9D37-B502-0B2033905775}"/>
              </a:ext>
            </a:extLst>
          </p:cNvPr>
          <p:cNvSpPr/>
          <p:nvPr/>
        </p:nvSpPr>
        <p:spPr>
          <a:xfrm>
            <a:off x="7826492" y="955091"/>
            <a:ext cx="2343669" cy="2377389"/>
          </a:xfrm>
          <a:custGeom>
            <a:avLst/>
            <a:gdLst/>
            <a:ahLst/>
            <a:cxnLst/>
            <a:rect l="l" t="t" r="r" b="b"/>
            <a:pathLst>
              <a:path w="2609029" h="2574319">
                <a:moveTo>
                  <a:pt x="0" y="0"/>
                </a:moveTo>
                <a:lnTo>
                  <a:pt x="2609030" y="0"/>
                </a:lnTo>
                <a:lnTo>
                  <a:pt x="2609030" y="2574320"/>
                </a:lnTo>
                <a:lnTo>
                  <a:pt x="0" y="2574320"/>
                </a:lnTo>
                <a:lnTo>
                  <a:pt x="0" y="0"/>
                </a:lnTo>
                <a:close/>
              </a:path>
            </a:pathLst>
          </a:custGeom>
          <a:blipFill>
            <a:blip r:embed="rId4"/>
            <a:stretch>
              <a:fillRect/>
            </a:stretch>
          </a:blipFill>
        </p:spPr>
        <p:txBody>
          <a:bodyPr/>
          <a:lstStyle/>
          <a:p>
            <a:endParaRPr lang="en-GB"/>
          </a:p>
        </p:txBody>
      </p:sp>
      <p:sp>
        <p:nvSpPr>
          <p:cNvPr id="8" name="Content Placeholder 2">
            <a:extLst>
              <a:ext uri="{FF2B5EF4-FFF2-40B4-BE49-F238E27FC236}">
                <a16:creationId xmlns:a16="http://schemas.microsoft.com/office/drawing/2014/main" id="{DAECF7B2-3157-26B8-BA68-9CCE30FB27F1}"/>
              </a:ext>
            </a:extLst>
          </p:cNvPr>
          <p:cNvSpPr txBox="1">
            <a:spLocks/>
          </p:cNvSpPr>
          <p:nvPr/>
        </p:nvSpPr>
        <p:spPr>
          <a:xfrm>
            <a:off x="8255001" y="3332480"/>
            <a:ext cx="1915160" cy="45720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solidFill>
                  <a:schemeClr val="bg2">
                    <a:lumMod val="10000"/>
                  </a:schemeClr>
                </a:solidFill>
                <a:latin typeface="Times New Roman" panose="02020603050405020304" pitchFamily="18" charset="0"/>
                <a:ea typeface="Canva Sans"/>
                <a:cs typeface="Times New Roman" panose="02020603050405020304" pitchFamily="18" charset="0"/>
                <a:sym typeface="Canva Sans"/>
              </a:rPr>
              <a:t>Co-Supervisor</a:t>
            </a:r>
            <a:endParaRPr lang="en-US" sz="24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06A28316-E61B-D5D3-842A-9BB9A78280FA}"/>
              </a:ext>
            </a:extLst>
          </p:cNvPr>
          <p:cNvSpPr txBox="1">
            <a:spLocks/>
          </p:cNvSpPr>
          <p:nvPr/>
        </p:nvSpPr>
        <p:spPr>
          <a:xfrm>
            <a:off x="7874002" y="3601721"/>
            <a:ext cx="2590798" cy="457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Mr. Kanishka Yapa</a:t>
            </a:r>
          </a:p>
          <a:p>
            <a:pPr marL="0" indent="0">
              <a:buFont typeface="Arial" panose="020B0604020202020204" pitchFamily="34" charset="0"/>
              <a:buNone/>
            </a:pPr>
            <a:endParaRPr lang="en-US"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F8E630E8-BB17-3C1D-FFB3-B18A863BFAF3}"/>
              </a:ext>
            </a:extLst>
          </p:cNvPr>
          <p:cNvSpPr txBox="1">
            <a:spLocks/>
          </p:cNvSpPr>
          <p:nvPr/>
        </p:nvSpPr>
        <p:spPr>
          <a:xfrm>
            <a:off x="777240" y="6075682"/>
            <a:ext cx="1625600" cy="78231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M T K Chathuri</a:t>
            </a:r>
          </a:p>
          <a:p>
            <a:pPr marL="0" indent="0" algn="ctr">
              <a:buNone/>
            </a:pPr>
            <a:r>
              <a:rPr lang="en-US" sz="22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IT22548078</a:t>
            </a:r>
          </a:p>
          <a:p>
            <a:pPr marL="0" indent="0" algn="ctr">
              <a:buFont typeface="Arial" panose="020B0604020202020204" pitchFamily="34" charset="0"/>
              <a:buNone/>
            </a:pPr>
            <a:endParaRPr lang="en-US"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74ED6F7-2846-2F44-9AE4-1D2FD677C2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1440" y="4553670"/>
            <a:ext cx="1448137" cy="1492575"/>
          </a:xfrm>
          <a:prstGeom prst="rect">
            <a:avLst/>
          </a:prstGeom>
        </p:spPr>
      </p:pic>
      <p:sp>
        <p:nvSpPr>
          <p:cNvPr id="15" name="Content Placeholder 2">
            <a:extLst>
              <a:ext uri="{FF2B5EF4-FFF2-40B4-BE49-F238E27FC236}">
                <a16:creationId xmlns:a16="http://schemas.microsoft.com/office/drawing/2014/main" id="{4C615716-C8A3-F72E-C845-CC2208DA283F}"/>
              </a:ext>
            </a:extLst>
          </p:cNvPr>
          <p:cNvSpPr txBox="1">
            <a:spLocks/>
          </p:cNvSpPr>
          <p:nvPr/>
        </p:nvSpPr>
        <p:spPr>
          <a:xfrm>
            <a:off x="3406322" y="6075680"/>
            <a:ext cx="1918374" cy="634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Times New Roman" panose="02020603050405020304" pitchFamily="18" charset="0"/>
                <a:cs typeface="Times New Roman" panose="02020603050405020304" pitchFamily="18" charset="0"/>
              </a:rPr>
              <a:t>D H S </a:t>
            </a:r>
            <a:r>
              <a:rPr lang="en-US" sz="1600" dirty="0" err="1">
                <a:latin typeface="Times New Roman" panose="02020603050405020304" pitchFamily="18" charset="0"/>
                <a:cs typeface="Times New Roman" panose="02020603050405020304" pitchFamily="18" charset="0"/>
              </a:rPr>
              <a:t>Diwyangi</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IT22559968</a:t>
            </a:r>
            <a:endParaRPr 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16" name="Content Placeholder 2">
            <a:extLst>
              <a:ext uri="{FF2B5EF4-FFF2-40B4-BE49-F238E27FC236}">
                <a16:creationId xmlns:a16="http://schemas.microsoft.com/office/drawing/2014/main" id="{03A8CEDD-CA7A-487C-8693-F43904903D9A}"/>
              </a:ext>
            </a:extLst>
          </p:cNvPr>
          <p:cNvSpPr txBox="1">
            <a:spLocks/>
          </p:cNvSpPr>
          <p:nvPr/>
        </p:nvSpPr>
        <p:spPr>
          <a:xfrm>
            <a:off x="6622093" y="6096005"/>
            <a:ext cx="2029522" cy="782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Times New Roman" panose="02020603050405020304" pitchFamily="18" charset="0"/>
                <a:cs typeface="Times New Roman" panose="02020603050405020304" pitchFamily="18" charset="0"/>
              </a:rPr>
              <a:t>W A H </a:t>
            </a:r>
            <a:r>
              <a:rPr lang="en-US" sz="1600" dirty="0" err="1">
                <a:latin typeface="Times New Roman" panose="02020603050405020304" pitchFamily="18" charset="0"/>
                <a:cs typeface="Times New Roman" panose="02020603050405020304" pitchFamily="18" charset="0"/>
              </a:rPr>
              <a:t>Divyanjalie</a:t>
            </a:r>
            <a:r>
              <a:rPr lang="en-US" sz="1600" dirty="0">
                <a:latin typeface="Times New Roman" panose="02020603050405020304" pitchFamily="18" charset="0"/>
                <a:cs typeface="Times New Roman" panose="02020603050405020304" pitchFamily="18" charset="0"/>
              </a:rPr>
              <a:t> IT22227690</a:t>
            </a:r>
            <a:endParaRPr 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D9296EB7-48FB-B299-5828-2888018420CA}"/>
              </a:ext>
            </a:extLst>
          </p:cNvPr>
          <p:cNvSpPr txBox="1">
            <a:spLocks/>
          </p:cNvSpPr>
          <p:nvPr/>
        </p:nvSpPr>
        <p:spPr>
          <a:xfrm>
            <a:off x="9619225" y="6096005"/>
            <a:ext cx="2029522" cy="782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Times New Roman" panose="02020603050405020304" pitchFamily="18" charset="0"/>
                <a:cs typeface="Times New Roman" panose="02020603050405020304" pitchFamily="18" charset="0"/>
              </a:rPr>
              <a:t>E D K M Kulathunga</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IT21066948</a:t>
            </a:r>
            <a:endParaRPr lang="en-US" sz="16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386D1B25-1D17-0BD2-4007-A1D1D4D24440}"/>
              </a:ext>
            </a:extLst>
          </p:cNvPr>
          <p:cNvPicPr>
            <a:picLocks noChangeAspect="1"/>
          </p:cNvPicPr>
          <p:nvPr/>
        </p:nvPicPr>
        <p:blipFill>
          <a:blip r:embed="rId6"/>
          <a:stretch>
            <a:fillRect/>
          </a:stretch>
        </p:blipFill>
        <p:spPr>
          <a:xfrm>
            <a:off x="0" y="24978"/>
            <a:ext cx="2600688" cy="504895"/>
          </a:xfrm>
          <a:prstGeom prst="rect">
            <a:avLst/>
          </a:prstGeom>
        </p:spPr>
      </p:pic>
      <p:sp>
        <p:nvSpPr>
          <p:cNvPr id="19" name="Subtitle 2">
            <a:extLst>
              <a:ext uri="{FF2B5EF4-FFF2-40B4-BE49-F238E27FC236}">
                <a16:creationId xmlns:a16="http://schemas.microsoft.com/office/drawing/2014/main" id="{5A5EC4BD-6E4B-3FBC-392A-B27F19EC6B16}"/>
              </a:ext>
            </a:extLst>
          </p:cNvPr>
          <p:cNvSpPr txBox="1">
            <a:spLocks/>
          </p:cNvSpPr>
          <p:nvPr/>
        </p:nvSpPr>
        <p:spPr>
          <a:xfrm>
            <a:off x="10464800" y="24978"/>
            <a:ext cx="2198914"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R26-IT-051</a:t>
            </a:r>
          </a:p>
        </p:txBody>
      </p:sp>
      <p:pic>
        <p:nvPicPr>
          <p:cNvPr id="4" name="Picture 3">
            <a:extLst>
              <a:ext uri="{FF2B5EF4-FFF2-40B4-BE49-F238E27FC236}">
                <a16:creationId xmlns:a16="http://schemas.microsoft.com/office/drawing/2014/main" id="{65C61A89-586A-4836-81E3-B95EE4850AB8}"/>
              </a:ext>
            </a:extLst>
          </p:cNvPr>
          <p:cNvPicPr>
            <a:picLocks noChangeAspect="1"/>
          </p:cNvPicPr>
          <p:nvPr/>
        </p:nvPicPr>
        <p:blipFill>
          <a:blip r:embed="rId7"/>
          <a:stretch>
            <a:fillRect/>
          </a:stretch>
        </p:blipFill>
        <p:spPr>
          <a:xfrm>
            <a:off x="6811731" y="4494443"/>
            <a:ext cx="1363916" cy="1611027"/>
          </a:xfrm>
          <a:prstGeom prst="rect">
            <a:avLst/>
          </a:prstGeom>
        </p:spPr>
      </p:pic>
      <p:pic>
        <p:nvPicPr>
          <p:cNvPr id="13" name="Picture 12">
            <a:extLst>
              <a:ext uri="{FF2B5EF4-FFF2-40B4-BE49-F238E27FC236}">
                <a16:creationId xmlns:a16="http://schemas.microsoft.com/office/drawing/2014/main" id="{6DF2EE65-FA4D-704B-509B-2F764309E7C3}"/>
              </a:ext>
            </a:extLst>
          </p:cNvPr>
          <p:cNvPicPr>
            <a:picLocks noChangeAspect="1"/>
          </p:cNvPicPr>
          <p:nvPr/>
        </p:nvPicPr>
        <p:blipFill>
          <a:blip r:embed="rId8">
            <a:extLst>
              <a:ext uri="{28A0092B-C50C-407E-A947-70E740481C1C}">
                <a14:useLocalDpi xmlns:a14="http://schemas.microsoft.com/office/drawing/2010/main" val="0"/>
              </a:ext>
            </a:extLst>
          </a:blip>
          <a:srcRect b="6829"/>
          <a:stretch>
            <a:fillRect/>
          </a:stretch>
        </p:blipFill>
        <p:spPr>
          <a:xfrm>
            <a:off x="879428" y="4553670"/>
            <a:ext cx="1448136" cy="1522009"/>
          </a:xfrm>
          <a:prstGeom prst="rect">
            <a:avLst/>
          </a:prstGeom>
        </p:spPr>
      </p:pic>
    </p:spTree>
    <p:extLst>
      <p:ext uri="{BB962C8B-B14F-4D97-AF65-F5344CB8AC3E}">
        <p14:creationId xmlns:p14="http://schemas.microsoft.com/office/powerpoint/2010/main" val="3417675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340E0-8E4E-3D77-8A0B-93F92905926E}"/>
              </a:ext>
            </a:extLst>
          </p:cNvPr>
          <p:cNvSpPr>
            <a:spLocks noGrp="1"/>
          </p:cNvSpPr>
          <p:nvPr>
            <p:ph type="title"/>
          </p:nvPr>
        </p:nvSpPr>
        <p:spPr>
          <a:xfrm>
            <a:off x="2903220" y="365125"/>
            <a:ext cx="6385560" cy="504895"/>
          </a:xfrm>
        </p:spPr>
        <p:txBody>
          <a:bodyPr>
            <a:normAutofit fontScale="90000"/>
          </a:bodyPr>
          <a:lstStyle/>
          <a:p>
            <a:pPr algn="ctr"/>
            <a:r>
              <a:rPr lang="en-US" sz="3200" b="1" u="sng" dirty="0">
                <a:latin typeface="Canva Sans Bold"/>
                <a:ea typeface="Canva Sans Bold"/>
                <a:cs typeface="Canva Sans Bold"/>
                <a:sym typeface="Canva Sans Bold"/>
              </a:rPr>
              <a:t>Comments received &amp; Improvements</a:t>
            </a:r>
            <a:br>
              <a:rPr lang="en-US" sz="3200" b="1" u="sng" dirty="0">
                <a:solidFill>
                  <a:srgbClr val="358580"/>
                </a:solidFill>
                <a:latin typeface="Canva Sans Bold"/>
                <a:ea typeface="Canva Sans Bold"/>
                <a:cs typeface="Canva Sans Bold"/>
                <a:sym typeface="Canva Sans Bold"/>
              </a:rPr>
            </a:br>
            <a:endParaRPr lang="en-US" sz="3200" u="sng" dirty="0"/>
          </a:p>
        </p:txBody>
      </p:sp>
      <p:graphicFrame>
        <p:nvGraphicFramePr>
          <p:cNvPr id="5" name="Table 4">
            <a:extLst>
              <a:ext uri="{FF2B5EF4-FFF2-40B4-BE49-F238E27FC236}">
                <a16:creationId xmlns:a16="http://schemas.microsoft.com/office/drawing/2014/main" id="{C26464A4-1C49-215C-023D-970AA935BDE3}"/>
              </a:ext>
            </a:extLst>
          </p:cNvPr>
          <p:cNvGraphicFramePr>
            <a:graphicFrameLocks noGrp="1"/>
          </p:cNvGraphicFramePr>
          <p:nvPr>
            <p:extLst>
              <p:ext uri="{D42A27DB-BD31-4B8C-83A1-F6EECF244321}">
                <p14:modId xmlns:p14="http://schemas.microsoft.com/office/powerpoint/2010/main" val="3077997836"/>
              </p:ext>
            </p:extLst>
          </p:nvPr>
        </p:nvGraphicFramePr>
        <p:xfrm>
          <a:off x="1536700" y="762000"/>
          <a:ext cx="9362440" cy="5031232"/>
        </p:xfrm>
        <a:graphic>
          <a:graphicData uri="http://schemas.openxmlformats.org/drawingml/2006/table">
            <a:tbl>
              <a:tblPr firstRow="1" bandRow="1">
                <a:tableStyleId>{5C22544A-7EE6-4342-B048-85BDC9FD1C3A}</a:tableStyleId>
              </a:tblPr>
              <a:tblGrid>
                <a:gridCol w="4681220">
                  <a:extLst>
                    <a:ext uri="{9D8B030D-6E8A-4147-A177-3AD203B41FA5}">
                      <a16:colId xmlns:a16="http://schemas.microsoft.com/office/drawing/2014/main" val="401154142"/>
                    </a:ext>
                  </a:extLst>
                </a:gridCol>
                <a:gridCol w="4681220">
                  <a:extLst>
                    <a:ext uri="{9D8B030D-6E8A-4147-A177-3AD203B41FA5}">
                      <a16:colId xmlns:a16="http://schemas.microsoft.com/office/drawing/2014/main" val="1750155244"/>
                    </a:ext>
                  </a:extLst>
                </a:gridCol>
              </a:tblGrid>
              <a:tr h="619760">
                <a:tc>
                  <a:txBody>
                    <a:bodyPr/>
                    <a:lstStyle/>
                    <a:p>
                      <a:pPr algn="ctr"/>
                      <a:r>
                        <a:rPr lang="en-US" sz="2800" dirty="0"/>
                        <a:t>IT Numbers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000000"/>
                          </a:solidFill>
                          <a:latin typeface="Canva Sans Bold"/>
                          <a:ea typeface="Canva Sans Bold"/>
                          <a:cs typeface="Canva Sans Bold"/>
                          <a:sym typeface="Canva Sans Bold"/>
                        </a:rPr>
                        <a:t>Comments Received</a:t>
                      </a:r>
                      <a:endParaRPr lang="en-US" sz="1050" b="0" dirty="0"/>
                    </a:p>
                  </a:txBody>
                  <a:tcPr/>
                </a:tc>
                <a:extLst>
                  <a:ext uri="{0D108BD9-81ED-4DB2-BD59-A6C34878D82A}">
                    <a16:rowId xmlns:a16="http://schemas.microsoft.com/office/drawing/2014/main" val="3965484649"/>
                  </a:ext>
                </a:extLst>
              </a:tr>
              <a:tr h="782320">
                <a:tc>
                  <a:txBody>
                    <a:bodyPr/>
                    <a:lstStyle/>
                    <a:p>
                      <a:pPr algn="l"/>
                      <a:r>
                        <a:rPr lang="en-US" dirty="0"/>
                        <a:t>IT22548078</a:t>
                      </a:r>
                    </a:p>
                  </a:txBody>
                  <a:tcPr/>
                </a:tc>
                <a:tc>
                  <a:txBody>
                    <a:bodyPr/>
                    <a:lstStyle/>
                    <a:p>
                      <a:pPr algn="l"/>
                      <a:r>
                        <a:rPr lang="en-US" sz="1600" dirty="0"/>
                        <a:t>No idea regarding the categorization of a doctor &amp; the department division. And the department division should be done from the backend, not manually. </a:t>
                      </a:r>
                    </a:p>
                  </a:txBody>
                  <a:tcPr/>
                </a:tc>
                <a:extLst>
                  <a:ext uri="{0D108BD9-81ED-4DB2-BD59-A6C34878D82A}">
                    <a16:rowId xmlns:a16="http://schemas.microsoft.com/office/drawing/2014/main" val="1170264300"/>
                  </a:ext>
                </a:extLst>
              </a:tr>
              <a:tr h="967232">
                <a:tc>
                  <a:txBody>
                    <a:bodyPr/>
                    <a:lstStyle/>
                    <a:p>
                      <a:r>
                        <a:rPr lang="en-US" sz="1800" b="0" i="0" kern="1200" dirty="0">
                          <a:solidFill>
                            <a:schemeClr val="dk1"/>
                          </a:solidFill>
                          <a:effectLst/>
                          <a:latin typeface="+mn-lt"/>
                          <a:ea typeface="+mn-ea"/>
                          <a:cs typeface="+mn-cs"/>
                        </a:rPr>
                        <a:t>IT22559968</a:t>
                      </a:r>
                      <a:endParaRPr lang="en-US" b="0" dirty="0"/>
                    </a:p>
                  </a:txBody>
                  <a:tcPr/>
                </a:tc>
                <a:tc>
                  <a:txBody>
                    <a:bodyPr/>
                    <a:lstStyle/>
                    <a:p>
                      <a:pPr algn="l"/>
                      <a:r>
                        <a:rPr lang="en-US" sz="1600" b="0" i="0" kern="1200" dirty="0">
                          <a:solidFill>
                            <a:schemeClr val="dk1"/>
                          </a:solidFill>
                          <a:effectLst/>
                          <a:latin typeface="+mn-lt"/>
                          <a:ea typeface="+mn-ea"/>
                          <a:cs typeface="+mn-cs"/>
                        </a:rPr>
                        <a:t>Just entering the details by a doctor, which cannot be considered as a research component. Usage of blockchain for this component is questionable. WARNING LETTER IS ISSUED. </a:t>
                      </a:r>
                      <a:endParaRPr lang="en-US" sz="1600" dirty="0"/>
                    </a:p>
                  </a:txBody>
                  <a:tcPr/>
                </a:tc>
                <a:extLst>
                  <a:ext uri="{0D108BD9-81ED-4DB2-BD59-A6C34878D82A}">
                    <a16:rowId xmlns:a16="http://schemas.microsoft.com/office/drawing/2014/main" val="2722366050"/>
                  </a:ext>
                </a:extLst>
              </a:tr>
              <a:tr h="967232">
                <a:tc>
                  <a:txBody>
                    <a:bodyPr/>
                    <a:lstStyle/>
                    <a:p>
                      <a:r>
                        <a:rPr lang="en-US" sz="1800" b="0" i="0" kern="1200" dirty="0">
                          <a:solidFill>
                            <a:schemeClr val="dk1"/>
                          </a:solidFill>
                          <a:effectLst/>
                          <a:latin typeface="+mn-lt"/>
                          <a:ea typeface="+mn-ea"/>
                          <a:cs typeface="+mn-cs"/>
                        </a:rPr>
                        <a:t>IT22227690</a:t>
                      </a:r>
                      <a:endParaRPr lang="en-US" b="0" dirty="0"/>
                    </a:p>
                  </a:txBody>
                  <a:tcPr/>
                </a:tc>
                <a:tc>
                  <a:txBody>
                    <a:bodyPr/>
                    <a:lstStyle/>
                    <a:p>
                      <a:pPr algn="l"/>
                      <a:r>
                        <a:rPr lang="en-US" sz="1600" b="0" i="0" kern="1200" dirty="0">
                          <a:solidFill>
                            <a:schemeClr val="dk1"/>
                          </a:solidFill>
                          <a:effectLst/>
                          <a:latin typeface="+mn-lt"/>
                          <a:ea typeface="+mn-ea"/>
                          <a:cs typeface="+mn-cs"/>
                        </a:rPr>
                        <a:t>Cannot restrict the patient information for a single doctor, it should be at least visible to 1 type of doctor category. If all the patent information is available, the using of a chatbot is again questionable just to retrieve the data. no research component at all. WARNING LETTER IS ISSUED. </a:t>
                      </a:r>
                      <a:endParaRPr lang="en-US" sz="1600" dirty="0"/>
                    </a:p>
                  </a:txBody>
                  <a:tcPr/>
                </a:tc>
                <a:extLst>
                  <a:ext uri="{0D108BD9-81ED-4DB2-BD59-A6C34878D82A}">
                    <a16:rowId xmlns:a16="http://schemas.microsoft.com/office/drawing/2014/main" val="246545431"/>
                  </a:ext>
                </a:extLst>
              </a:tr>
              <a:tr h="967232">
                <a:tc>
                  <a:txBody>
                    <a:bodyPr/>
                    <a:lstStyle/>
                    <a:p>
                      <a:r>
                        <a:rPr lang="en-US" sz="1800" b="0" i="0" kern="1200" dirty="0">
                          <a:solidFill>
                            <a:schemeClr val="dk1"/>
                          </a:solidFill>
                          <a:effectLst/>
                          <a:latin typeface="+mn-lt"/>
                          <a:ea typeface="+mn-ea"/>
                          <a:cs typeface="+mn-cs"/>
                        </a:rPr>
                        <a:t>IT21066948</a:t>
                      </a:r>
                      <a:endParaRPr lang="en-US" b="0" dirty="0"/>
                    </a:p>
                  </a:txBody>
                  <a:tcPr/>
                </a:tc>
                <a:tc>
                  <a:txBody>
                    <a:bodyPr/>
                    <a:lstStyle/>
                    <a:p>
                      <a:pPr algn="l"/>
                      <a:r>
                        <a:rPr lang="en-US" sz="1600" b="0" i="0" kern="1200" dirty="0">
                          <a:solidFill>
                            <a:schemeClr val="dk1"/>
                          </a:solidFill>
                          <a:effectLst/>
                          <a:latin typeface="+mn-lt"/>
                          <a:ea typeface="+mn-ea"/>
                          <a:cs typeface="+mn-cs"/>
                        </a:rPr>
                        <a:t>No research component at all, haven't gone through a report. Just perform all the operation where a typical report does. WARNING LETTER IS ISSUED. </a:t>
                      </a:r>
                      <a:endParaRPr lang="en-US" sz="1600" dirty="0"/>
                    </a:p>
                  </a:txBody>
                  <a:tcPr/>
                </a:tc>
                <a:extLst>
                  <a:ext uri="{0D108BD9-81ED-4DB2-BD59-A6C34878D82A}">
                    <a16:rowId xmlns:a16="http://schemas.microsoft.com/office/drawing/2014/main" val="4149477939"/>
                  </a:ext>
                </a:extLst>
              </a:tr>
            </a:tbl>
          </a:graphicData>
        </a:graphic>
      </p:graphicFrame>
      <p:pic>
        <p:nvPicPr>
          <p:cNvPr id="6" name="Picture 5">
            <a:extLst>
              <a:ext uri="{FF2B5EF4-FFF2-40B4-BE49-F238E27FC236}">
                <a16:creationId xmlns:a16="http://schemas.microsoft.com/office/drawing/2014/main" id="{C0476E5F-1661-6807-476C-0841B57D6FDD}"/>
              </a:ext>
            </a:extLst>
          </p:cNvPr>
          <p:cNvPicPr>
            <a:picLocks noChangeAspect="1"/>
          </p:cNvPicPr>
          <p:nvPr/>
        </p:nvPicPr>
        <p:blipFill>
          <a:blip r:embed="rId2"/>
          <a:stretch>
            <a:fillRect/>
          </a:stretch>
        </p:blipFill>
        <p:spPr>
          <a:xfrm>
            <a:off x="0" y="6353105"/>
            <a:ext cx="2600688" cy="504895"/>
          </a:xfrm>
          <a:prstGeom prst="rect">
            <a:avLst/>
          </a:prstGeom>
        </p:spPr>
      </p:pic>
      <p:sp>
        <p:nvSpPr>
          <p:cNvPr id="7" name="Subtitle 2">
            <a:extLst>
              <a:ext uri="{FF2B5EF4-FFF2-40B4-BE49-F238E27FC236}">
                <a16:creationId xmlns:a16="http://schemas.microsoft.com/office/drawing/2014/main" id="{84402696-4838-D313-865C-26B02CD583E4}"/>
              </a:ext>
            </a:extLst>
          </p:cNvPr>
          <p:cNvSpPr txBox="1">
            <a:spLocks/>
          </p:cNvSpPr>
          <p:nvPr/>
        </p:nvSpPr>
        <p:spPr>
          <a:xfrm>
            <a:off x="10460445" y="6376530"/>
            <a:ext cx="2198914"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R26-IT-051</a:t>
            </a:r>
          </a:p>
        </p:txBody>
      </p:sp>
    </p:spTree>
    <p:extLst>
      <p:ext uri="{BB962C8B-B14F-4D97-AF65-F5344CB8AC3E}">
        <p14:creationId xmlns:p14="http://schemas.microsoft.com/office/powerpoint/2010/main" val="3961498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3591-FC13-6992-DD29-D8FCD9390FD4}"/>
              </a:ext>
            </a:extLst>
          </p:cNvPr>
          <p:cNvSpPr>
            <a:spLocks noGrp="1"/>
          </p:cNvSpPr>
          <p:nvPr>
            <p:ph type="title"/>
          </p:nvPr>
        </p:nvSpPr>
        <p:spPr>
          <a:xfrm>
            <a:off x="838200" y="1631087"/>
            <a:ext cx="10515600" cy="1325563"/>
          </a:xfrm>
        </p:spPr>
        <p:txBody>
          <a:bodyPr>
            <a:normAutofit/>
          </a:bodyPr>
          <a:lstStyle/>
          <a:p>
            <a:pPr algn="ctr"/>
            <a:r>
              <a:rPr lang="en-US" sz="3600" b="1" dirty="0">
                <a:latin typeface="+mn-lt"/>
              </a:rPr>
              <a:t>Context-Aware Activity Recognition for Elderly</a:t>
            </a:r>
            <a:r>
              <a:rPr lang="en-US" sz="3600" dirty="0"/>
              <a:t> </a:t>
            </a:r>
            <a:r>
              <a:rPr lang="en-US" sz="3600" b="1" dirty="0">
                <a:latin typeface="+mn-lt"/>
              </a:rPr>
              <a:t> Fall Risk Detection</a:t>
            </a:r>
          </a:p>
        </p:txBody>
      </p:sp>
      <p:sp>
        <p:nvSpPr>
          <p:cNvPr id="4" name="Subtitle 2">
            <a:extLst>
              <a:ext uri="{FF2B5EF4-FFF2-40B4-BE49-F238E27FC236}">
                <a16:creationId xmlns:a16="http://schemas.microsoft.com/office/drawing/2014/main" id="{09F0DE84-40D2-C79C-F7A5-75C9E8154112}"/>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pic>
        <p:nvPicPr>
          <p:cNvPr id="5" name="Picture 4">
            <a:extLst>
              <a:ext uri="{FF2B5EF4-FFF2-40B4-BE49-F238E27FC236}">
                <a16:creationId xmlns:a16="http://schemas.microsoft.com/office/drawing/2014/main" id="{D0667525-0D09-8D5A-0435-876684B6BDB4}"/>
              </a:ext>
            </a:extLst>
          </p:cNvPr>
          <p:cNvPicPr>
            <a:picLocks noChangeAspect="1"/>
          </p:cNvPicPr>
          <p:nvPr/>
        </p:nvPicPr>
        <p:blipFill>
          <a:blip r:embed="rId3"/>
          <a:stretch>
            <a:fillRect/>
          </a:stretch>
        </p:blipFill>
        <p:spPr>
          <a:xfrm>
            <a:off x="0" y="6353105"/>
            <a:ext cx="2600688" cy="504895"/>
          </a:xfrm>
          <a:prstGeom prst="rect">
            <a:avLst/>
          </a:prstGeom>
        </p:spPr>
      </p:pic>
      <p:sp>
        <p:nvSpPr>
          <p:cNvPr id="6" name="Rectangle 1">
            <a:extLst>
              <a:ext uri="{FF2B5EF4-FFF2-40B4-BE49-F238E27FC236}">
                <a16:creationId xmlns:a16="http://schemas.microsoft.com/office/drawing/2014/main" id="{5D2886F6-C5B6-BC0D-CB5C-C876733CF50C}"/>
              </a:ext>
            </a:extLst>
          </p:cNvPr>
          <p:cNvSpPr>
            <a:spLocks noChangeArrowheads="1"/>
          </p:cNvSpPr>
          <p:nvPr/>
        </p:nvSpPr>
        <p:spPr bwMode="auto">
          <a:xfrm>
            <a:off x="0" y="0"/>
            <a:ext cx="12192000" cy="0"/>
          </a:xfrm>
          <a:prstGeom prst="rect">
            <a:avLst/>
          </a:prstGeom>
          <a:solidFill>
            <a:schemeClr val="accent1">
              <a:lumMod val="40000"/>
              <a:lumOff val="60000"/>
            </a:schemeClr>
          </a:solidFill>
          <a:ln>
            <a:noFill/>
          </a:ln>
          <a:effec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a:extLst>
              <a:ext uri="{FF2B5EF4-FFF2-40B4-BE49-F238E27FC236}">
                <a16:creationId xmlns:a16="http://schemas.microsoft.com/office/drawing/2014/main" id="{CB8523D5-ABE3-F865-6E30-20E89BFB9AE2}"/>
              </a:ext>
            </a:extLst>
          </p:cNvPr>
          <p:cNvPicPr>
            <a:picLocks noChangeAspect="1"/>
          </p:cNvPicPr>
          <p:nvPr/>
        </p:nvPicPr>
        <p:blipFill>
          <a:blip r:embed="rId4"/>
          <a:stretch>
            <a:fillRect/>
          </a:stretch>
        </p:blipFill>
        <p:spPr>
          <a:xfrm>
            <a:off x="2184354" y="2910062"/>
            <a:ext cx="8040302" cy="3355347"/>
          </a:xfrm>
          <a:prstGeom prst="rect">
            <a:avLst/>
          </a:prstGeom>
          <a:ln>
            <a:noFill/>
          </a:ln>
          <a:effectLst>
            <a:softEdge rad="112500"/>
          </a:effectLst>
        </p:spPr>
      </p:pic>
      <p:pic>
        <p:nvPicPr>
          <p:cNvPr id="9" name="Picture 8">
            <a:extLst>
              <a:ext uri="{FF2B5EF4-FFF2-40B4-BE49-F238E27FC236}">
                <a16:creationId xmlns:a16="http://schemas.microsoft.com/office/drawing/2014/main" id="{0E884A92-D018-95F6-A736-BAF6FFDCBDC1}"/>
              </a:ext>
            </a:extLst>
          </p:cNvPr>
          <p:cNvPicPr>
            <a:picLocks noChangeAspect="1"/>
          </p:cNvPicPr>
          <p:nvPr/>
        </p:nvPicPr>
        <p:blipFill>
          <a:blip r:embed="rId5">
            <a:extLst>
              <a:ext uri="{28A0092B-C50C-407E-A947-70E740481C1C}">
                <a14:useLocalDpi xmlns:a14="http://schemas.microsoft.com/office/drawing/2010/main" val="0"/>
              </a:ext>
            </a:extLst>
          </a:blip>
          <a:srcRect b="6829"/>
          <a:stretch>
            <a:fillRect/>
          </a:stretch>
        </p:blipFill>
        <p:spPr>
          <a:xfrm>
            <a:off x="10629732" y="38001"/>
            <a:ext cx="1448136" cy="1730112"/>
          </a:xfrm>
          <a:prstGeom prst="rect">
            <a:avLst/>
          </a:prstGeom>
        </p:spPr>
      </p:pic>
    </p:spTree>
    <p:extLst>
      <p:ext uri="{BB962C8B-B14F-4D97-AF65-F5344CB8AC3E}">
        <p14:creationId xmlns:p14="http://schemas.microsoft.com/office/powerpoint/2010/main" val="108475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8440D3D-D831-AAE1-1E2D-8327B36829CA}"/>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pic>
        <p:nvPicPr>
          <p:cNvPr id="7" name="Picture 6">
            <a:extLst>
              <a:ext uri="{FF2B5EF4-FFF2-40B4-BE49-F238E27FC236}">
                <a16:creationId xmlns:a16="http://schemas.microsoft.com/office/drawing/2014/main" id="{04BDC859-3E44-BA1C-FED5-7A76CE840B68}"/>
              </a:ext>
            </a:extLst>
          </p:cNvPr>
          <p:cNvPicPr>
            <a:picLocks noChangeAspect="1"/>
          </p:cNvPicPr>
          <p:nvPr/>
        </p:nvPicPr>
        <p:blipFill>
          <a:blip r:embed="rId3"/>
          <a:stretch>
            <a:fillRect/>
          </a:stretch>
        </p:blipFill>
        <p:spPr>
          <a:xfrm>
            <a:off x="0" y="6362436"/>
            <a:ext cx="2600688" cy="504895"/>
          </a:xfrm>
          <a:prstGeom prst="rect">
            <a:avLst/>
          </a:prstGeom>
        </p:spPr>
      </p:pic>
      <p:sp>
        <p:nvSpPr>
          <p:cNvPr id="24" name="TextBox 23">
            <a:extLst>
              <a:ext uri="{FF2B5EF4-FFF2-40B4-BE49-F238E27FC236}">
                <a16:creationId xmlns:a16="http://schemas.microsoft.com/office/drawing/2014/main" id="{01147A1E-F5A4-8672-9A3D-4412B8377A4F}"/>
              </a:ext>
            </a:extLst>
          </p:cNvPr>
          <p:cNvSpPr txBox="1"/>
          <p:nvPr/>
        </p:nvSpPr>
        <p:spPr>
          <a:xfrm>
            <a:off x="895505" y="169881"/>
            <a:ext cx="10400990" cy="1200329"/>
          </a:xfrm>
          <a:prstGeom prst="rect">
            <a:avLst/>
          </a:prstGeom>
          <a:solidFill>
            <a:schemeClr val="accent1"/>
          </a:solidFill>
        </p:spPr>
        <p:txBody>
          <a:bodyPr wrap="square">
            <a:spAutoFit/>
          </a:bodyPr>
          <a:lstStyle/>
          <a:p>
            <a:pPr algn="ctr"/>
            <a:r>
              <a:rPr lang="en-US" sz="3600" b="1" dirty="0">
                <a:solidFill>
                  <a:schemeClr val="bg1"/>
                </a:solidFill>
              </a:rPr>
              <a:t>Elderly falls present a critical global healthcare challenge</a:t>
            </a:r>
          </a:p>
        </p:txBody>
      </p:sp>
      <p:pic>
        <p:nvPicPr>
          <p:cNvPr id="26" name="Picture 25">
            <a:extLst>
              <a:ext uri="{FF2B5EF4-FFF2-40B4-BE49-F238E27FC236}">
                <a16:creationId xmlns:a16="http://schemas.microsoft.com/office/drawing/2014/main" id="{F601E147-BC89-FCE2-F719-686FF600DF71}"/>
              </a:ext>
            </a:extLst>
          </p:cNvPr>
          <p:cNvPicPr>
            <a:picLocks noChangeAspect="1"/>
          </p:cNvPicPr>
          <p:nvPr/>
        </p:nvPicPr>
        <p:blipFill>
          <a:blip r:embed="rId4"/>
          <a:stretch>
            <a:fillRect/>
          </a:stretch>
        </p:blipFill>
        <p:spPr>
          <a:xfrm>
            <a:off x="1103322" y="1362363"/>
            <a:ext cx="10193173" cy="4877481"/>
          </a:xfrm>
          <a:prstGeom prst="rect">
            <a:avLst/>
          </a:prstGeom>
        </p:spPr>
      </p:pic>
    </p:spTree>
    <p:extLst>
      <p:ext uri="{BB962C8B-B14F-4D97-AF65-F5344CB8AC3E}">
        <p14:creationId xmlns:p14="http://schemas.microsoft.com/office/powerpoint/2010/main" val="320692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CE01D9-D2E8-93E1-73ED-9F923297BED0}"/>
              </a:ext>
            </a:extLst>
          </p:cNvPr>
          <p:cNvSpPr txBox="1"/>
          <p:nvPr/>
        </p:nvSpPr>
        <p:spPr>
          <a:xfrm>
            <a:off x="1039091" y="169881"/>
            <a:ext cx="10370127" cy="1200329"/>
          </a:xfrm>
          <a:prstGeom prst="rect">
            <a:avLst/>
          </a:prstGeom>
          <a:solidFill>
            <a:schemeClr val="accent1"/>
          </a:solidFill>
        </p:spPr>
        <p:txBody>
          <a:bodyPr wrap="square">
            <a:spAutoFit/>
          </a:bodyPr>
          <a:lstStyle/>
          <a:p>
            <a:pPr algn="ctr"/>
            <a:r>
              <a:rPr lang="en-US" sz="3600" b="1" dirty="0">
                <a:solidFill>
                  <a:schemeClr val="bg1"/>
                </a:solidFill>
              </a:rPr>
              <a:t>Current fall detection systems operate only after the damage is done</a:t>
            </a:r>
          </a:p>
        </p:txBody>
      </p:sp>
      <p:pic>
        <p:nvPicPr>
          <p:cNvPr id="8" name="Picture 7">
            <a:extLst>
              <a:ext uri="{FF2B5EF4-FFF2-40B4-BE49-F238E27FC236}">
                <a16:creationId xmlns:a16="http://schemas.microsoft.com/office/drawing/2014/main" id="{21C2D81F-57EB-77C1-AEF4-DD9C110D8AB9}"/>
              </a:ext>
            </a:extLst>
          </p:cNvPr>
          <p:cNvPicPr>
            <a:picLocks noChangeAspect="1"/>
          </p:cNvPicPr>
          <p:nvPr/>
        </p:nvPicPr>
        <p:blipFill>
          <a:blip r:embed="rId2"/>
          <a:stretch>
            <a:fillRect/>
          </a:stretch>
        </p:blipFill>
        <p:spPr>
          <a:xfrm>
            <a:off x="1273980" y="1570673"/>
            <a:ext cx="9644039" cy="4049430"/>
          </a:xfrm>
          <a:prstGeom prst="rect">
            <a:avLst/>
          </a:prstGeom>
          <a:ln>
            <a:noFill/>
          </a:ln>
          <a:effectLst>
            <a:softEdge rad="112500"/>
          </a:effectLst>
        </p:spPr>
      </p:pic>
      <p:pic>
        <p:nvPicPr>
          <p:cNvPr id="9" name="Picture 8">
            <a:extLst>
              <a:ext uri="{FF2B5EF4-FFF2-40B4-BE49-F238E27FC236}">
                <a16:creationId xmlns:a16="http://schemas.microsoft.com/office/drawing/2014/main" id="{212407C7-46D3-F194-D522-7FF6F4D1BF97}"/>
              </a:ext>
            </a:extLst>
          </p:cNvPr>
          <p:cNvPicPr>
            <a:picLocks noChangeAspect="1"/>
          </p:cNvPicPr>
          <p:nvPr/>
        </p:nvPicPr>
        <p:blipFill>
          <a:blip r:embed="rId3"/>
          <a:stretch>
            <a:fillRect/>
          </a:stretch>
        </p:blipFill>
        <p:spPr>
          <a:xfrm>
            <a:off x="0" y="6362436"/>
            <a:ext cx="2600688" cy="504895"/>
          </a:xfrm>
          <a:prstGeom prst="rect">
            <a:avLst/>
          </a:prstGeom>
        </p:spPr>
      </p:pic>
      <p:sp>
        <p:nvSpPr>
          <p:cNvPr id="10" name="Subtitle 2">
            <a:extLst>
              <a:ext uri="{FF2B5EF4-FFF2-40B4-BE49-F238E27FC236}">
                <a16:creationId xmlns:a16="http://schemas.microsoft.com/office/drawing/2014/main" id="{3F02AFCD-B20B-6875-9E13-C7E7957E9FF3}"/>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spTree>
    <p:extLst>
      <p:ext uri="{BB962C8B-B14F-4D97-AF65-F5344CB8AC3E}">
        <p14:creationId xmlns:p14="http://schemas.microsoft.com/office/powerpoint/2010/main" val="2008053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472BF1C7-32C0-4190-E8F2-1F8F99C39DE5}"/>
              </a:ext>
            </a:extLst>
          </p:cNvPr>
          <p:cNvSpPr txBox="1"/>
          <p:nvPr/>
        </p:nvSpPr>
        <p:spPr>
          <a:xfrm>
            <a:off x="916388" y="897599"/>
            <a:ext cx="10700563" cy="1231106"/>
          </a:xfrm>
          <a:prstGeom prst="rect">
            <a:avLst/>
          </a:prstGeom>
          <a:solidFill>
            <a:schemeClr val="accent5">
              <a:lumMod val="60000"/>
              <a:lumOff val="40000"/>
            </a:schemeClr>
          </a:solidFill>
        </p:spPr>
        <p:txBody>
          <a:bodyPr wrap="square" rtlCol="0">
            <a:spAutoFit/>
          </a:bodyPr>
          <a:lstStyle/>
          <a:p>
            <a:pPr algn="ctr"/>
            <a:r>
              <a:rPr lang="en-US" sz="2000" b="1" u="sng" dirty="0"/>
              <a:t>Research Objective &amp; Innovation</a:t>
            </a:r>
          </a:p>
          <a:p>
            <a:pPr algn="just"/>
            <a:r>
              <a:rPr lang="en-US" dirty="0"/>
              <a:t>To develop an IoT and Machine Learning based system that can predict elderly fall risks in real time by analyzing body movements, posture changes and stability conditions before an actual fall occurs.</a:t>
            </a:r>
            <a:br>
              <a:rPr lang="en-US" dirty="0"/>
            </a:br>
            <a:endParaRPr lang="en-US" dirty="0"/>
          </a:p>
        </p:txBody>
      </p:sp>
      <p:sp>
        <p:nvSpPr>
          <p:cNvPr id="4" name="TextBox 3">
            <a:extLst>
              <a:ext uri="{FF2B5EF4-FFF2-40B4-BE49-F238E27FC236}">
                <a16:creationId xmlns:a16="http://schemas.microsoft.com/office/drawing/2014/main" id="{DA2D068C-AE14-E4C5-A527-4AB09EB9CC67}"/>
              </a:ext>
            </a:extLst>
          </p:cNvPr>
          <p:cNvSpPr txBox="1"/>
          <p:nvPr/>
        </p:nvSpPr>
        <p:spPr>
          <a:xfrm>
            <a:off x="2235200" y="169881"/>
            <a:ext cx="8249920" cy="646331"/>
          </a:xfrm>
          <a:prstGeom prst="rect">
            <a:avLst/>
          </a:prstGeom>
          <a:solidFill>
            <a:schemeClr val="accent1"/>
          </a:solidFill>
        </p:spPr>
        <p:txBody>
          <a:bodyPr wrap="square">
            <a:spAutoFit/>
          </a:bodyPr>
          <a:lstStyle/>
          <a:p>
            <a:pPr algn="ctr"/>
            <a:r>
              <a:rPr lang="en-US" sz="3600" b="1" dirty="0">
                <a:solidFill>
                  <a:schemeClr val="bg1"/>
                </a:solidFill>
              </a:rPr>
              <a:t>Research Component Overview</a:t>
            </a:r>
          </a:p>
        </p:txBody>
      </p:sp>
      <p:pic>
        <p:nvPicPr>
          <p:cNvPr id="10" name="Picture 9">
            <a:extLst>
              <a:ext uri="{FF2B5EF4-FFF2-40B4-BE49-F238E27FC236}">
                <a16:creationId xmlns:a16="http://schemas.microsoft.com/office/drawing/2014/main" id="{8060B1F4-AEF2-3F95-F531-C6D1404555ED}"/>
              </a:ext>
            </a:extLst>
          </p:cNvPr>
          <p:cNvPicPr>
            <a:picLocks noChangeAspect="1"/>
          </p:cNvPicPr>
          <p:nvPr/>
        </p:nvPicPr>
        <p:blipFill>
          <a:blip r:embed="rId2"/>
          <a:srcRect l="1768" r="985" b="3484"/>
          <a:stretch>
            <a:fillRect/>
          </a:stretch>
        </p:blipFill>
        <p:spPr>
          <a:xfrm>
            <a:off x="916388" y="2273148"/>
            <a:ext cx="7181226" cy="3659339"/>
          </a:xfrm>
          <a:prstGeom prst="rect">
            <a:avLst/>
          </a:prstGeom>
        </p:spPr>
      </p:pic>
      <p:pic>
        <p:nvPicPr>
          <p:cNvPr id="11" name="Picture 10">
            <a:extLst>
              <a:ext uri="{FF2B5EF4-FFF2-40B4-BE49-F238E27FC236}">
                <a16:creationId xmlns:a16="http://schemas.microsoft.com/office/drawing/2014/main" id="{23656AA0-3DBF-D7C2-B572-84213F78CBCA}"/>
              </a:ext>
            </a:extLst>
          </p:cNvPr>
          <p:cNvPicPr>
            <a:picLocks noChangeAspect="1"/>
          </p:cNvPicPr>
          <p:nvPr/>
        </p:nvPicPr>
        <p:blipFill>
          <a:blip r:embed="rId3"/>
          <a:stretch>
            <a:fillRect/>
          </a:stretch>
        </p:blipFill>
        <p:spPr>
          <a:xfrm>
            <a:off x="0" y="6362436"/>
            <a:ext cx="2600688" cy="504895"/>
          </a:xfrm>
          <a:prstGeom prst="rect">
            <a:avLst/>
          </a:prstGeom>
        </p:spPr>
      </p:pic>
      <p:sp>
        <p:nvSpPr>
          <p:cNvPr id="12" name="Subtitle 2">
            <a:extLst>
              <a:ext uri="{FF2B5EF4-FFF2-40B4-BE49-F238E27FC236}">
                <a16:creationId xmlns:a16="http://schemas.microsoft.com/office/drawing/2014/main" id="{8BA293A1-BA98-AB8F-5789-2B5ECB3189C5}"/>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sp>
        <p:nvSpPr>
          <p:cNvPr id="13" name="TextBox 12">
            <a:extLst>
              <a:ext uri="{FF2B5EF4-FFF2-40B4-BE49-F238E27FC236}">
                <a16:creationId xmlns:a16="http://schemas.microsoft.com/office/drawing/2014/main" id="{C3AE60B3-FBB3-50C4-A59C-C41FD224E118}"/>
              </a:ext>
            </a:extLst>
          </p:cNvPr>
          <p:cNvSpPr txBox="1"/>
          <p:nvPr/>
        </p:nvSpPr>
        <p:spPr>
          <a:xfrm>
            <a:off x="9393382" y="3335481"/>
            <a:ext cx="2348259" cy="1200329"/>
          </a:xfrm>
          <a:prstGeom prst="rect">
            <a:avLst/>
          </a:prstGeom>
          <a:solidFill>
            <a:schemeClr val="accent1">
              <a:lumMod val="40000"/>
              <a:lumOff val="60000"/>
            </a:schemeClr>
          </a:solidFill>
        </p:spPr>
        <p:txBody>
          <a:bodyPr wrap="square" rtlCol="0">
            <a:spAutoFit/>
          </a:bodyPr>
          <a:lstStyle/>
          <a:p>
            <a:r>
              <a:rPr lang="en-US" b="1" u="sng" dirty="0"/>
              <a:t>Main End Users</a:t>
            </a:r>
          </a:p>
          <a:p>
            <a:pPr marL="285750" indent="-285750">
              <a:buFont typeface="Wingdings" panose="05000000000000000000" pitchFamily="2" charset="2"/>
              <a:buChar char="Ø"/>
            </a:pPr>
            <a:r>
              <a:rPr lang="en-US" dirty="0"/>
              <a:t>Elderly People</a:t>
            </a:r>
          </a:p>
          <a:p>
            <a:pPr marL="285750" indent="-285750">
              <a:buFont typeface="Wingdings" panose="05000000000000000000" pitchFamily="2" charset="2"/>
              <a:buChar char="Ø"/>
            </a:pPr>
            <a:r>
              <a:rPr lang="en-US" dirty="0"/>
              <a:t>Caregivers</a:t>
            </a:r>
          </a:p>
          <a:p>
            <a:pPr marL="285750" indent="-285750">
              <a:buFont typeface="Wingdings" panose="05000000000000000000" pitchFamily="2" charset="2"/>
              <a:buChar char="Ø"/>
            </a:pPr>
            <a:r>
              <a:rPr lang="en-US" dirty="0"/>
              <a:t>Elderly Care Centers</a:t>
            </a:r>
            <a:endParaRPr lang="en-US" b="1" u="sng" dirty="0"/>
          </a:p>
        </p:txBody>
      </p:sp>
    </p:spTree>
    <p:extLst>
      <p:ext uri="{BB962C8B-B14F-4D97-AF65-F5344CB8AC3E}">
        <p14:creationId xmlns:p14="http://schemas.microsoft.com/office/powerpoint/2010/main" val="286212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0A8585-99C6-704F-6B21-AB18260E8844}"/>
              </a:ext>
            </a:extLst>
          </p:cNvPr>
          <p:cNvPicPr>
            <a:picLocks noChangeAspect="1"/>
          </p:cNvPicPr>
          <p:nvPr/>
        </p:nvPicPr>
        <p:blipFill>
          <a:blip r:embed="rId2"/>
          <a:srcRect t="27818" b="10807"/>
          <a:stretch>
            <a:fillRect/>
          </a:stretch>
        </p:blipFill>
        <p:spPr>
          <a:xfrm>
            <a:off x="350773" y="1922320"/>
            <a:ext cx="11841227" cy="3823854"/>
          </a:xfrm>
          <a:prstGeom prst="rect">
            <a:avLst/>
          </a:prstGeom>
        </p:spPr>
      </p:pic>
      <p:sp>
        <p:nvSpPr>
          <p:cNvPr id="6" name="TextBox 5">
            <a:extLst>
              <a:ext uri="{FF2B5EF4-FFF2-40B4-BE49-F238E27FC236}">
                <a16:creationId xmlns:a16="http://schemas.microsoft.com/office/drawing/2014/main" id="{DD4123E2-A909-8C3B-7446-CDEBE003C86F}"/>
              </a:ext>
            </a:extLst>
          </p:cNvPr>
          <p:cNvSpPr txBox="1"/>
          <p:nvPr/>
        </p:nvSpPr>
        <p:spPr>
          <a:xfrm>
            <a:off x="1674667" y="169881"/>
            <a:ext cx="8842663" cy="1200329"/>
          </a:xfrm>
          <a:prstGeom prst="rect">
            <a:avLst/>
          </a:prstGeom>
          <a:solidFill>
            <a:schemeClr val="accent1"/>
          </a:solidFill>
        </p:spPr>
        <p:txBody>
          <a:bodyPr wrap="square">
            <a:spAutoFit/>
          </a:bodyPr>
          <a:lstStyle/>
          <a:p>
            <a:pPr algn="ctr"/>
            <a:r>
              <a:rPr lang="en-US" sz="3600" b="1" dirty="0">
                <a:solidFill>
                  <a:schemeClr val="bg1"/>
                </a:solidFill>
              </a:rPr>
              <a:t>Real-time prediction and explanation in a left-side fall scenario</a:t>
            </a:r>
          </a:p>
        </p:txBody>
      </p:sp>
      <p:pic>
        <p:nvPicPr>
          <p:cNvPr id="7" name="Picture 6">
            <a:extLst>
              <a:ext uri="{FF2B5EF4-FFF2-40B4-BE49-F238E27FC236}">
                <a16:creationId xmlns:a16="http://schemas.microsoft.com/office/drawing/2014/main" id="{5190E00A-D283-66F2-CC18-1607D28074C4}"/>
              </a:ext>
            </a:extLst>
          </p:cNvPr>
          <p:cNvPicPr>
            <a:picLocks noChangeAspect="1"/>
          </p:cNvPicPr>
          <p:nvPr/>
        </p:nvPicPr>
        <p:blipFill>
          <a:blip r:embed="rId3"/>
          <a:stretch>
            <a:fillRect/>
          </a:stretch>
        </p:blipFill>
        <p:spPr>
          <a:xfrm>
            <a:off x="0" y="6362436"/>
            <a:ext cx="2600688" cy="504895"/>
          </a:xfrm>
          <a:prstGeom prst="rect">
            <a:avLst/>
          </a:prstGeom>
        </p:spPr>
      </p:pic>
      <p:sp>
        <p:nvSpPr>
          <p:cNvPr id="8" name="Subtitle 2">
            <a:extLst>
              <a:ext uri="{FF2B5EF4-FFF2-40B4-BE49-F238E27FC236}">
                <a16:creationId xmlns:a16="http://schemas.microsoft.com/office/drawing/2014/main" id="{EDD32687-6E51-360A-F294-7ADC4A93BA35}"/>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spTree>
    <p:extLst>
      <p:ext uri="{BB962C8B-B14F-4D97-AF65-F5344CB8AC3E}">
        <p14:creationId xmlns:p14="http://schemas.microsoft.com/office/powerpoint/2010/main" val="18197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0E66AB-6D3F-08C9-4218-C31BC34AAD73}"/>
              </a:ext>
            </a:extLst>
          </p:cNvPr>
          <p:cNvSpPr txBox="1"/>
          <p:nvPr/>
        </p:nvSpPr>
        <p:spPr>
          <a:xfrm>
            <a:off x="1674667" y="169881"/>
            <a:ext cx="8842663" cy="1200329"/>
          </a:xfrm>
          <a:prstGeom prst="rect">
            <a:avLst/>
          </a:prstGeom>
          <a:solidFill>
            <a:schemeClr val="accent1"/>
          </a:solidFill>
        </p:spPr>
        <p:txBody>
          <a:bodyPr wrap="square">
            <a:spAutoFit/>
          </a:bodyPr>
          <a:lstStyle/>
          <a:p>
            <a:pPr algn="ctr"/>
            <a:r>
              <a:rPr lang="en-US" sz="3600" b="1" dirty="0">
                <a:solidFill>
                  <a:schemeClr val="bg1"/>
                </a:solidFill>
              </a:rPr>
              <a:t>A dual-engine approach combing IoT Hardware and Machine Learning</a:t>
            </a:r>
          </a:p>
        </p:txBody>
      </p:sp>
      <p:pic>
        <p:nvPicPr>
          <p:cNvPr id="8" name="Picture 7">
            <a:extLst>
              <a:ext uri="{FF2B5EF4-FFF2-40B4-BE49-F238E27FC236}">
                <a16:creationId xmlns:a16="http://schemas.microsoft.com/office/drawing/2014/main" id="{A53988E9-1011-07AC-3839-66F4A8773CA2}"/>
              </a:ext>
            </a:extLst>
          </p:cNvPr>
          <p:cNvPicPr>
            <a:picLocks noChangeAspect="1"/>
          </p:cNvPicPr>
          <p:nvPr/>
        </p:nvPicPr>
        <p:blipFill>
          <a:blip r:embed="rId2"/>
          <a:stretch>
            <a:fillRect/>
          </a:stretch>
        </p:blipFill>
        <p:spPr>
          <a:xfrm>
            <a:off x="166740" y="1634103"/>
            <a:ext cx="11650701" cy="4296375"/>
          </a:xfrm>
          <a:prstGeom prst="rect">
            <a:avLst/>
          </a:prstGeom>
        </p:spPr>
      </p:pic>
      <p:pic>
        <p:nvPicPr>
          <p:cNvPr id="9" name="Picture 8">
            <a:extLst>
              <a:ext uri="{FF2B5EF4-FFF2-40B4-BE49-F238E27FC236}">
                <a16:creationId xmlns:a16="http://schemas.microsoft.com/office/drawing/2014/main" id="{688031F1-17A9-C358-EE36-0E44615B1132}"/>
              </a:ext>
            </a:extLst>
          </p:cNvPr>
          <p:cNvPicPr>
            <a:picLocks noChangeAspect="1"/>
          </p:cNvPicPr>
          <p:nvPr/>
        </p:nvPicPr>
        <p:blipFill>
          <a:blip r:embed="rId3"/>
          <a:stretch>
            <a:fillRect/>
          </a:stretch>
        </p:blipFill>
        <p:spPr>
          <a:xfrm>
            <a:off x="0" y="6362436"/>
            <a:ext cx="2600688" cy="504895"/>
          </a:xfrm>
          <a:prstGeom prst="rect">
            <a:avLst/>
          </a:prstGeom>
        </p:spPr>
      </p:pic>
      <p:sp>
        <p:nvSpPr>
          <p:cNvPr id="10" name="Subtitle 2">
            <a:extLst>
              <a:ext uri="{FF2B5EF4-FFF2-40B4-BE49-F238E27FC236}">
                <a16:creationId xmlns:a16="http://schemas.microsoft.com/office/drawing/2014/main" id="{D488E760-E496-AFB9-CA3B-B5347879659B}"/>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spTree>
    <p:extLst>
      <p:ext uri="{BB962C8B-B14F-4D97-AF65-F5344CB8AC3E}">
        <p14:creationId xmlns:p14="http://schemas.microsoft.com/office/powerpoint/2010/main" val="2994783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606DCB4B-F150-6590-AC7B-6209D5986050}"/>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pic>
        <p:nvPicPr>
          <p:cNvPr id="2" name="Picture 1">
            <a:extLst>
              <a:ext uri="{FF2B5EF4-FFF2-40B4-BE49-F238E27FC236}">
                <a16:creationId xmlns:a16="http://schemas.microsoft.com/office/drawing/2014/main" id="{48B781B1-646D-15EE-802A-8A6D789389B9}"/>
              </a:ext>
            </a:extLst>
          </p:cNvPr>
          <p:cNvPicPr>
            <a:picLocks noChangeAspect="1"/>
          </p:cNvPicPr>
          <p:nvPr/>
        </p:nvPicPr>
        <p:blipFill>
          <a:blip r:embed="rId2"/>
          <a:stretch>
            <a:fillRect/>
          </a:stretch>
        </p:blipFill>
        <p:spPr>
          <a:xfrm>
            <a:off x="0" y="6362436"/>
            <a:ext cx="2600688" cy="504895"/>
          </a:xfrm>
          <a:prstGeom prst="rect">
            <a:avLst/>
          </a:prstGeom>
        </p:spPr>
      </p:pic>
      <p:pic>
        <p:nvPicPr>
          <p:cNvPr id="5" name="Picture 4">
            <a:extLst>
              <a:ext uri="{FF2B5EF4-FFF2-40B4-BE49-F238E27FC236}">
                <a16:creationId xmlns:a16="http://schemas.microsoft.com/office/drawing/2014/main" id="{E07EEBCA-4AA3-34F7-00F8-B5BEBDAEBBAC}"/>
              </a:ext>
            </a:extLst>
          </p:cNvPr>
          <p:cNvPicPr>
            <a:picLocks noChangeAspect="1"/>
          </p:cNvPicPr>
          <p:nvPr/>
        </p:nvPicPr>
        <p:blipFill>
          <a:blip r:embed="rId3">
            <a:extLst>
              <a:ext uri="{28A0092B-C50C-407E-A947-70E740481C1C}">
                <a14:useLocalDpi xmlns:a14="http://schemas.microsoft.com/office/drawing/2010/main" val="0"/>
              </a:ext>
            </a:extLst>
          </a:blip>
          <a:srcRect t="10402"/>
          <a:stretch>
            <a:fillRect/>
          </a:stretch>
        </p:blipFill>
        <p:spPr>
          <a:xfrm>
            <a:off x="952500" y="902395"/>
            <a:ext cx="10124209" cy="5622088"/>
          </a:xfrm>
          <a:prstGeom prst="rect">
            <a:avLst/>
          </a:prstGeom>
        </p:spPr>
      </p:pic>
      <p:sp>
        <p:nvSpPr>
          <p:cNvPr id="6" name="TextBox 5">
            <a:extLst>
              <a:ext uri="{FF2B5EF4-FFF2-40B4-BE49-F238E27FC236}">
                <a16:creationId xmlns:a16="http://schemas.microsoft.com/office/drawing/2014/main" id="{11B61EDB-E504-A7FD-8094-62E301BAF8A0}"/>
              </a:ext>
            </a:extLst>
          </p:cNvPr>
          <p:cNvSpPr txBox="1"/>
          <p:nvPr/>
        </p:nvSpPr>
        <p:spPr>
          <a:xfrm>
            <a:off x="2235200" y="169881"/>
            <a:ext cx="8249920" cy="646331"/>
          </a:xfrm>
          <a:prstGeom prst="rect">
            <a:avLst/>
          </a:prstGeom>
          <a:solidFill>
            <a:schemeClr val="accent1"/>
          </a:solidFill>
        </p:spPr>
        <p:txBody>
          <a:bodyPr wrap="square">
            <a:spAutoFit/>
          </a:bodyPr>
          <a:lstStyle/>
          <a:p>
            <a:pPr algn="ctr"/>
            <a:r>
              <a:rPr lang="en-US" sz="3600" b="1" dirty="0">
                <a:solidFill>
                  <a:schemeClr val="bg1"/>
                </a:solidFill>
              </a:rPr>
              <a:t>IOT-Based Hardware System Diagram</a:t>
            </a:r>
          </a:p>
        </p:txBody>
      </p:sp>
    </p:spTree>
    <p:extLst>
      <p:ext uri="{BB962C8B-B14F-4D97-AF65-F5344CB8AC3E}">
        <p14:creationId xmlns:p14="http://schemas.microsoft.com/office/powerpoint/2010/main" val="326866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43840" y="60960"/>
            <a:ext cx="11704320" cy="438912"/>
          </a:xfrm>
          <a:prstGeom prst="rect">
            <a:avLst/>
          </a:prstGeom>
          <a:noFill/>
          <a:ln/>
        </p:spPr>
        <p:txBody>
          <a:bodyPr wrap="square" rtlCol="0" anchor="ctr"/>
          <a:lstStyle/>
          <a:p>
            <a:pPr algn="ctr"/>
            <a:r>
              <a:rPr lang="en-US" sz="2667" b="1" dirty="0">
                <a:solidFill>
                  <a:srgbClr val="F8FAFC"/>
                </a:solidFill>
                <a:latin typeface="Calibri" pitchFamily="34" charset="0"/>
                <a:ea typeface="Calibri" pitchFamily="34" charset="-122"/>
                <a:cs typeface="Calibri" pitchFamily="34" charset="-120"/>
              </a:rPr>
              <a:t>Fall Detection — End-to-End ML Pipeline</a:t>
            </a:r>
            <a:endParaRPr lang="en-US" sz="2667" dirty="0"/>
          </a:p>
        </p:txBody>
      </p:sp>
      <p:sp>
        <p:nvSpPr>
          <p:cNvPr id="4" name="Shape 2"/>
          <p:cNvSpPr/>
          <p:nvPr/>
        </p:nvSpPr>
        <p:spPr>
          <a:xfrm>
            <a:off x="217714" y="731520"/>
            <a:ext cx="4937760" cy="316992"/>
          </a:xfrm>
          <a:prstGeom prst="rect">
            <a:avLst/>
          </a:prstGeom>
          <a:solidFill>
            <a:srgbClr val="1E3A5F"/>
          </a:solidFill>
          <a:ln w="12700">
            <a:solidFill>
              <a:srgbClr val="1E3A5F"/>
            </a:solidFill>
            <a:prstDash val="solid"/>
          </a:ln>
        </p:spPr>
      </p:sp>
      <p:sp>
        <p:nvSpPr>
          <p:cNvPr id="5" name="Text 3"/>
          <p:cNvSpPr/>
          <p:nvPr/>
        </p:nvSpPr>
        <p:spPr>
          <a:xfrm>
            <a:off x="243840" y="731520"/>
            <a:ext cx="4937760" cy="31699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train.py  —  Model Training</a:t>
            </a:r>
            <a:endParaRPr lang="en-US" sz="1467" dirty="0"/>
          </a:p>
        </p:txBody>
      </p:sp>
      <p:sp>
        <p:nvSpPr>
          <p:cNvPr id="6" name="Shape 4"/>
          <p:cNvSpPr/>
          <p:nvPr/>
        </p:nvSpPr>
        <p:spPr>
          <a:xfrm>
            <a:off x="6522720" y="731520"/>
            <a:ext cx="5401056" cy="316992"/>
          </a:xfrm>
          <a:prstGeom prst="rect">
            <a:avLst/>
          </a:prstGeom>
          <a:solidFill>
            <a:srgbClr val="1C3A2B"/>
          </a:solidFill>
          <a:ln w="12700">
            <a:solidFill>
              <a:srgbClr val="1C3A2B"/>
            </a:solidFill>
            <a:prstDash val="solid"/>
          </a:ln>
        </p:spPr>
      </p:sp>
      <p:sp>
        <p:nvSpPr>
          <p:cNvPr id="7" name="Text 5"/>
          <p:cNvSpPr/>
          <p:nvPr/>
        </p:nvSpPr>
        <p:spPr>
          <a:xfrm>
            <a:off x="6522720" y="731520"/>
            <a:ext cx="5401056" cy="31699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server.py  —  Live Prediction (Flask)</a:t>
            </a:r>
            <a:endParaRPr lang="en-US" sz="1467" dirty="0"/>
          </a:p>
        </p:txBody>
      </p:sp>
      <p:sp>
        <p:nvSpPr>
          <p:cNvPr id="8" name="Shape 6"/>
          <p:cNvSpPr/>
          <p:nvPr/>
        </p:nvSpPr>
        <p:spPr>
          <a:xfrm>
            <a:off x="243840" y="1072896"/>
            <a:ext cx="4937760" cy="585216"/>
          </a:xfrm>
          <a:prstGeom prst="rect">
            <a:avLst/>
          </a:prstGeom>
          <a:solidFill>
            <a:srgbClr val="1E293B"/>
          </a:solidFill>
          <a:ln w="15240">
            <a:solidFill>
              <a:srgbClr val="2563EB"/>
            </a:solidFill>
            <a:prstDash val="solid"/>
          </a:ln>
        </p:spPr>
      </p:sp>
      <p:sp>
        <p:nvSpPr>
          <p:cNvPr id="9" name="Shape 7"/>
          <p:cNvSpPr/>
          <p:nvPr/>
        </p:nvSpPr>
        <p:spPr>
          <a:xfrm>
            <a:off x="243840" y="1072896"/>
            <a:ext cx="85344" cy="585216"/>
          </a:xfrm>
          <a:prstGeom prst="rect">
            <a:avLst/>
          </a:prstGeom>
          <a:solidFill>
            <a:srgbClr val="2563EB"/>
          </a:solidFill>
          <a:ln w="12700">
            <a:solidFill>
              <a:srgbClr val="2563EB"/>
            </a:solidFill>
            <a:prstDash val="solid"/>
          </a:ln>
        </p:spPr>
      </p:sp>
      <p:sp>
        <p:nvSpPr>
          <p:cNvPr id="10" name="Text 8"/>
          <p:cNvSpPr/>
          <p:nvPr/>
        </p:nvSpPr>
        <p:spPr>
          <a:xfrm>
            <a:off x="390144" y="1109473"/>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1  —  Load CSV</a:t>
            </a:r>
            <a:endParaRPr lang="en-US" sz="1333" dirty="0"/>
          </a:p>
        </p:txBody>
      </p:sp>
      <p:sp>
        <p:nvSpPr>
          <p:cNvPr id="11" name="Text 9"/>
          <p:cNvSpPr/>
          <p:nvPr/>
        </p:nvSpPr>
        <p:spPr>
          <a:xfrm>
            <a:off x="390144" y="1365505"/>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fall_detec.csv → DataFrame (12,156 rows · 6 classes)</a:t>
            </a:r>
            <a:endParaRPr lang="en-US" sz="1133" dirty="0"/>
          </a:p>
        </p:txBody>
      </p:sp>
      <p:sp>
        <p:nvSpPr>
          <p:cNvPr id="12" name="Shape 10"/>
          <p:cNvSpPr/>
          <p:nvPr/>
        </p:nvSpPr>
        <p:spPr>
          <a:xfrm>
            <a:off x="2712720" y="1658112"/>
            <a:ext cx="0" cy="85344"/>
          </a:xfrm>
          <a:prstGeom prst="line">
            <a:avLst/>
          </a:prstGeom>
          <a:noFill/>
          <a:ln w="11430">
            <a:solidFill>
              <a:srgbClr val="475569"/>
            </a:solidFill>
            <a:prstDash val="solid"/>
            <a:tailEnd type="triangle"/>
          </a:ln>
        </p:spPr>
      </p:sp>
      <p:sp>
        <p:nvSpPr>
          <p:cNvPr id="13" name="Shape 11"/>
          <p:cNvSpPr/>
          <p:nvPr/>
        </p:nvSpPr>
        <p:spPr>
          <a:xfrm>
            <a:off x="243840" y="1743456"/>
            <a:ext cx="4937760" cy="585216"/>
          </a:xfrm>
          <a:prstGeom prst="rect">
            <a:avLst/>
          </a:prstGeom>
          <a:solidFill>
            <a:srgbClr val="1E293B"/>
          </a:solidFill>
          <a:ln w="15240">
            <a:solidFill>
              <a:srgbClr val="7C3AED"/>
            </a:solidFill>
            <a:prstDash val="solid"/>
          </a:ln>
        </p:spPr>
      </p:sp>
      <p:sp>
        <p:nvSpPr>
          <p:cNvPr id="14" name="Shape 12"/>
          <p:cNvSpPr/>
          <p:nvPr/>
        </p:nvSpPr>
        <p:spPr>
          <a:xfrm>
            <a:off x="243840" y="1743456"/>
            <a:ext cx="85344" cy="585216"/>
          </a:xfrm>
          <a:prstGeom prst="rect">
            <a:avLst/>
          </a:prstGeom>
          <a:solidFill>
            <a:srgbClr val="7C3AED"/>
          </a:solidFill>
          <a:ln w="12700">
            <a:solidFill>
              <a:srgbClr val="7C3AED"/>
            </a:solidFill>
            <a:prstDash val="solid"/>
          </a:ln>
        </p:spPr>
      </p:sp>
      <p:sp>
        <p:nvSpPr>
          <p:cNvPr id="15" name="Text 13"/>
          <p:cNvSpPr/>
          <p:nvPr/>
        </p:nvSpPr>
        <p:spPr>
          <a:xfrm>
            <a:off x="390144" y="1780033"/>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2  —  Sliding window</a:t>
            </a:r>
            <a:endParaRPr lang="en-US" sz="1333" dirty="0"/>
          </a:p>
        </p:txBody>
      </p:sp>
      <p:sp>
        <p:nvSpPr>
          <p:cNvPr id="16" name="Text 14"/>
          <p:cNvSpPr/>
          <p:nvPr/>
        </p:nvSpPr>
        <p:spPr>
          <a:xfrm>
            <a:off x="390144" y="2036065"/>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window = 20 samples · step = 10 (50% overlap)</a:t>
            </a:r>
            <a:endParaRPr lang="en-US" sz="1133" dirty="0"/>
          </a:p>
        </p:txBody>
      </p:sp>
      <p:sp>
        <p:nvSpPr>
          <p:cNvPr id="17" name="Shape 15"/>
          <p:cNvSpPr/>
          <p:nvPr/>
        </p:nvSpPr>
        <p:spPr>
          <a:xfrm>
            <a:off x="2712720" y="2328672"/>
            <a:ext cx="0" cy="85344"/>
          </a:xfrm>
          <a:prstGeom prst="line">
            <a:avLst/>
          </a:prstGeom>
          <a:noFill/>
          <a:ln w="11430">
            <a:solidFill>
              <a:srgbClr val="475569"/>
            </a:solidFill>
            <a:prstDash val="solid"/>
            <a:tailEnd type="triangle"/>
          </a:ln>
        </p:spPr>
      </p:sp>
      <p:sp>
        <p:nvSpPr>
          <p:cNvPr id="18" name="Shape 16"/>
          <p:cNvSpPr/>
          <p:nvPr/>
        </p:nvSpPr>
        <p:spPr>
          <a:xfrm>
            <a:off x="243840" y="2414016"/>
            <a:ext cx="4937760" cy="585216"/>
          </a:xfrm>
          <a:prstGeom prst="rect">
            <a:avLst/>
          </a:prstGeom>
          <a:solidFill>
            <a:srgbClr val="1E293B"/>
          </a:solidFill>
          <a:ln w="15240">
            <a:solidFill>
              <a:srgbClr val="7C3AED"/>
            </a:solidFill>
            <a:prstDash val="solid"/>
          </a:ln>
        </p:spPr>
      </p:sp>
      <p:sp>
        <p:nvSpPr>
          <p:cNvPr id="19" name="Shape 17"/>
          <p:cNvSpPr/>
          <p:nvPr/>
        </p:nvSpPr>
        <p:spPr>
          <a:xfrm>
            <a:off x="243840" y="2414016"/>
            <a:ext cx="85344" cy="585216"/>
          </a:xfrm>
          <a:prstGeom prst="rect">
            <a:avLst/>
          </a:prstGeom>
          <a:solidFill>
            <a:srgbClr val="7C3AED"/>
          </a:solidFill>
          <a:ln w="12700">
            <a:solidFill>
              <a:srgbClr val="7C3AED"/>
            </a:solidFill>
            <a:prstDash val="solid"/>
          </a:ln>
        </p:spPr>
      </p:sp>
      <p:sp>
        <p:nvSpPr>
          <p:cNvPr id="20" name="Text 18"/>
          <p:cNvSpPr/>
          <p:nvPr/>
        </p:nvSpPr>
        <p:spPr>
          <a:xfrm>
            <a:off x="390144" y="2450593"/>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3  —  Feature extraction</a:t>
            </a:r>
            <a:endParaRPr lang="en-US" sz="1333" dirty="0"/>
          </a:p>
        </p:txBody>
      </p:sp>
      <p:sp>
        <p:nvSpPr>
          <p:cNvPr id="21" name="Text 19"/>
          <p:cNvSpPr/>
          <p:nvPr/>
        </p:nvSpPr>
        <p:spPr>
          <a:xfrm>
            <a:off x="390144" y="2706625"/>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7 sensors × 7 stats + 3 correlations = 52 features</a:t>
            </a:r>
            <a:endParaRPr lang="en-US" sz="1133" dirty="0"/>
          </a:p>
        </p:txBody>
      </p:sp>
      <p:sp>
        <p:nvSpPr>
          <p:cNvPr id="22" name="Shape 20"/>
          <p:cNvSpPr/>
          <p:nvPr/>
        </p:nvSpPr>
        <p:spPr>
          <a:xfrm>
            <a:off x="2712720" y="2999232"/>
            <a:ext cx="0" cy="85344"/>
          </a:xfrm>
          <a:prstGeom prst="line">
            <a:avLst/>
          </a:prstGeom>
          <a:noFill/>
          <a:ln w="11430">
            <a:solidFill>
              <a:srgbClr val="475569"/>
            </a:solidFill>
            <a:prstDash val="solid"/>
            <a:tailEnd type="triangle"/>
          </a:ln>
        </p:spPr>
      </p:sp>
      <p:sp>
        <p:nvSpPr>
          <p:cNvPr id="23" name="Shape 21"/>
          <p:cNvSpPr/>
          <p:nvPr/>
        </p:nvSpPr>
        <p:spPr>
          <a:xfrm>
            <a:off x="243840" y="3084576"/>
            <a:ext cx="4937760" cy="585216"/>
          </a:xfrm>
          <a:prstGeom prst="rect">
            <a:avLst/>
          </a:prstGeom>
          <a:solidFill>
            <a:srgbClr val="1E293B"/>
          </a:solidFill>
          <a:ln w="15240">
            <a:solidFill>
              <a:srgbClr val="64748B"/>
            </a:solidFill>
            <a:prstDash val="solid"/>
          </a:ln>
        </p:spPr>
      </p:sp>
      <p:sp>
        <p:nvSpPr>
          <p:cNvPr id="24" name="Shape 22"/>
          <p:cNvSpPr/>
          <p:nvPr/>
        </p:nvSpPr>
        <p:spPr>
          <a:xfrm>
            <a:off x="243840" y="3084576"/>
            <a:ext cx="85344" cy="585216"/>
          </a:xfrm>
          <a:prstGeom prst="rect">
            <a:avLst/>
          </a:prstGeom>
          <a:solidFill>
            <a:srgbClr val="64748B"/>
          </a:solidFill>
          <a:ln w="12700">
            <a:solidFill>
              <a:srgbClr val="64748B"/>
            </a:solidFill>
            <a:prstDash val="solid"/>
          </a:ln>
        </p:spPr>
      </p:sp>
      <p:sp>
        <p:nvSpPr>
          <p:cNvPr id="25" name="Text 23"/>
          <p:cNvSpPr/>
          <p:nvPr/>
        </p:nvSpPr>
        <p:spPr>
          <a:xfrm>
            <a:off x="390144" y="3121153"/>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4  —  Encode · Split · Scale</a:t>
            </a:r>
            <a:endParaRPr lang="en-US" sz="1333" dirty="0"/>
          </a:p>
        </p:txBody>
      </p:sp>
      <p:sp>
        <p:nvSpPr>
          <p:cNvPr id="26" name="Text 24"/>
          <p:cNvSpPr/>
          <p:nvPr/>
        </p:nvSpPr>
        <p:spPr>
          <a:xfrm>
            <a:off x="390144" y="3377185"/>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LabelEncoder → 80/20 stratified split → StandardScaler</a:t>
            </a:r>
            <a:endParaRPr lang="en-US" sz="1133" dirty="0"/>
          </a:p>
        </p:txBody>
      </p:sp>
      <p:sp>
        <p:nvSpPr>
          <p:cNvPr id="27" name="Shape 25"/>
          <p:cNvSpPr/>
          <p:nvPr/>
        </p:nvSpPr>
        <p:spPr>
          <a:xfrm>
            <a:off x="2712720" y="3669792"/>
            <a:ext cx="0" cy="85344"/>
          </a:xfrm>
          <a:prstGeom prst="line">
            <a:avLst/>
          </a:prstGeom>
          <a:noFill/>
          <a:ln w="11430">
            <a:solidFill>
              <a:srgbClr val="475569"/>
            </a:solidFill>
            <a:prstDash val="solid"/>
            <a:tailEnd type="triangle"/>
          </a:ln>
        </p:spPr>
      </p:sp>
      <p:sp>
        <p:nvSpPr>
          <p:cNvPr id="28" name="Shape 26"/>
          <p:cNvSpPr/>
          <p:nvPr/>
        </p:nvSpPr>
        <p:spPr>
          <a:xfrm>
            <a:off x="243840" y="3755136"/>
            <a:ext cx="4937760" cy="585216"/>
          </a:xfrm>
          <a:prstGeom prst="rect">
            <a:avLst/>
          </a:prstGeom>
          <a:solidFill>
            <a:srgbClr val="1E293B"/>
          </a:solidFill>
          <a:ln w="15240">
            <a:solidFill>
              <a:srgbClr val="0D9488"/>
            </a:solidFill>
            <a:prstDash val="solid"/>
          </a:ln>
        </p:spPr>
      </p:sp>
      <p:sp>
        <p:nvSpPr>
          <p:cNvPr id="29" name="Shape 27"/>
          <p:cNvSpPr/>
          <p:nvPr/>
        </p:nvSpPr>
        <p:spPr>
          <a:xfrm>
            <a:off x="243840" y="3755136"/>
            <a:ext cx="85344" cy="585216"/>
          </a:xfrm>
          <a:prstGeom prst="rect">
            <a:avLst/>
          </a:prstGeom>
          <a:solidFill>
            <a:srgbClr val="0D9488"/>
          </a:solidFill>
          <a:ln w="12700">
            <a:solidFill>
              <a:srgbClr val="0D9488"/>
            </a:solidFill>
            <a:prstDash val="solid"/>
          </a:ln>
        </p:spPr>
      </p:sp>
      <p:sp>
        <p:nvSpPr>
          <p:cNvPr id="30" name="Text 28"/>
          <p:cNvSpPr/>
          <p:nvPr/>
        </p:nvSpPr>
        <p:spPr>
          <a:xfrm>
            <a:off x="390144" y="3791713"/>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5  —  Train 3 models</a:t>
            </a:r>
            <a:endParaRPr lang="en-US" sz="1333" dirty="0"/>
          </a:p>
        </p:txBody>
      </p:sp>
      <p:sp>
        <p:nvSpPr>
          <p:cNvPr id="31" name="Text 29"/>
          <p:cNvSpPr/>
          <p:nvPr/>
        </p:nvSpPr>
        <p:spPr>
          <a:xfrm>
            <a:off x="390144" y="4047745"/>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Random Forest (200 trees)  ·  Decision Tree  ·  KNN (k=5)</a:t>
            </a:r>
            <a:endParaRPr lang="en-US" sz="1133" dirty="0"/>
          </a:p>
        </p:txBody>
      </p:sp>
      <p:sp>
        <p:nvSpPr>
          <p:cNvPr id="32" name="Shape 30"/>
          <p:cNvSpPr/>
          <p:nvPr/>
        </p:nvSpPr>
        <p:spPr>
          <a:xfrm>
            <a:off x="2712720" y="4340352"/>
            <a:ext cx="0" cy="85344"/>
          </a:xfrm>
          <a:prstGeom prst="line">
            <a:avLst/>
          </a:prstGeom>
          <a:noFill/>
          <a:ln w="11430">
            <a:solidFill>
              <a:srgbClr val="475569"/>
            </a:solidFill>
            <a:prstDash val="solid"/>
            <a:tailEnd type="triangle"/>
          </a:ln>
        </p:spPr>
      </p:sp>
      <p:sp>
        <p:nvSpPr>
          <p:cNvPr id="33" name="Shape 31"/>
          <p:cNvSpPr/>
          <p:nvPr/>
        </p:nvSpPr>
        <p:spPr>
          <a:xfrm>
            <a:off x="243840" y="4425696"/>
            <a:ext cx="4937760" cy="585216"/>
          </a:xfrm>
          <a:prstGeom prst="rect">
            <a:avLst/>
          </a:prstGeom>
          <a:solidFill>
            <a:srgbClr val="1E293B"/>
          </a:solidFill>
          <a:ln w="15240">
            <a:solidFill>
              <a:srgbClr val="D97706"/>
            </a:solidFill>
            <a:prstDash val="solid"/>
          </a:ln>
        </p:spPr>
      </p:sp>
      <p:sp>
        <p:nvSpPr>
          <p:cNvPr id="34" name="Shape 32"/>
          <p:cNvSpPr/>
          <p:nvPr/>
        </p:nvSpPr>
        <p:spPr>
          <a:xfrm>
            <a:off x="243840" y="4425696"/>
            <a:ext cx="85344" cy="585216"/>
          </a:xfrm>
          <a:prstGeom prst="rect">
            <a:avLst/>
          </a:prstGeom>
          <a:solidFill>
            <a:srgbClr val="D97706"/>
          </a:solidFill>
          <a:ln w="12700">
            <a:solidFill>
              <a:srgbClr val="D97706"/>
            </a:solidFill>
            <a:prstDash val="solid"/>
          </a:ln>
        </p:spPr>
      </p:sp>
      <p:sp>
        <p:nvSpPr>
          <p:cNvPr id="35" name="Text 33"/>
          <p:cNvSpPr/>
          <p:nvPr/>
        </p:nvSpPr>
        <p:spPr>
          <a:xfrm>
            <a:off x="390144" y="4462273"/>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6  —  Evaluate</a:t>
            </a:r>
            <a:endParaRPr lang="en-US" sz="1333" dirty="0"/>
          </a:p>
        </p:txBody>
      </p:sp>
      <p:sp>
        <p:nvSpPr>
          <p:cNvPr id="36" name="Text 34"/>
          <p:cNvSpPr/>
          <p:nvPr/>
        </p:nvSpPr>
        <p:spPr>
          <a:xfrm>
            <a:off x="390144" y="4718305"/>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Accuracy · weighted F1 · confusion matrix · feature importance</a:t>
            </a:r>
            <a:endParaRPr lang="en-US" sz="1133" dirty="0"/>
          </a:p>
        </p:txBody>
      </p:sp>
      <p:sp>
        <p:nvSpPr>
          <p:cNvPr id="37" name="Shape 35"/>
          <p:cNvSpPr/>
          <p:nvPr/>
        </p:nvSpPr>
        <p:spPr>
          <a:xfrm>
            <a:off x="243840" y="5096256"/>
            <a:ext cx="4937760" cy="1146048"/>
          </a:xfrm>
          <a:prstGeom prst="rect">
            <a:avLst/>
          </a:prstGeom>
          <a:solidFill>
            <a:srgbClr val="14230A"/>
          </a:solidFill>
          <a:ln w="15240">
            <a:solidFill>
              <a:srgbClr val="059669"/>
            </a:solidFill>
            <a:prstDash val="solid"/>
          </a:ln>
        </p:spPr>
      </p:sp>
      <p:sp>
        <p:nvSpPr>
          <p:cNvPr id="38" name="Shape 36"/>
          <p:cNvSpPr/>
          <p:nvPr/>
        </p:nvSpPr>
        <p:spPr>
          <a:xfrm>
            <a:off x="243840" y="5096256"/>
            <a:ext cx="85344" cy="1194816"/>
          </a:xfrm>
          <a:prstGeom prst="rect">
            <a:avLst/>
          </a:prstGeom>
          <a:solidFill>
            <a:srgbClr val="059669"/>
          </a:solidFill>
          <a:ln w="12700">
            <a:solidFill>
              <a:srgbClr val="059669"/>
            </a:solidFill>
            <a:prstDash val="solid"/>
          </a:ln>
        </p:spPr>
      </p:sp>
      <p:sp>
        <p:nvSpPr>
          <p:cNvPr id="39" name="Text 37"/>
          <p:cNvSpPr/>
          <p:nvPr/>
        </p:nvSpPr>
        <p:spPr>
          <a:xfrm>
            <a:off x="390144" y="5145024"/>
            <a:ext cx="4742688" cy="292608"/>
          </a:xfrm>
          <a:prstGeom prst="rect">
            <a:avLst/>
          </a:prstGeom>
          <a:noFill/>
          <a:ln/>
        </p:spPr>
        <p:txBody>
          <a:bodyPr wrap="square" lIns="0" tIns="0" rIns="0" bIns="0" rtlCol="0" anchor="ctr"/>
          <a:lstStyle/>
          <a:p>
            <a:r>
              <a:rPr lang="en-US" sz="1333" b="1" dirty="0">
                <a:solidFill>
                  <a:srgbClr val="86EFAC"/>
                </a:solidFill>
                <a:latin typeface="Calibri" pitchFamily="34" charset="0"/>
                <a:ea typeface="Calibri" pitchFamily="34" charset="-122"/>
                <a:cs typeface="Calibri" pitchFamily="34" charset="-120"/>
              </a:rPr>
              <a:t>Step 7  —  Final comparison · select best model</a:t>
            </a:r>
            <a:endParaRPr lang="en-US" sz="1333" dirty="0"/>
          </a:p>
        </p:txBody>
      </p:sp>
      <p:sp>
        <p:nvSpPr>
          <p:cNvPr id="40" name="Text 38"/>
          <p:cNvSpPr/>
          <p:nvPr/>
        </p:nvSpPr>
        <p:spPr>
          <a:xfrm>
            <a:off x="414528" y="5462016"/>
            <a:ext cx="2316480" cy="243840"/>
          </a:xfrm>
          <a:prstGeom prst="rect">
            <a:avLst/>
          </a:prstGeom>
          <a:noFill/>
          <a:ln/>
        </p:spPr>
        <p:txBody>
          <a:bodyPr wrap="square" lIns="0" tIns="0" rIns="0" bIns="0" rtlCol="0" anchor="ctr"/>
          <a:lstStyle/>
          <a:p>
            <a:r>
              <a:rPr lang="en-US" sz="1200" b="1" dirty="0">
                <a:solidFill>
                  <a:srgbClr val="86EFAC"/>
                </a:solidFill>
                <a:latin typeface="Calibri" pitchFamily="34" charset="0"/>
                <a:ea typeface="Calibri" pitchFamily="34" charset="-122"/>
                <a:cs typeface="Calibri" pitchFamily="34" charset="-120"/>
              </a:rPr>
              <a:t>Random Forest</a:t>
            </a:r>
            <a:endParaRPr lang="en-US" sz="1200" dirty="0"/>
          </a:p>
        </p:txBody>
      </p:sp>
      <p:sp>
        <p:nvSpPr>
          <p:cNvPr id="41" name="Text 39"/>
          <p:cNvSpPr/>
          <p:nvPr/>
        </p:nvSpPr>
        <p:spPr>
          <a:xfrm>
            <a:off x="2804160" y="5462016"/>
            <a:ext cx="1097280" cy="243840"/>
          </a:xfrm>
          <a:prstGeom prst="rect">
            <a:avLst/>
          </a:prstGeom>
          <a:noFill/>
          <a:ln/>
        </p:spPr>
        <p:txBody>
          <a:bodyPr wrap="square" lIns="0" tIns="0" rIns="0" bIns="0" rtlCol="0" anchor="ctr"/>
          <a:lstStyle/>
          <a:p>
            <a:r>
              <a:rPr lang="en-US" sz="1200" b="1" dirty="0">
                <a:solidFill>
                  <a:srgbClr val="86EFAC"/>
                </a:solidFill>
                <a:latin typeface="Calibri" pitchFamily="34" charset="0"/>
                <a:ea typeface="Calibri" pitchFamily="34" charset="-122"/>
                <a:cs typeface="Calibri" pitchFamily="34" charset="-120"/>
              </a:rPr>
              <a:t>100.00%</a:t>
            </a:r>
            <a:endParaRPr lang="en-US" sz="1200" dirty="0"/>
          </a:p>
        </p:txBody>
      </p:sp>
      <p:sp>
        <p:nvSpPr>
          <p:cNvPr id="42" name="Text 40"/>
          <p:cNvSpPr/>
          <p:nvPr/>
        </p:nvSpPr>
        <p:spPr>
          <a:xfrm>
            <a:off x="4023360" y="5462016"/>
            <a:ext cx="975360" cy="243840"/>
          </a:xfrm>
          <a:prstGeom prst="rect">
            <a:avLst/>
          </a:prstGeom>
          <a:noFill/>
          <a:ln/>
        </p:spPr>
        <p:txBody>
          <a:bodyPr wrap="square" lIns="0" tIns="0" rIns="0" bIns="0" rtlCol="0" anchor="ctr"/>
          <a:lstStyle/>
          <a:p>
            <a:r>
              <a:rPr lang="en-US" sz="1200" b="1" dirty="0">
                <a:solidFill>
                  <a:srgbClr val="4ADE80"/>
                </a:solidFill>
                <a:latin typeface="Calibri" pitchFamily="34" charset="0"/>
                <a:ea typeface="Calibri" pitchFamily="34" charset="-122"/>
                <a:cs typeface="Calibri" pitchFamily="34" charset="-120"/>
              </a:rPr>
              <a:t>✓  Best</a:t>
            </a:r>
            <a:endParaRPr lang="en-US" sz="1200" dirty="0"/>
          </a:p>
        </p:txBody>
      </p:sp>
      <p:sp>
        <p:nvSpPr>
          <p:cNvPr id="43" name="Text 41"/>
          <p:cNvSpPr/>
          <p:nvPr/>
        </p:nvSpPr>
        <p:spPr>
          <a:xfrm>
            <a:off x="414528" y="5730240"/>
            <a:ext cx="2316480" cy="243840"/>
          </a:xfrm>
          <a:prstGeom prst="rect">
            <a:avLst/>
          </a:prstGeom>
          <a:noFill/>
          <a:ln/>
        </p:spPr>
        <p:txBody>
          <a:bodyPr wrap="square" lIns="0" tIns="0" rIns="0" bIns="0" rtlCol="0" anchor="ctr"/>
          <a:lstStyle/>
          <a:p>
            <a:r>
              <a:rPr lang="en-US" sz="1200" dirty="0">
                <a:solidFill>
                  <a:srgbClr val="94A3B8"/>
                </a:solidFill>
                <a:latin typeface="Calibri" pitchFamily="34" charset="0"/>
                <a:ea typeface="Calibri" pitchFamily="34" charset="-122"/>
                <a:cs typeface="Calibri" pitchFamily="34" charset="-120"/>
              </a:rPr>
              <a:t>Decision Tree</a:t>
            </a:r>
            <a:endParaRPr lang="en-US" sz="1200" dirty="0"/>
          </a:p>
        </p:txBody>
      </p:sp>
      <p:sp>
        <p:nvSpPr>
          <p:cNvPr id="44" name="Text 42"/>
          <p:cNvSpPr/>
          <p:nvPr/>
        </p:nvSpPr>
        <p:spPr>
          <a:xfrm>
            <a:off x="2804160" y="5730240"/>
            <a:ext cx="1097280" cy="243840"/>
          </a:xfrm>
          <a:prstGeom prst="rect">
            <a:avLst/>
          </a:prstGeom>
          <a:noFill/>
          <a:ln/>
        </p:spPr>
        <p:txBody>
          <a:bodyPr wrap="square" lIns="0" tIns="0" rIns="0" bIns="0" rtlCol="0" anchor="ctr"/>
          <a:lstStyle/>
          <a:p>
            <a:r>
              <a:rPr lang="en-US" sz="1200" dirty="0">
                <a:solidFill>
                  <a:srgbClr val="94A3B8"/>
                </a:solidFill>
                <a:latin typeface="Calibri" pitchFamily="34" charset="0"/>
                <a:ea typeface="Calibri" pitchFamily="34" charset="-122"/>
                <a:cs typeface="Calibri" pitchFamily="34" charset="-120"/>
              </a:rPr>
              <a:t>98.62%</a:t>
            </a:r>
            <a:endParaRPr lang="en-US" sz="1200" dirty="0"/>
          </a:p>
        </p:txBody>
      </p:sp>
      <p:sp>
        <p:nvSpPr>
          <p:cNvPr id="45" name="Text 43"/>
          <p:cNvSpPr/>
          <p:nvPr/>
        </p:nvSpPr>
        <p:spPr>
          <a:xfrm>
            <a:off x="414528" y="5998464"/>
            <a:ext cx="2316480" cy="243840"/>
          </a:xfrm>
          <a:prstGeom prst="rect">
            <a:avLst/>
          </a:prstGeom>
          <a:noFill/>
          <a:ln/>
        </p:spPr>
        <p:txBody>
          <a:bodyPr wrap="square" lIns="0" tIns="0" rIns="0" bIns="0" rtlCol="0" anchor="ctr"/>
          <a:lstStyle/>
          <a:p>
            <a:r>
              <a:rPr lang="en-US" sz="1200" dirty="0">
                <a:solidFill>
                  <a:srgbClr val="94A3B8"/>
                </a:solidFill>
                <a:latin typeface="Calibri" pitchFamily="34" charset="0"/>
                <a:ea typeface="Calibri" pitchFamily="34" charset="-122"/>
                <a:cs typeface="Calibri" pitchFamily="34" charset="-120"/>
              </a:rPr>
              <a:t>KNN</a:t>
            </a:r>
            <a:endParaRPr lang="en-US" sz="1200" dirty="0"/>
          </a:p>
        </p:txBody>
      </p:sp>
      <p:sp>
        <p:nvSpPr>
          <p:cNvPr id="46" name="Text 44"/>
          <p:cNvSpPr/>
          <p:nvPr/>
        </p:nvSpPr>
        <p:spPr>
          <a:xfrm>
            <a:off x="2804160" y="5998464"/>
            <a:ext cx="1097280" cy="243840"/>
          </a:xfrm>
          <a:prstGeom prst="rect">
            <a:avLst/>
          </a:prstGeom>
          <a:noFill/>
          <a:ln/>
        </p:spPr>
        <p:txBody>
          <a:bodyPr wrap="square" lIns="0" tIns="0" rIns="0" bIns="0" rtlCol="0" anchor="ctr"/>
          <a:lstStyle/>
          <a:p>
            <a:r>
              <a:rPr lang="en-US" sz="1200" dirty="0">
                <a:solidFill>
                  <a:srgbClr val="94A3B8"/>
                </a:solidFill>
                <a:latin typeface="Calibri" pitchFamily="34" charset="0"/>
                <a:ea typeface="Calibri" pitchFamily="34" charset="-122"/>
                <a:cs typeface="Calibri" pitchFamily="34" charset="-120"/>
              </a:rPr>
              <a:t>98.62%</a:t>
            </a:r>
            <a:endParaRPr lang="en-US" sz="1200" dirty="0"/>
          </a:p>
        </p:txBody>
      </p:sp>
      <p:sp>
        <p:nvSpPr>
          <p:cNvPr id="47" name="Shape 45"/>
          <p:cNvSpPr/>
          <p:nvPr/>
        </p:nvSpPr>
        <p:spPr>
          <a:xfrm>
            <a:off x="2712720" y="6291072"/>
            <a:ext cx="0" cy="85344"/>
          </a:xfrm>
          <a:prstGeom prst="line">
            <a:avLst/>
          </a:prstGeom>
          <a:noFill/>
          <a:ln w="11430">
            <a:solidFill>
              <a:srgbClr val="475569"/>
            </a:solidFill>
            <a:prstDash val="solid"/>
            <a:tailEnd type="triangle"/>
          </a:ln>
        </p:spPr>
      </p:sp>
      <p:sp>
        <p:nvSpPr>
          <p:cNvPr id="48" name="Shape 46"/>
          <p:cNvSpPr/>
          <p:nvPr/>
        </p:nvSpPr>
        <p:spPr>
          <a:xfrm>
            <a:off x="262128" y="6294284"/>
            <a:ext cx="4937760" cy="488748"/>
          </a:xfrm>
          <a:prstGeom prst="rect">
            <a:avLst/>
          </a:prstGeom>
          <a:solidFill>
            <a:srgbClr val="1E293B"/>
          </a:solidFill>
          <a:ln w="15240">
            <a:solidFill>
              <a:srgbClr val="059669"/>
            </a:solidFill>
            <a:prstDash val="solid"/>
          </a:ln>
        </p:spPr>
      </p:sp>
      <p:sp>
        <p:nvSpPr>
          <p:cNvPr id="49" name="Shape 47"/>
          <p:cNvSpPr/>
          <p:nvPr/>
        </p:nvSpPr>
        <p:spPr>
          <a:xfrm>
            <a:off x="243840" y="6330180"/>
            <a:ext cx="79248" cy="466508"/>
          </a:xfrm>
          <a:prstGeom prst="rect">
            <a:avLst/>
          </a:prstGeom>
          <a:solidFill>
            <a:srgbClr val="059669"/>
          </a:solidFill>
          <a:ln w="12700">
            <a:solidFill>
              <a:srgbClr val="059669"/>
            </a:solidFill>
            <a:prstDash val="solid"/>
          </a:ln>
        </p:spPr>
      </p:sp>
      <p:sp>
        <p:nvSpPr>
          <p:cNvPr id="50" name="Text 48"/>
          <p:cNvSpPr/>
          <p:nvPr/>
        </p:nvSpPr>
        <p:spPr>
          <a:xfrm>
            <a:off x="359664" y="6197816"/>
            <a:ext cx="4742688"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8  —  Save .pkl files</a:t>
            </a:r>
            <a:endParaRPr lang="en-US" sz="1333" dirty="0"/>
          </a:p>
        </p:txBody>
      </p:sp>
      <p:sp>
        <p:nvSpPr>
          <p:cNvPr id="51" name="Text 49"/>
          <p:cNvSpPr/>
          <p:nvPr/>
        </p:nvSpPr>
        <p:spPr>
          <a:xfrm>
            <a:off x="390144" y="6521636"/>
            <a:ext cx="4742688"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fall_rf_model.pkl  ·  scaler.pkl  ·  label_encoder.pkl</a:t>
            </a:r>
            <a:endParaRPr lang="en-US" sz="1133" dirty="0"/>
          </a:p>
        </p:txBody>
      </p:sp>
      <p:sp>
        <p:nvSpPr>
          <p:cNvPr id="52" name="Shape 50"/>
          <p:cNvSpPr/>
          <p:nvPr/>
        </p:nvSpPr>
        <p:spPr>
          <a:xfrm>
            <a:off x="6522720" y="1072896"/>
            <a:ext cx="5401056" cy="585216"/>
          </a:xfrm>
          <a:prstGeom prst="rect">
            <a:avLst/>
          </a:prstGeom>
          <a:solidFill>
            <a:srgbClr val="1E293B"/>
          </a:solidFill>
          <a:ln w="15240">
            <a:solidFill>
              <a:srgbClr val="2563EB"/>
            </a:solidFill>
            <a:prstDash val="solid"/>
          </a:ln>
        </p:spPr>
      </p:sp>
      <p:sp>
        <p:nvSpPr>
          <p:cNvPr id="53" name="Shape 51"/>
          <p:cNvSpPr/>
          <p:nvPr/>
        </p:nvSpPr>
        <p:spPr>
          <a:xfrm>
            <a:off x="6522720" y="1072896"/>
            <a:ext cx="85344" cy="585216"/>
          </a:xfrm>
          <a:prstGeom prst="rect">
            <a:avLst/>
          </a:prstGeom>
          <a:solidFill>
            <a:srgbClr val="2563EB"/>
          </a:solidFill>
          <a:ln w="12700">
            <a:solidFill>
              <a:srgbClr val="2563EB"/>
            </a:solidFill>
            <a:prstDash val="solid"/>
          </a:ln>
        </p:spPr>
      </p:sp>
      <p:sp>
        <p:nvSpPr>
          <p:cNvPr id="54" name="Text 52"/>
          <p:cNvSpPr/>
          <p:nvPr/>
        </p:nvSpPr>
        <p:spPr>
          <a:xfrm>
            <a:off x="6669024" y="1109473"/>
            <a:ext cx="5205984"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1  —  Start server</a:t>
            </a:r>
            <a:endParaRPr lang="en-US" sz="1333" dirty="0"/>
          </a:p>
        </p:txBody>
      </p:sp>
      <p:sp>
        <p:nvSpPr>
          <p:cNvPr id="55" name="Text 53"/>
          <p:cNvSpPr/>
          <p:nvPr/>
        </p:nvSpPr>
        <p:spPr>
          <a:xfrm>
            <a:off x="6669024" y="1365505"/>
            <a:ext cx="5205984"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Load model · scaler · label_encoder  →  port 5050</a:t>
            </a:r>
            <a:endParaRPr lang="en-US" sz="1133" dirty="0"/>
          </a:p>
        </p:txBody>
      </p:sp>
      <p:sp>
        <p:nvSpPr>
          <p:cNvPr id="56" name="Shape 54"/>
          <p:cNvSpPr/>
          <p:nvPr/>
        </p:nvSpPr>
        <p:spPr>
          <a:xfrm>
            <a:off x="9223248" y="1658112"/>
            <a:ext cx="0" cy="85344"/>
          </a:xfrm>
          <a:prstGeom prst="line">
            <a:avLst/>
          </a:prstGeom>
          <a:noFill/>
          <a:ln w="11430">
            <a:solidFill>
              <a:srgbClr val="475569"/>
            </a:solidFill>
            <a:prstDash val="solid"/>
            <a:tailEnd type="triangle"/>
          </a:ln>
        </p:spPr>
      </p:sp>
      <p:sp>
        <p:nvSpPr>
          <p:cNvPr id="57" name="Shape 55"/>
          <p:cNvSpPr/>
          <p:nvPr/>
        </p:nvSpPr>
        <p:spPr>
          <a:xfrm>
            <a:off x="6522720" y="1743456"/>
            <a:ext cx="5401056" cy="585216"/>
          </a:xfrm>
          <a:prstGeom prst="rect">
            <a:avLst/>
          </a:prstGeom>
          <a:solidFill>
            <a:srgbClr val="1E293B"/>
          </a:solidFill>
          <a:ln w="15240">
            <a:solidFill>
              <a:srgbClr val="7C3AED"/>
            </a:solidFill>
            <a:prstDash val="solid"/>
          </a:ln>
        </p:spPr>
      </p:sp>
      <p:sp>
        <p:nvSpPr>
          <p:cNvPr id="58" name="Shape 56"/>
          <p:cNvSpPr/>
          <p:nvPr/>
        </p:nvSpPr>
        <p:spPr>
          <a:xfrm>
            <a:off x="6522720" y="1743456"/>
            <a:ext cx="85344" cy="585216"/>
          </a:xfrm>
          <a:prstGeom prst="rect">
            <a:avLst/>
          </a:prstGeom>
          <a:solidFill>
            <a:srgbClr val="7C3AED"/>
          </a:solidFill>
          <a:ln w="12700">
            <a:solidFill>
              <a:srgbClr val="7C3AED"/>
            </a:solidFill>
            <a:prstDash val="solid"/>
          </a:ln>
        </p:spPr>
      </p:sp>
      <p:sp>
        <p:nvSpPr>
          <p:cNvPr id="59" name="Text 57"/>
          <p:cNvSpPr/>
          <p:nvPr/>
        </p:nvSpPr>
        <p:spPr>
          <a:xfrm>
            <a:off x="6669024" y="1780033"/>
            <a:ext cx="5205984"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2  —  Receive request</a:t>
            </a:r>
            <a:endParaRPr lang="en-US" sz="1333" dirty="0"/>
          </a:p>
        </p:txBody>
      </p:sp>
      <p:sp>
        <p:nvSpPr>
          <p:cNvPr id="60" name="Text 58"/>
          <p:cNvSpPr/>
          <p:nvPr/>
        </p:nvSpPr>
        <p:spPr>
          <a:xfrm>
            <a:off x="6669024" y="2036065"/>
            <a:ext cx="5205984"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IoT device → POST /predict → JSON window (20 samples)</a:t>
            </a:r>
            <a:endParaRPr lang="en-US" sz="1133" dirty="0"/>
          </a:p>
        </p:txBody>
      </p:sp>
      <p:sp>
        <p:nvSpPr>
          <p:cNvPr id="61" name="Shape 59"/>
          <p:cNvSpPr/>
          <p:nvPr/>
        </p:nvSpPr>
        <p:spPr>
          <a:xfrm>
            <a:off x="9223248" y="2328672"/>
            <a:ext cx="0" cy="85344"/>
          </a:xfrm>
          <a:prstGeom prst="line">
            <a:avLst/>
          </a:prstGeom>
          <a:noFill/>
          <a:ln w="11430">
            <a:solidFill>
              <a:srgbClr val="475569"/>
            </a:solidFill>
            <a:prstDash val="solid"/>
            <a:tailEnd type="triangle"/>
          </a:ln>
        </p:spPr>
      </p:sp>
      <p:sp>
        <p:nvSpPr>
          <p:cNvPr id="62" name="Shape 60"/>
          <p:cNvSpPr/>
          <p:nvPr/>
        </p:nvSpPr>
        <p:spPr>
          <a:xfrm>
            <a:off x="6522720" y="2414016"/>
            <a:ext cx="5401056" cy="585216"/>
          </a:xfrm>
          <a:prstGeom prst="rect">
            <a:avLst/>
          </a:prstGeom>
          <a:solidFill>
            <a:srgbClr val="1E293B"/>
          </a:solidFill>
          <a:ln w="15240">
            <a:solidFill>
              <a:srgbClr val="DC2626"/>
            </a:solidFill>
            <a:prstDash val="solid"/>
          </a:ln>
        </p:spPr>
      </p:sp>
      <p:sp>
        <p:nvSpPr>
          <p:cNvPr id="63" name="Shape 61"/>
          <p:cNvSpPr/>
          <p:nvPr/>
        </p:nvSpPr>
        <p:spPr>
          <a:xfrm>
            <a:off x="6522720" y="2414016"/>
            <a:ext cx="85344" cy="585216"/>
          </a:xfrm>
          <a:prstGeom prst="rect">
            <a:avLst/>
          </a:prstGeom>
          <a:solidFill>
            <a:srgbClr val="DC2626"/>
          </a:solidFill>
          <a:ln w="12700">
            <a:solidFill>
              <a:srgbClr val="DC2626"/>
            </a:solidFill>
            <a:prstDash val="solid"/>
          </a:ln>
        </p:spPr>
      </p:sp>
      <p:sp>
        <p:nvSpPr>
          <p:cNvPr id="64" name="Text 62"/>
          <p:cNvSpPr/>
          <p:nvPr/>
        </p:nvSpPr>
        <p:spPr>
          <a:xfrm>
            <a:off x="6669024" y="2450593"/>
            <a:ext cx="5205984"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3  —  Validate</a:t>
            </a:r>
            <a:endParaRPr lang="en-US" sz="1333" dirty="0"/>
          </a:p>
        </p:txBody>
      </p:sp>
      <p:sp>
        <p:nvSpPr>
          <p:cNvPr id="65" name="Text 63"/>
          <p:cNvSpPr/>
          <p:nvPr/>
        </p:nvSpPr>
        <p:spPr>
          <a:xfrm>
            <a:off x="6669024" y="2706625"/>
            <a:ext cx="5205984"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Shape must be (20, 7)  —  else return 400 error</a:t>
            </a:r>
            <a:endParaRPr lang="en-US" sz="1133" dirty="0"/>
          </a:p>
        </p:txBody>
      </p:sp>
      <p:sp>
        <p:nvSpPr>
          <p:cNvPr id="66" name="Shape 64"/>
          <p:cNvSpPr/>
          <p:nvPr/>
        </p:nvSpPr>
        <p:spPr>
          <a:xfrm>
            <a:off x="9223248" y="2999232"/>
            <a:ext cx="0" cy="85344"/>
          </a:xfrm>
          <a:prstGeom prst="line">
            <a:avLst/>
          </a:prstGeom>
          <a:noFill/>
          <a:ln w="11430">
            <a:solidFill>
              <a:srgbClr val="475569"/>
            </a:solidFill>
            <a:prstDash val="solid"/>
            <a:tailEnd type="triangle"/>
          </a:ln>
        </p:spPr>
      </p:sp>
      <p:sp>
        <p:nvSpPr>
          <p:cNvPr id="67" name="Shape 65"/>
          <p:cNvSpPr/>
          <p:nvPr/>
        </p:nvSpPr>
        <p:spPr>
          <a:xfrm>
            <a:off x="6522720" y="3084576"/>
            <a:ext cx="5401056" cy="585216"/>
          </a:xfrm>
          <a:prstGeom prst="rect">
            <a:avLst/>
          </a:prstGeom>
          <a:solidFill>
            <a:srgbClr val="1E293B"/>
          </a:solidFill>
          <a:ln w="15240">
            <a:solidFill>
              <a:srgbClr val="7C3AED"/>
            </a:solidFill>
            <a:prstDash val="solid"/>
          </a:ln>
        </p:spPr>
      </p:sp>
      <p:sp>
        <p:nvSpPr>
          <p:cNvPr id="68" name="Shape 66"/>
          <p:cNvSpPr/>
          <p:nvPr/>
        </p:nvSpPr>
        <p:spPr>
          <a:xfrm>
            <a:off x="6522720" y="3084576"/>
            <a:ext cx="85344" cy="585216"/>
          </a:xfrm>
          <a:prstGeom prst="rect">
            <a:avLst/>
          </a:prstGeom>
          <a:solidFill>
            <a:srgbClr val="7C3AED"/>
          </a:solidFill>
          <a:ln w="12700">
            <a:solidFill>
              <a:srgbClr val="7C3AED"/>
            </a:solidFill>
            <a:prstDash val="solid"/>
          </a:ln>
        </p:spPr>
      </p:sp>
      <p:sp>
        <p:nvSpPr>
          <p:cNvPr id="69" name="Text 67"/>
          <p:cNvSpPr/>
          <p:nvPr/>
        </p:nvSpPr>
        <p:spPr>
          <a:xfrm>
            <a:off x="6669024" y="3121153"/>
            <a:ext cx="5205984"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4  —  Extract · Scale</a:t>
            </a:r>
            <a:endParaRPr lang="en-US" sz="1333" dirty="0"/>
          </a:p>
        </p:txBody>
      </p:sp>
      <p:sp>
        <p:nvSpPr>
          <p:cNvPr id="70" name="Text 68"/>
          <p:cNvSpPr/>
          <p:nvPr/>
        </p:nvSpPr>
        <p:spPr>
          <a:xfrm>
            <a:off x="6669024" y="3377185"/>
            <a:ext cx="5205984"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Same 52 features as train.py  →  same StandardScaler</a:t>
            </a:r>
            <a:endParaRPr lang="en-US" sz="1133" dirty="0"/>
          </a:p>
        </p:txBody>
      </p:sp>
      <p:sp>
        <p:nvSpPr>
          <p:cNvPr id="71" name="Shape 69"/>
          <p:cNvSpPr/>
          <p:nvPr/>
        </p:nvSpPr>
        <p:spPr>
          <a:xfrm>
            <a:off x="9223248" y="3669792"/>
            <a:ext cx="0" cy="85344"/>
          </a:xfrm>
          <a:prstGeom prst="line">
            <a:avLst/>
          </a:prstGeom>
          <a:noFill/>
          <a:ln w="11430">
            <a:solidFill>
              <a:srgbClr val="475569"/>
            </a:solidFill>
            <a:prstDash val="solid"/>
            <a:tailEnd type="triangle"/>
          </a:ln>
        </p:spPr>
      </p:sp>
      <p:sp>
        <p:nvSpPr>
          <p:cNvPr id="72" name="Shape 70"/>
          <p:cNvSpPr/>
          <p:nvPr/>
        </p:nvSpPr>
        <p:spPr>
          <a:xfrm>
            <a:off x="6522720" y="3755136"/>
            <a:ext cx="5401056" cy="585216"/>
          </a:xfrm>
          <a:prstGeom prst="rect">
            <a:avLst/>
          </a:prstGeom>
          <a:solidFill>
            <a:srgbClr val="1E293B"/>
          </a:solidFill>
          <a:ln w="15240">
            <a:solidFill>
              <a:srgbClr val="0D9488"/>
            </a:solidFill>
            <a:prstDash val="solid"/>
          </a:ln>
        </p:spPr>
      </p:sp>
      <p:sp>
        <p:nvSpPr>
          <p:cNvPr id="73" name="Shape 71"/>
          <p:cNvSpPr/>
          <p:nvPr/>
        </p:nvSpPr>
        <p:spPr>
          <a:xfrm>
            <a:off x="6522720" y="3755136"/>
            <a:ext cx="85344" cy="585216"/>
          </a:xfrm>
          <a:prstGeom prst="rect">
            <a:avLst/>
          </a:prstGeom>
          <a:solidFill>
            <a:srgbClr val="0D9488"/>
          </a:solidFill>
          <a:ln w="12700">
            <a:solidFill>
              <a:srgbClr val="0D9488"/>
            </a:solidFill>
            <a:prstDash val="solid"/>
          </a:ln>
        </p:spPr>
      </p:sp>
      <p:sp>
        <p:nvSpPr>
          <p:cNvPr id="74" name="Text 72"/>
          <p:cNvSpPr/>
          <p:nvPr/>
        </p:nvSpPr>
        <p:spPr>
          <a:xfrm>
            <a:off x="6669024" y="3791713"/>
            <a:ext cx="5205984"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5  —  RF predict</a:t>
            </a:r>
            <a:endParaRPr lang="en-US" sz="1333" dirty="0"/>
          </a:p>
        </p:txBody>
      </p:sp>
      <p:sp>
        <p:nvSpPr>
          <p:cNvPr id="75" name="Text 73"/>
          <p:cNvSpPr/>
          <p:nvPr/>
        </p:nvSpPr>
        <p:spPr>
          <a:xfrm>
            <a:off x="6669024" y="4047745"/>
            <a:ext cx="5205984"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predict() → label  ·  predict_proba() → probabilities</a:t>
            </a:r>
            <a:endParaRPr lang="en-US" sz="1133" dirty="0"/>
          </a:p>
        </p:txBody>
      </p:sp>
      <p:sp>
        <p:nvSpPr>
          <p:cNvPr id="76" name="Shape 74"/>
          <p:cNvSpPr/>
          <p:nvPr/>
        </p:nvSpPr>
        <p:spPr>
          <a:xfrm>
            <a:off x="6522720" y="4425696"/>
            <a:ext cx="5401056" cy="1194816"/>
          </a:xfrm>
          <a:prstGeom prst="rect">
            <a:avLst/>
          </a:prstGeom>
          <a:solidFill>
            <a:srgbClr val="1C1A00"/>
          </a:solidFill>
          <a:ln w="15240">
            <a:solidFill>
              <a:srgbClr val="D97706"/>
            </a:solidFill>
            <a:prstDash val="solid"/>
          </a:ln>
        </p:spPr>
      </p:sp>
      <p:sp>
        <p:nvSpPr>
          <p:cNvPr id="77" name="Shape 75"/>
          <p:cNvSpPr/>
          <p:nvPr/>
        </p:nvSpPr>
        <p:spPr>
          <a:xfrm>
            <a:off x="6522720" y="4425696"/>
            <a:ext cx="85344" cy="1194816"/>
          </a:xfrm>
          <a:prstGeom prst="rect">
            <a:avLst/>
          </a:prstGeom>
          <a:solidFill>
            <a:srgbClr val="D97706"/>
          </a:solidFill>
          <a:ln w="12700">
            <a:solidFill>
              <a:srgbClr val="D97706"/>
            </a:solidFill>
            <a:prstDash val="solid"/>
          </a:ln>
        </p:spPr>
      </p:sp>
      <p:sp>
        <p:nvSpPr>
          <p:cNvPr id="78" name="Text 76"/>
          <p:cNvSpPr/>
          <p:nvPr/>
        </p:nvSpPr>
        <p:spPr>
          <a:xfrm>
            <a:off x="6669024" y="4474464"/>
            <a:ext cx="5205984" cy="292608"/>
          </a:xfrm>
          <a:prstGeom prst="rect">
            <a:avLst/>
          </a:prstGeom>
          <a:noFill/>
          <a:ln/>
        </p:spPr>
        <p:txBody>
          <a:bodyPr wrap="square" lIns="0" tIns="0" rIns="0" bIns="0" rtlCol="0" anchor="ctr"/>
          <a:lstStyle/>
          <a:p>
            <a:r>
              <a:rPr lang="en-US" sz="1333" b="1" dirty="0">
                <a:solidFill>
                  <a:srgbClr val="FDE68A"/>
                </a:solidFill>
                <a:latin typeface="Calibri" pitchFamily="34" charset="0"/>
                <a:ea typeface="Calibri" pitchFamily="34" charset="-122"/>
                <a:cs typeface="Calibri" pitchFamily="34" charset="-120"/>
              </a:rPr>
              <a:t>Step 6  —  Context engine</a:t>
            </a:r>
            <a:endParaRPr lang="en-US" sz="1333" dirty="0"/>
          </a:p>
        </p:txBody>
      </p:sp>
      <p:sp>
        <p:nvSpPr>
          <p:cNvPr id="79" name="Text 77"/>
          <p:cNvSpPr/>
          <p:nvPr/>
        </p:nvSpPr>
        <p:spPr>
          <a:xfrm>
            <a:off x="6693408" y="4791456"/>
            <a:ext cx="5181600" cy="207264"/>
          </a:xfrm>
          <a:prstGeom prst="rect">
            <a:avLst/>
          </a:prstGeom>
          <a:noFill/>
          <a:ln/>
        </p:spPr>
        <p:txBody>
          <a:bodyPr wrap="square" lIns="0" tIns="0" rIns="0" bIns="0" rtlCol="0" anchor="ctr"/>
          <a:lstStyle/>
          <a:p>
            <a:r>
              <a:rPr lang="en-US" sz="1133" dirty="0">
                <a:solidFill>
                  <a:srgbClr val="FCD34D"/>
                </a:solidFill>
                <a:latin typeface="Calibri" pitchFamily="34" charset="0"/>
                <a:ea typeface="Calibri" pitchFamily="34" charset="-122"/>
                <a:cs typeface="Calibri" pitchFamily="34" charset="-120"/>
              </a:rPr>
              <a:t>Fall direction    →  right / left / front / back</a:t>
            </a:r>
            <a:endParaRPr lang="en-US" sz="1133" dirty="0"/>
          </a:p>
        </p:txBody>
      </p:sp>
      <p:sp>
        <p:nvSpPr>
          <p:cNvPr id="80" name="Text 78"/>
          <p:cNvSpPr/>
          <p:nvPr/>
        </p:nvSpPr>
        <p:spPr>
          <a:xfrm>
            <a:off x="6693408" y="4998720"/>
            <a:ext cx="5181600" cy="207264"/>
          </a:xfrm>
          <a:prstGeom prst="rect">
            <a:avLst/>
          </a:prstGeom>
          <a:noFill/>
          <a:ln/>
        </p:spPr>
        <p:txBody>
          <a:bodyPr wrap="square" lIns="0" tIns="0" rIns="0" bIns="0" rtlCol="0" anchor="ctr"/>
          <a:lstStyle/>
          <a:p>
            <a:r>
              <a:rPr lang="en-US" sz="1133" dirty="0">
                <a:solidFill>
                  <a:srgbClr val="FCD34D"/>
                </a:solidFill>
                <a:latin typeface="Calibri" pitchFamily="34" charset="0"/>
                <a:ea typeface="Calibri" pitchFamily="34" charset="-122"/>
                <a:cs typeface="Calibri" pitchFamily="34" charset="-120"/>
              </a:rPr>
              <a:t>Stability            →  stable / slightly_unstable / unstable</a:t>
            </a:r>
            <a:endParaRPr lang="en-US" sz="1133" dirty="0"/>
          </a:p>
        </p:txBody>
      </p:sp>
      <p:sp>
        <p:nvSpPr>
          <p:cNvPr id="81" name="Text 79"/>
          <p:cNvSpPr/>
          <p:nvPr/>
        </p:nvSpPr>
        <p:spPr>
          <a:xfrm>
            <a:off x="6693408" y="5205984"/>
            <a:ext cx="5181600" cy="207264"/>
          </a:xfrm>
          <a:prstGeom prst="rect">
            <a:avLst/>
          </a:prstGeom>
          <a:noFill/>
          <a:ln/>
        </p:spPr>
        <p:txBody>
          <a:bodyPr wrap="square" lIns="0" tIns="0" rIns="0" bIns="0" rtlCol="0" anchor="ctr"/>
          <a:lstStyle/>
          <a:p>
            <a:r>
              <a:rPr lang="en-US" sz="1133" dirty="0">
                <a:solidFill>
                  <a:srgbClr val="FCD34D"/>
                </a:solidFill>
                <a:latin typeface="Calibri" pitchFamily="34" charset="0"/>
                <a:ea typeface="Calibri" pitchFamily="34" charset="-122"/>
                <a:cs typeface="Calibri" pitchFamily="34" charset="-120"/>
              </a:rPr>
              <a:t>Prev. activity     →  walking  /  standing_still</a:t>
            </a:r>
            <a:endParaRPr lang="en-US" sz="1133" dirty="0"/>
          </a:p>
        </p:txBody>
      </p:sp>
      <p:sp>
        <p:nvSpPr>
          <p:cNvPr id="82" name="Text 80"/>
          <p:cNvSpPr/>
          <p:nvPr/>
        </p:nvSpPr>
        <p:spPr>
          <a:xfrm>
            <a:off x="6693408" y="5413248"/>
            <a:ext cx="5181600" cy="207264"/>
          </a:xfrm>
          <a:prstGeom prst="rect">
            <a:avLst/>
          </a:prstGeom>
          <a:noFill/>
          <a:ln/>
        </p:spPr>
        <p:txBody>
          <a:bodyPr wrap="square" lIns="0" tIns="0" rIns="0" bIns="0" rtlCol="0" anchor="ctr"/>
          <a:lstStyle/>
          <a:p>
            <a:r>
              <a:rPr lang="en-US" sz="1133" dirty="0">
                <a:solidFill>
                  <a:srgbClr val="FCD34D"/>
                </a:solidFill>
                <a:latin typeface="Calibri" pitchFamily="34" charset="0"/>
                <a:ea typeface="Calibri" pitchFamily="34" charset="-122"/>
                <a:cs typeface="Calibri" pitchFamily="34" charset="-120"/>
              </a:rPr>
              <a:t>Human message →  "User fell right while walking"</a:t>
            </a:r>
            <a:endParaRPr lang="en-US" sz="1133" dirty="0"/>
          </a:p>
        </p:txBody>
      </p:sp>
      <p:sp>
        <p:nvSpPr>
          <p:cNvPr id="83" name="Shape 81"/>
          <p:cNvSpPr/>
          <p:nvPr/>
        </p:nvSpPr>
        <p:spPr>
          <a:xfrm>
            <a:off x="9223248" y="5620512"/>
            <a:ext cx="0" cy="85344"/>
          </a:xfrm>
          <a:prstGeom prst="line">
            <a:avLst/>
          </a:prstGeom>
          <a:noFill/>
          <a:ln w="11430">
            <a:solidFill>
              <a:srgbClr val="475569"/>
            </a:solidFill>
            <a:prstDash val="solid"/>
            <a:tailEnd type="triangle"/>
          </a:ln>
        </p:spPr>
      </p:sp>
      <p:sp>
        <p:nvSpPr>
          <p:cNvPr id="84" name="Shape 82"/>
          <p:cNvSpPr/>
          <p:nvPr/>
        </p:nvSpPr>
        <p:spPr>
          <a:xfrm>
            <a:off x="6522720" y="5705856"/>
            <a:ext cx="5401056" cy="585216"/>
          </a:xfrm>
          <a:prstGeom prst="rect">
            <a:avLst/>
          </a:prstGeom>
          <a:solidFill>
            <a:srgbClr val="1E293B"/>
          </a:solidFill>
          <a:ln w="15240">
            <a:solidFill>
              <a:srgbClr val="059669"/>
            </a:solidFill>
            <a:prstDash val="solid"/>
          </a:ln>
        </p:spPr>
      </p:sp>
      <p:sp>
        <p:nvSpPr>
          <p:cNvPr id="85" name="Shape 83"/>
          <p:cNvSpPr/>
          <p:nvPr/>
        </p:nvSpPr>
        <p:spPr>
          <a:xfrm>
            <a:off x="6522720" y="5705856"/>
            <a:ext cx="85344" cy="585216"/>
          </a:xfrm>
          <a:prstGeom prst="rect">
            <a:avLst/>
          </a:prstGeom>
          <a:solidFill>
            <a:srgbClr val="059669"/>
          </a:solidFill>
          <a:ln w="12700">
            <a:solidFill>
              <a:srgbClr val="059669"/>
            </a:solidFill>
            <a:prstDash val="solid"/>
          </a:ln>
        </p:spPr>
      </p:sp>
      <p:sp>
        <p:nvSpPr>
          <p:cNvPr id="86" name="Text 84"/>
          <p:cNvSpPr/>
          <p:nvPr/>
        </p:nvSpPr>
        <p:spPr>
          <a:xfrm>
            <a:off x="6669024" y="5742433"/>
            <a:ext cx="5205984" cy="275052"/>
          </a:xfrm>
          <a:prstGeom prst="rect">
            <a:avLst/>
          </a:prstGeom>
          <a:noFill/>
          <a:ln/>
        </p:spPr>
        <p:txBody>
          <a:bodyPr wrap="square" lIns="0" tIns="0" rIns="0" bIns="0" rtlCol="0" anchor="b"/>
          <a:lstStyle/>
          <a:p>
            <a:r>
              <a:rPr lang="en-US" sz="1333" b="1" dirty="0">
                <a:solidFill>
                  <a:srgbClr val="FFFFFF"/>
                </a:solidFill>
                <a:latin typeface="Calibri" pitchFamily="34" charset="0"/>
                <a:ea typeface="Calibri" pitchFamily="34" charset="-122"/>
                <a:cs typeface="Calibri" pitchFamily="34" charset="-120"/>
              </a:rPr>
              <a:t>Step 7  —  Return JSON response</a:t>
            </a:r>
            <a:endParaRPr lang="en-US" sz="1333" dirty="0"/>
          </a:p>
        </p:txBody>
      </p:sp>
      <p:sp>
        <p:nvSpPr>
          <p:cNvPr id="87" name="Text 85"/>
          <p:cNvSpPr/>
          <p:nvPr/>
        </p:nvSpPr>
        <p:spPr>
          <a:xfrm>
            <a:off x="6669024" y="5998465"/>
            <a:ext cx="5205984" cy="275052"/>
          </a:xfrm>
          <a:prstGeom prst="rect">
            <a:avLst/>
          </a:prstGeom>
          <a:noFill/>
          <a:ln/>
        </p:spPr>
        <p:txBody>
          <a:bodyPr wrap="square" lIns="0" tIns="0" rIns="0" bIns="0" rtlCol="0" anchor="t"/>
          <a:lstStyle/>
          <a:p>
            <a:r>
              <a:rPr lang="en-US" sz="1133" dirty="0">
                <a:solidFill>
                  <a:srgbClr val="94A3B8"/>
                </a:solidFill>
                <a:latin typeface="Calibri" pitchFamily="34" charset="0"/>
                <a:ea typeface="Calibri" pitchFamily="34" charset="-122"/>
                <a:cs typeface="Calibri" pitchFamily="34" charset="-120"/>
              </a:rPr>
              <a:t>{label  ·  confidence  ·  probabilities  ·  context  ·  human_message}</a:t>
            </a:r>
            <a:endParaRPr lang="en-US" sz="1133" dirty="0"/>
          </a:p>
        </p:txBody>
      </p:sp>
      <p:sp>
        <p:nvSpPr>
          <p:cNvPr id="88" name="Shape 86"/>
          <p:cNvSpPr/>
          <p:nvPr/>
        </p:nvSpPr>
        <p:spPr>
          <a:xfrm>
            <a:off x="5254752" y="6669024"/>
            <a:ext cx="597408" cy="0"/>
          </a:xfrm>
          <a:prstGeom prst="line">
            <a:avLst/>
          </a:prstGeom>
          <a:noFill/>
          <a:ln w="11430">
            <a:solidFill>
              <a:srgbClr val="4ADE80"/>
            </a:solidFill>
            <a:prstDash val="dash"/>
          </a:ln>
        </p:spPr>
      </p:sp>
      <p:sp>
        <p:nvSpPr>
          <p:cNvPr id="89" name="Shape 87"/>
          <p:cNvSpPr/>
          <p:nvPr/>
        </p:nvSpPr>
        <p:spPr>
          <a:xfrm>
            <a:off x="5852160" y="1365504"/>
            <a:ext cx="0" cy="5303520"/>
          </a:xfrm>
          <a:prstGeom prst="line">
            <a:avLst/>
          </a:prstGeom>
          <a:noFill/>
          <a:ln w="11430">
            <a:solidFill>
              <a:srgbClr val="4ADE80"/>
            </a:solidFill>
            <a:prstDash val="dash"/>
          </a:ln>
        </p:spPr>
      </p:sp>
      <p:sp>
        <p:nvSpPr>
          <p:cNvPr id="90" name="Shape 88"/>
          <p:cNvSpPr/>
          <p:nvPr/>
        </p:nvSpPr>
        <p:spPr>
          <a:xfrm>
            <a:off x="5852160" y="1365504"/>
            <a:ext cx="597408" cy="0"/>
          </a:xfrm>
          <a:prstGeom prst="line">
            <a:avLst/>
          </a:prstGeom>
          <a:noFill/>
          <a:ln w="13970">
            <a:solidFill>
              <a:srgbClr val="4ADE80"/>
            </a:solidFill>
            <a:prstDash val="dash"/>
            <a:tailEnd type="triangle"/>
          </a:ln>
        </p:spPr>
      </p:sp>
      <p:sp>
        <p:nvSpPr>
          <p:cNvPr id="91" name="Text 89"/>
          <p:cNvSpPr/>
          <p:nvPr/>
        </p:nvSpPr>
        <p:spPr>
          <a:xfrm>
            <a:off x="5388864" y="6400800"/>
            <a:ext cx="926592" cy="243840"/>
          </a:xfrm>
          <a:prstGeom prst="rect">
            <a:avLst/>
          </a:prstGeom>
          <a:noFill/>
          <a:ln/>
        </p:spPr>
        <p:txBody>
          <a:bodyPr wrap="square" lIns="0" tIns="0" rIns="0" bIns="0" rtlCol="0" anchor="ctr"/>
          <a:lstStyle/>
          <a:p>
            <a:pPr algn="ctr"/>
            <a:r>
              <a:rPr lang="en-US" sz="1133" b="1" dirty="0">
                <a:solidFill>
                  <a:srgbClr val="4ADE80"/>
                </a:solidFill>
                <a:latin typeface="Calibri" pitchFamily="34" charset="0"/>
                <a:ea typeface="Calibri" pitchFamily="34" charset="-122"/>
                <a:cs typeface="Calibri" pitchFamily="34" charset="-120"/>
              </a:rPr>
              <a:t>.pkl files</a:t>
            </a:r>
            <a:endParaRPr lang="en-US" sz="1133" dirty="0"/>
          </a:p>
        </p:txBody>
      </p:sp>
      <p:sp>
        <p:nvSpPr>
          <p:cNvPr id="93" name="Text 0">
            <a:extLst>
              <a:ext uri="{FF2B5EF4-FFF2-40B4-BE49-F238E27FC236}">
                <a16:creationId xmlns:a16="http://schemas.microsoft.com/office/drawing/2014/main" id="{968172A1-6992-5418-58B1-75426C13EEA8}"/>
              </a:ext>
            </a:extLst>
          </p:cNvPr>
          <p:cNvSpPr/>
          <p:nvPr/>
        </p:nvSpPr>
        <p:spPr>
          <a:xfrm>
            <a:off x="365760" y="97536"/>
            <a:ext cx="11460480" cy="426720"/>
          </a:xfrm>
          <a:prstGeom prst="rect">
            <a:avLst/>
          </a:prstGeom>
          <a:solidFill>
            <a:schemeClr val="accent1"/>
          </a:solidFill>
          <a:ln/>
        </p:spPr>
        <p:txBody>
          <a:bodyPr wrap="square" rtlCol="0" anchor="ctr"/>
          <a:lstStyle/>
          <a:p>
            <a:pPr algn="ctr"/>
            <a:r>
              <a:rPr lang="en-US" sz="2400" b="1" dirty="0">
                <a:solidFill>
                  <a:srgbClr val="F8FAFC"/>
                </a:solidFill>
                <a:latin typeface="Calibri" pitchFamily="34" charset="0"/>
                <a:ea typeface="Calibri" pitchFamily="34" charset="-122"/>
                <a:cs typeface="Calibri" pitchFamily="34" charset="-120"/>
              </a:rPr>
              <a:t>Fall Detection — End-to-End ML Pipeline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3A90D4-B66A-FF1F-7EF4-3AC2B6304D75}"/>
              </a:ext>
            </a:extLst>
          </p:cNvPr>
          <p:cNvPicPr>
            <a:picLocks noChangeAspect="1"/>
          </p:cNvPicPr>
          <p:nvPr/>
        </p:nvPicPr>
        <p:blipFill>
          <a:blip r:embed="rId2">
            <a:extLst>
              <a:ext uri="{28A0092B-C50C-407E-A947-70E740481C1C}">
                <a14:useLocalDpi xmlns:a14="http://schemas.microsoft.com/office/drawing/2010/main" val="0"/>
              </a:ext>
            </a:extLst>
          </a:blip>
          <a:srcRect t="11394" b="23107"/>
          <a:stretch>
            <a:fillRect/>
          </a:stretch>
        </p:blipFill>
        <p:spPr>
          <a:xfrm>
            <a:off x="802414" y="966354"/>
            <a:ext cx="10742876" cy="3958937"/>
          </a:xfrm>
          <a:prstGeom prst="rect">
            <a:avLst/>
          </a:prstGeom>
        </p:spPr>
      </p:pic>
      <p:sp>
        <p:nvSpPr>
          <p:cNvPr id="4" name="Text 0">
            <a:extLst>
              <a:ext uri="{FF2B5EF4-FFF2-40B4-BE49-F238E27FC236}">
                <a16:creationId xmlns:a16="http://schemas.microsoft.com/office/drawing/2014/main" id="{30E27387-134B-C72F-A231-723C532E7E64}"/>
              </a:ext>
            </a:extLst>
          </p:cNvPr>
          <p:cNvSpPr/>
          <p:nvPr/>
        </p:nvSpPr>
        <p:spPr>
          <a:xfrm>
            <a:off x="365760" y="97536"/>
            <a:ext cx="11460480" cy="426720"/>
          </a:xfrm>
          <a:prstGeom prst="rect">
            <a:avLst/>
          </a:prstGeom>
          <a:solidFill>
            <a:schemeClr val="accent1"/>
          </a:solidFill>
          <a:ln/>
        </p:spPr>
        <p:txBody>
          <a:bodyPr wrap="square" rtlCol="0" anchor="ctr"/>
          <a:lstStyle/>
          <a:p>
            <a:pPr algn="ctr"/>
            <a:r>
              <a:rPr lang="en-US" sz="2400" b="1" dirty="0">
                <a:solidFill>
                  <a:srgbClr val="F8FAFC"/>
                </a:solidFill>
                <a:latin typeface="Calibri" pitchFamily="34" charset="0"/>
                <a:cs typeface="Calibri" pitchFamily="34" charset="-120"/>
              </a:rPr>
              <a:t>Future Development</a:t>
            </a:r>
            <a:endParaRPr lang="en-US" sz="2400" dirty="0"/>
          </a:p>
        </p:txBody>
      </p:sp>
      <p:pic>
        <p:nvPicPr>
          <p:cNvPr id="5" name="Picture 4">
            <a:extLst>
              <a:ext uri="{FF2B5EF4-FFF2-40B4-BE49-F238E27FC236}">
                <a16:creationId xmlns:a16="http://schemas.microsoft.com/office/drawing/2014/main" id="{4E9940CF-C8FD-371A-E56F-748118395F67}"/>
              </a:ext>
            </a:extLst>
          </p:cNvPr>
          <p:cNvPicPr>
            <a:picLocks noChangeAspect="1"/>
          </p:cNvPicPr>
          <p:nvPr/>
        </p:nvPicPr>
        <p:blipFill>
          <a:blip r:embed="rId3"/>
          <a:stretch>
            <a:fillRect/>
          </a:stretch>
        </p:blipFill>
        <p:spPr>
          <a:xfrm>
            <a:off x="0" y="6362436"/>
            <a:ext cx="2600688" cy="504895"/>
          </a:xfrm>
          <a:prstGeom prst="rect">
            <a:avLst/>
          </a:prstGeom>
        </p:spPr>
      </p:pic>
      <p:sp>
        <p:nvSpPr>
          <p:cNvPr id="6" name="Subtitle 2">
            <a:extLst>
              <a:ext uri="{FF2B5EF4-FFF2-40B4-BE49-F238E27FC236}">
                <a16:creationId xmlns:a16="http://schemas.microsoft.com/office/drawing/2014/main" id="{9E8257DD-F90D-ED27-7B85-B742C4CB21A1}"/>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IT22548078  |  Chathuri M T K  | R26-IT-051</a:t>
            </a:r>
          </a:p>
        </p:txBody>
      </p:sp>
    </p:spTree>
    <p:extLst>
      <p:ext uri="{BB962C8B-B14F-4D97-AF65-F5344CB8AC3E}">
        <p14:creationId xmlns:p14="http://schemas.microsoft.com/office/powerpoint/2010/main" val="3823312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868680-3A79-4A48-89AB-A2D62E8C7503}"/>
              </a:ext>
            </a:extLst>
          </p:cNvPr>
          <p:cNvSpPr/>
          <p:nvPr/>
        </p:nvSpPr>
        <p:spPr>
          <a:xfrm>
            <a:off x="1780674" y="555139"/>
            <a:ext cx="8614610" cy="1569660"/>
          </a:xfrm>
          <a:prstGeom prst="rect">
            <a:avLst/>
          </a:prstGeom>
        </p:spPr>
        <p:txBody>
          <a:bodyPr wrap="square">
            <a:spAutoFit/>
          </a:bodyPr>
          <a:lstStyle/>
          <a:p>
            <a:pPr algn="ctr"/>
            <a:r>
              <a:rPr lang="en-US" sz="4800" b="1" dirty="0">
                <a:solidFill>
                  <a:srgbClr val="1F3864"/>
                </a:solidFill>
                <a:latin typeface="Calibri" pitchFamily="34" charset="0"/>
                <a:ea typeface="Calibri" pitchFamily="34" charset="-122"/>
                <a:cs typeface="Calibri" pitchFamily="34" charset="-120"/>
              </a:rPr>
              <a:t>Environmental Risk Mapping &amp;</a:t>
            </a:r>
            <a:endParaRPr lang="en-US" sz="4800" dirty="0"/>
          </a:p>
          <a:p>
            <a:pPr algn="ctr"/>
            <a:r>
              <a:rPr lang="en-US" sz="4800" b="1" dirty="0">
                <a:solidFill>
                  <a:srgbClr val="1F3864"/>
                </a:solidFill>
                <a:latin typeface="Calibri" pitchFamily="34" charset="0"/>
                <a:ea typeface="Calibri" pitchFamily="34" charset="-122"/>
                <a:cs typeface="Calibri" pitchFamily="34" charset="-120"/>
              </a:rPr>
              <a:t>Smart Safety Zone System</a:t>
            </a:r>
            <a:endParaRPr lang="en-US" sz="4800" dirty="0"/>
          </a:p>
        </p:txBody>
      </p:sp>
      <p:pic>
        <p:nvPicPr>
          <p:cNvPr id="3" name="Picture 2">
            <a:extLst>
              <a:ext uri="{FF2B5EF4-FFF2-40B4-BE49-F238E27FC236}">
                <a16:creationId xmlns:a16="http://schemas.microsoft.com/office/drawing/2014/main" id="{3D4F6896-87DC-405D-AEF5-A6248C89860C}"/>
              </a:ext>
            </a:extLst>
          </p:cNvPr>
          <p:cNvPicPr>
            <a:picLocks noChangeAspect="1"/>
          </p:cNvPicPr>
          <p:nvPr/>
        </p:nvPicPr>
        <p:blipFill>
          <a:blip r:embed="rId3"/>
          <a:stretch>
            <a:fillRect/>
          </a:stretch>
        </p:blipFill>
        <p:spPr>
          <a:xfrm>
            <a:off x="2176671" y="2543589"/>
            <a:ext cx="7414590" cy="3638549"/>
          </a:xfrm>
          <a:prstGeom prst="rect">
            <a:avLst/>
          </a:prstGeom>
        </p:spPr>
      </p:pic>
      <p:pic>
        <p:nvPicPr>
          <p:cNvPr id="4" name="Picture 3">
            <a:extLst>
              <a:ext uri="{FF2B5EF4-FFF2-40B4-BE49-F238E27FC236}">
                <a16:creationId xmlns:a16="http://schemas.microsoft.com/office/drawing/2014/main" id="{FCE47F5E-42A4-405F-9633-3FCB24126B77}"/>
              </a:ext>
            </a:extLst>
          </p:cNvPr>
          <p:cNvPicPr>
            <a:picLocks noChangeAspect="1"/>
          </p:cNvPicPr>
          <p:nvPr/>
        </p:nvPicPr>
        <p:blipFill>
          <a:blip r:embed="rId4"/>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CBA90940-9BF3-4F06-81B7-02AF05FBF902}"/>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IT22559968|  </a:t>
            </a:r>
            <a:r>
              <a:rPr lang="en-US" sz="2000" b="1" dirty="0" err="1"/>
              <a:t>Diwyangi</a:t>
            </a:r>
            <a:r>
              <a:rPr lang="en-US" sz="2000" b="1" dirty="0"/>
              <a:t> D.H.S| R26-IT-051</a:t>
            </a:r>
          </a:p>
        </p:txBody>
      </p:sp>
      <p:pic>
        <p:nvPicPr>
          <p:cNvPr id="6" name="Picture 5">
            <a:extLst>
              <a:ext uri="{FF2B5EF4-FFF2-40B4-BE49-F238E27FC236}">
                <a16:creationId xmlns:a16="http://schemas.microsoft.com/office/drawing/2014/main" id="{E616DAAC-2A1A-7A7C-A37C-25B9B63C48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0300" y="136349"/>
            <a:ext cx="1726189" cy="1581595"/>
          </a:xfrm>
          <a:prstGeom prst="rect">
            <a:avLst/>
          </a:prstGeom>
        </p:spPr>
      </p:pic>
    </p:spTree>
    <p:extLst>
      <p:ext uri="{BB962C8B-B14F-4D97-AF65-F5344CB8AC3E}">
        <p14:creationId xmlns:p14="http://schemas.microsoft.com/office/powerpoint/2010/main" val="2722103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8F05BD3-F43C-4B27-960A-B9F79A91A816}"/>
              </a:ext>
            </a:extLst>
          </p:cNvPr>
          <p:cNvPicPr>
            <a:picLocks noChangeAspect="1"/>
          </p:cNvPicPr>
          <p:nvPr/>
        </p:nvPicPr>
        <p:blipFill>
          <a:blip r:embed="rId3"/>
          <a:stretch>
            <a:fillRect/>
          </a:stretch>
        </p:blipFill>
        <p:spPr>
          <a:xfrm>
            <a:off x="312821" y="357666"/>
            <a:ext cx="11566357" cy="5759116"/>
          </a:xfrm>
          <a:prstGeom prst="rect">
            <a:avLst/>
          </a:prstGeom>
        </p:spPr>
      </p:pic>
      <p:pic>
        <p:nvPicPr>
          <p:cNvPr id="11" name="Picture 10">
            <a:extLst>
              <a:ext uri="{FF2B5EF4-FFF2-40B4-BE49-F238E27FC236}">
                <a16:creationId xmlns:a16="http://schemas.microsoft.com/office/drawing/2014/main" id="{21EC9EBE-3912-4343-9658-D0DFE265297A}"/>
              </a:ext>
            </a:extLst>
          </p:cNvPr>
          <p:cNvPicPr>
            <a:picLocks noChangeAspect="1"/>
          </p:cNvPicPr>
          <p:nvPr/>
        </p:nvPicPr>
        <p:blipFill>
          <a:blip r:embed="rId4"/>
          <a:stretch>
            <a:fillRect/>
          </a:stretch>
        </p:blipFill>
        <p:spPr>
          <a:xfrm>
            <a:off x="0" y="6357770"/>
            <a:ext cx="2600688" cy="504895"/>
          </a:xfrm>
          <a:prstGeom prst="rect">
            <a:avLst/>
          </a:prstGeom>
        </p:spPr>
      </p:pic>
      <p:sp>
        <p:nvSpPr>
          <p:cNvPr id="12" name="Subtitle 2">
            <a:extLst>
              <a:ext uri="{FF2B5EF4-FFF2-40B4-BE49-F238E27FC236}">
                <a16:creationId xmlns:a16="http://schemas.microsoft.com/office/drawing/2014/main" id="{A476DED2-898B-4DBA-A2E8-4A2CC7735CFF}"/>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IT22559968|  </a:t>
            </a:r>
            <a:r>
              <a:rPr lang="en-US" sz="2000" b="1" dirty="0" err="1"/>
              <a:t>Diwyangi</a:t>
            </a:r>
            <a:r>
              <a:rPr lang="en-US" sz="2000" b="1" dirty="0"/>
              <a:t> D.H.S| R26-IT-051</a:t>
            </a:r>
          </a:p>
        </p:txBody>
      </p:sp>
      <p:sp>
        <p:nvSpPr>
          <p:cNvPr id="3" name="TextBox 2">
            <a:extLst>
              <a:ext uri="{FF2B5EF4-FFF2-40B4-BE49-F238E27FC236}">
                <a16:creationId xmlns:a16="http://schemas.microsoft.com/office/drawing/2014/main" id="{EE21F192-CAA1-4F8F-8BE9-4C38EE5F22AE}"/>
              </a:ext>
            </a:extLst>
          </p:cNvPr>
          <p:cNvSpPr txBox="1"/>
          <p:nvPr/>
        </p:nvSpPr>
        <p:spPr>
          <a:xfrm flipH="1">
            <a:off x="1431459" y="3751869"/>
            <a:ext cx="661292" cy="646331"/>
          </a:xfrm>
          <a:prstGeom prst="rect">
            <a:avLst/>
          </a:prstGeom>
          <a:noFill/>
        </p:spPr>
        <p:txBody>
          <a:bodyPr wrap="square" rtlCol="0">
            <a:spAutoFit/>
          </a:bodyPr>
          <a:lstStyle/>
          <a:p>
            <a:r>
              <a:rPr lang="en-US" dirty="0">
                <a:solidFill>
                  <a:schemeClr val="bg1"/>
                </a:solidFill>
              </a:rPr>
              <a:t>MED RISK</a:t>
            </a:r>
          </a:p>
        </p:txBody>
      </p:sp>
    </p:spTree>
    <p:extLst>
      <p:ext uri="{BB962C8B-B14F-4D97-AF65-F5344CB8AC3E}">
        <p14:creationId xmlns:p14="http://schemas.microsoft.com/office/powerpoint/2010/main" val="4231079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E79DBF-8EA3-420C-A7FA-C07C35A7106C}"/>
              </a:ext>
            </a:extLst>
          </p:cNvPr>
          <p:cNvSpPr/>
          <p:nvPr/>
        </p:nvSpPr>
        <p:spPr>
          <a:xfrm>
            <a:off x="3164987" y="372798"/>
            <a:ext cx="5573385" cy="923330"/>
          </a:xfrm>
          <a:prstGeom prst="rect">
            <a:avLst/>
          </a:prstGeom>
        </p:spPr>
        <p:txBody>
          <a:bodyPr wrap="none">
            <a:spAutoFit/>
          </a:bodyPr>
          <a:lstStyle/>
          <a:p>
            <a:r>
              <a:rPr lang="en-US" sz="5400" b="1" dirty="0">
                <a:solidFill>
                  <a:srgbClr val="1F3864"/>
                </a:solidFill>
              </a:rPr>
              <a:t>Smart Safety Zone </a:t>
            </a:r>
            <a:endParaRPr lang="en-US" sz="5400" dirty="0"/>
          </a:p>
        </p:txBody>
      </p:sp>
      <p:pic>
        <p:nvPicPr>
          <p:cNvPr id="3" name="Picture 2">
            <a:extLst>
              <a:ext uri="{FF2B5EF4-FFF2-40B4-BE49-F238E27FC236}">
                <a16:creationId xmlns:a16="http://schemas.microsoft.com/office/drawing/2014/main" id="{8113CC5B-8268-4A75-B77D-7488F6E57869}"/>
              </a:ext>
            </a:extLst>
          </p:cNvPr>
          <p:cNvPicPr>
            <a:picLocks noChangeAspect="1"/>
          </p:cNvPicPr>
          <p:nvPr/>
        </p:nvPicPr>
        <p:blipFill>
          <a:blip r:embed="rId3"/>
          <a:stretch>
            <a:fillRect/>
          </a:stretch>
        </p:blipFill>
        <p:spPr>
          <a:xfrm>
            <a:off x="128338" y="1524000"/>
            <a:ext cx="11758862" cy="4716379"/>
          </a:xfrm>
          <a:prstGeom prst="rect">
            <a:avLst/>
          </a:prstGeom>
        </p:spPr>
      </p:pic>
      <p:pic>
        <p:nvPicPr>
          <p:cNvPr id="4" name="Picture 3">
            <a:extLst>
              <a:ext uri="{FF2B5EF4-FFF2-40B4-BE49-F238E27FC236}">
                <a16:creationId xmlns:a16="http://schemas.microsoft.com/office/drawing/2014/main" id="{7C3D230A-D1EC-4BFE-9D5A-8441367E152D}"/>
              </a:ext>
            </a:extLst>
          </p:cNvPr>
          <p:cNvPicPr>
            <a:picLocks noChangeAspect="1"/>
          </p:cNvPicPr>
          <p:nvPr/>
        </p:nvPicPr>
        <p:blipFill>
          <a:blip r:embed="rId4"/>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44776597-180C-4F27-9D5B-C140B572986D}"/>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IT22559968|  </a:t>
            </a:r>
            <a:r>
              <a:rPr lang="en-US" sz="2000" b="1" dirty="0" err="1"/>
              <a:t>Diwyangi</a:t>
            </a:r>
            <a:r>
              <a:rPr lang="en-US" sz="2000" b="1" dirty="0"/>
              <a:t> D.H.S| R26-IT-051</a:t>
            </a:r>
          </a:p>
        </p:txBody>
      </p:sp>
    </p:spTree>
    <p:extLst>
      <p:ext uri="{BB962C8B-B14F-4D97-AF65-F5344CB8AC3E}">
        <p14:creationId xmlns:p14="http://schemas.microsoft.com/office/powerpoint/2010/main" val="75663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CD60C1-4367-4561-ADD3-1D16588C8B69}"/>
              </a:ext>
            </a:extLst>
          </p:cNvPr>
          <p:cNvPicPr>
            <a:picLocks noChangeAspect="1"/>
          </p:cNvPicPr>
          <p:nvPr/>
        </p:nvPicPr>
        <p:blipFill>
          <a:blip r:embed="rId2"/>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3D7C7FE4-A4C4-4B7E-9B73-5488DD3B60B9}"/>
              </a:ext>
            </a:extLst>
          </p:cNvPr>
          <p:cNvSpPr txBox="1">
            <a:spLocks/>
          </p:cNvSpPr>
          <p:nvPr/>
        </p:nvSpPr>
        <p:spPr>
          <a:xfrm>
            <a:off x="7483152" y="6492875"/>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IT22559968|  </a:t>
            </a:r>
            <a:r>
              <a:rPr lang="en-US" sz="2000" b="1" dirty="0" err="1"/>
              <a:t>Diwyangi</a:t>
            </a:r>
            <a:r>
              <a:rPr lang="en-US" sz="2000" b="1" dirty="0"/>
              <a:t> D.H.S| R26-IT-051</a:t>
            </a:r>
          </a:p>
        </p:txBody>
      </p:sp>
      <p:sp>
        <p:nvSpPr>
          <p:cNvPr id="2" name="AutoShape 2" descr="blob:https://web.whatsapp.com/b55857f1-8291-4920-8621-2a022953ac11">
            <a:extLst>
              <a:ext uri="{FF2B5EF4-FFF2-40B4-BE49-F238E27FC236}">
                <a16:creationId xmlns:a16="http://schemas.microsoft.com/office/drawing/2014/main" id="{D0D7D45C-EC73-4400-9A3A-5B4438885930}"/>
              </a:ext>
            </a:extLst>
          </p:cNvPr>
          <p:cNvSpPr>
            <a:spLocks noChangeAspect="1" noChangeArrowheads="1"/>
          </p:cNvSpPr>
          <p:nvPr/>
        </p:nvSpPr>
        <p:spPr bwMode="auto">
          <a:xfrm>
            <a:off x="1696720" y="-970280"/>
            <a:ext cx="4551680" cy="45516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C074461F-B4C7-47E5-A4CF-F7D7C3AECC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410" y="200810"/>
            <a:ext cx="9747990" cy="6055360"/>
          </a:xfrm>
          <a:prstGeom prst="rect">
            <a:avLst/>
          </a:prstGeom>
        </p:spPr>
      </p:pic>
    </p:spTree>
    <p:extLst>
      <p:ext uri="{BB962C8B-B14F-4D97-AF65-F5344CB8AC3E}">
        <p14:creationId xmlns:p14="http://schemas.microsoft.com/office/powerpoint/2010/main" val="674972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916C14-AD8A-BD44-535B-407C9A3DD4E4}"/>
              </a:ext>
            </a:extLst>
          </p:cNvPr>
          <p:cNvPicPr>
            <a:picLocks noChangeAspect="1"/>
          </p:cNvPicPr>
          <p:nvPr/>
        </p:nvPicPr>
        <p:blipFill>
          <a:blip r:embed="rId2"/>
          <a:stretch>
            <a:fillRect/>
          </a:stretch>
        </p:blipFill>
        <p:spPr>
          <a:xfrm>
            <a:off x="0" y="6357770"/>
            <a:ext cx="2600688" cy="504895"/>
          </a:xfrm>
          <a:prstGeom prst="rect">
            <a:avLst/>
          </a:prstGeom>
        </p:spPr>
      </p:pic>
      <p:sp>
        <p:nvSpPr>
          <p:cNvPr id="3" name="Subtitle 2">
            <a:extLst>
              <a:ext uri="{FF2B5EF4-FFF2-40B4-BE49-F238E27FC236}">
                <a16:creationId xmlns:a16="http://schemas.microsoft.com/office/drawing/2014/main" id="{90AD4C53-6E16-A7C1-F10E-04963EF5BEA7}"/>
              </a:ext>
            </a:extLst>
          </p:cNvPr>
          <p:cNvSpPr txBox="1">
            <a:spLocks/>
          </p:cNvSpPr>
          <p:nvPr/>
        </p:nvSpPr>
        <p:spPr>
          <a:xfrm>
            <a:off x="7049730" y="6492875"/>
            <a:ext cx="573321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sp>
        <p:nvSpPr>
          <p:cNvPr id="5" name="TextBox 4">
            <a:extLst>
              <a:ext uri="{FF2B5EF4-FFF2-40B4-BE49-F238E27FC236}">
                <a16:creationId xmlns:a16="http://schemas.microsoft.com/office/drawing/2014/main" id="{5263489F-CCCE-A1B8-9817-F220E217C43E}"/>
              </a:ext>
            </a:extLst>
          </p:cNvPr>
          <p:cNvSpPr txBox="1"/>
          <p:nvPr/>
        </p:nvSpPr>
        <p:spPr>
          <a:xfrm>
            <a:off x="953729" y="144714"/>
            <a:ext cx="9822426" cy="1077218"/>
          </a:xfrm>
          <a:prstGeom prst="rect">
            <a:avLst/>
          </a:prstGeom>
          <a:noFill/>
        </p:spPr>
        <p:txBody>
          <a:bodyPr wrap="square">
            <a:spAutoFit/>
          </a:bodyPr>
          <a:lstStyle/>
          <a:p>
            <a:pPr algn="ctr"/>
            <a:r>
              <a:rPr lang="en-US" sz="3200" b="1" dirty="0">
                <a:solidFill>
                  <a:schemeClr val="tx2"/>
                </a:solidFill>
              </a:rPr>
              <a:t>Intelligent Multi-Level Alert System for Elderly Safety Monitoring</a:t>
            </a:r>
          </a:p>
        </p:txBody>
      </p:sp>
      <p:sp>
        <p:nvSpPr>
          <p:cNvPr id="8" name="TextBox 7">
            <a:extLst>
              <a:ext uri="{FF2B5EF4-FFF2-40B4-BE49-F238E27FC236}">
                <a16:creationId xmlns:a16="http://schemas.microsoft.com/office/drawing/2014/main" id="{6BA8C07C-0291-A910-7895-A6CCAAC3058F}"/>
              </a:ext>
            </a:extLst>
          </p:cNvPr>
          <p:cNvSpPr txBox="1"/>
          <p:nvPr/>
        </p:nvSpPr>
        <p:spPr>
          <a:xfrm>
            <a:off x="172720" y="1973969"/>
            <a:ext cx="6363110" cy="1815882"/>
          </a:xfrm>
          <a:prstGeom prst="rect">
            <a:avLst/>
          </a:prstGeom>
          <a:noFill/>
        </p:spPr>
        <p:txBody>
          <a:bodyPr wrap="square">
            <a:spAutoFit/>
          </a:bodyPr>
          <a:lstStyle/>
          <a:p>
            <a:r>
              <a:rPr lang="en-US" sz="2800" dirty="0">
                <a:solidFill>
                  <a:schemeClr val="tx2"/>
                </a:solidFill>
              </a:rPr>
              <a:t>A real-time smart alert system designed to detect high-risk situations such as falls in elderly individuals and trigger immediate emergency notifications.</a:t>
            </a:r>
          </a:p>
        </p:txBody>
      </p:sp>
      <p:pic>
        <p:nvPicPr>
          <p:cNvPr id="7" name="Picture 6">
            <a:extLst>
              <a:ext uri="{FF2B5EF4-FFF2-40B4-BE49-F238E27FC236}">
                <a16:creationId xmlns:a16="http://schemas.microsoft.com/office/drawing/2014/main" id="{B087F13B-0771-0800-D089-9411841AA3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1134" y="2116117"/>
            <a:ext cx="5638145" cy="3962953"/>
          </a:xfrm>
          <a:prstGeom prst="rect">
            <a:avLst/>
          </a:prstGeom>
        </p:spPr>
      </p:pic>
    </p:spTree>
    <p:extLst>
      <p:ext uri="{BB962C8B-B14F-4D97-AF65-F5344CB8AC3E}">
        <p14:creationId xmlns:p14="http://schemas.microsoft.com/office/powerpoint/2010/main" val="2555451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64E90C-49E3-BE1B-D0F8-E12F06AFCB24}"/>
              </a:ext>
            </a:extLst>
          </p:cNvPr>
          <p:cNvPicPr>
            <a:picLocks noChangeAspect="1"/>
          </p:cNvPicPr>
          <p:nvPr/>
        </p:nvPicPr>
        <p:blipFill>
          <a:blip r:embed="rId2"/>
          <a:stretch>
            <a:fillRect/>
          </a:stretch>
        </p:blipFill>
        <p:spPr>
          <a:xfrm>
            <a:off x="0" y="6357770"/>
            <a:ext cx="2600688" cy="504895"/>
          </a:xfrm>
          <a:prstGeom prst="rect">
            <a:avLst/>
          </a:prstGeom>
        </p:spPr>
      </p:pic>
      <p:sp>
        <p:nvSpPr>
          <p:cNvPr id="3" name="Subtitle 2">
            <a:extLst>
              <a:ext uri="{FF2B5EF4-FFF2-40B4-BE49-F238E27FC236}">
                <a16:creationId xmlns:a16="http://schemas.microsoft.com/office/drawing/2014/main" id="{F7942446-D4D4-2508-DA60-2EE121A57730}"/>
              </a:ext>
            </a:extLst>
          </p:cNvPr>
          <p:cNvSpPr txBox="1">
            <a:spLocks/>
          </p:cNvSpPr>
          <p:nvPr/>
        </p:nvSpPr>
        <p:spPr>
          <a:xfrm>
            <a:off x="7049730" y="6492875"/>
            <a:ext cx="573321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sp>
        <p:nvSpPr>
          <p:cNvPr id="5" name="TextBox 4">
            <a:extLst>
              <a:ext uri="{FF2B5EF4-FFF2-40B4-BE49-F238E27FC236}">
                <a16:creationId xmlns:a16="http://schemas.microsoft.com/office/drawing/2014/main" id="{FC37952F-6D91-E0F8-0974-A56994C04D71}"/>
              </a:ext>
            </a:extLst>
          </p:cNvPr>
          <p:cNvSpPr txBox="1"/>
          <p:nvPr/>
        </p:nvSpPr>
        <p:spPr>
          <a:xfrm>
            <a:off x="1300344" y="1139142"/>
            <a:ext cx="6809821" cy="4579715"/>
          </a:xfrm>
          <a:prstGeom prst="rect">
            <a:avLst/>
          </a:prstGeom>
          <a:noFill/>
        </p:spPr>
        <p:txBody>
          <a:bodyPr wrap="square">
            <a:spAutoFit/>
          </a:bodyPr>
          <a:lstStyle/>
          <a:p>
            <a:pPr marL="457200" indent="-457200">
              <a:lnSpc>
                <a:spcPct val="200000"/>
              </a:lnSpc>
              <a:buFont typeface="Wingdings" panose="05000000000000000000" pitchFamily="2" charset="2"/>
              <a:buChar char="q"/>
            </a:pPr>
            <a:r>
              <a:rPr lang="en-US" sz="3000" dirty="0"/>
              <a:t>Elderly users </a:t>
            </a:r>
          </a:p>
          <a:p>
            <a:pPr marL="457200" indent="-457200">
              <a:lnSpc>
                <a:spcPct val="200000"/>
              </a:lnSpc>
              <a:buFont typeface="Wingdings" panose="05000000000000000000" pitchFamily="2" charset="2"/>
              <a:buChar char="q"/>
            </a:pPr>
            <a:r>
              <a:rPr lang="en-US" sz="3000" dirty="0"/>
              <a:t>Caregivers and family members </a:t>
            </a:r>
          </a:p>
          <a:p>
            <a:pPr marL="457200" indent="-457200">
              <a:lnSpc>
                <a:spcPct val="200000"/>
              </a:lnSpc>
              <a:buFont typeface="Wingdings" panose="05000000000000000000" pitchFamily="2" charset="2"/>
              <a:buChar char="q"/>
            </a:pPr>
            <a:r>
              <a:rPr lang="en-US" sz="3000" dirty="0"/>
              <a:t>Hospitals and healthcare providers </a:t>
            </a:r>
          </a:p>
          <a:p>
            <a:pPr marL="457200" indent="-457200">
              <a:lnSpc>
                <a:spcPct val="200000"/>
              </a:lnSpc>
              <a:buFont typeface="Wingdings" panose="05000000000000000000" pitchFamily="2" charset="2"/>
              <a:buChar char="q"/>
            </a:pPr>
            <a:r>
              <a:rPr lang="en-US" sz="3000" dirty="0"/>
              <a:t>Emergency response teams </a:t>
            </a:r>
          </a:p>
          <a:p>
            <a:pPr marL="457200" indent="-457200">
              <a:lnSpc>
                <a:spcPct val="200000"/>
              </a:lnSpc>
              <a:buFont typeface="Wingdings" panose="05000000000000000000" pitchFamily="2" charset="2"/>
              <a:buChar char="q"/>
            </a:pPr>
            <a:r>
              <a:rPr lang="en-US" sz="3000" dirty="0"/>
              <a:t>Assisted living facilities</a:t>
            </a:r>
          </a:p>
        </p:txBody>
      </p:sp>
      <p:sp>
        <p:nvSpPr>
          <p:cNvPr id="7" name="TextBox 6">
            <a:extLst>
              <a:ext uri="{FF2B5EF4-FFF2-40B4-BE49-F238E27FC236}">
                <a16:creationId xmlns:a16="http://schemas.microsoft.com/office/drawing/2014/main" id="{5223EDD1-E606-8D3B-B0D7-238BBF410E2D}"/>
              </a:ext>
            </a:extLst>
          </p:cNvPr>
          <p:cNvSpPr txBox="1"/>
          <p:nvPr/>
        </p:nvSpPr>
        <p:spPr>
          <a:xfrm>
            <a:off x="3854247" y="80805"/>
            <a:ext cx="6390966" cy="584775"/>
          </a:xfrm>
          <a:prstGeom prst="rect">
            <a:avLst/>
          </a:prstGeom>
          <a:noFill/>
        </p:spPr>
        <p:txBody>
          <a:bodyPr wrap="square">
            <a:spAutoFit/>
          </a:bodyPr>
          <a:lstStyle/>
          <a:p>
            <a:pPr>
              <a:buNone/>
            </a:pPr>
            <a:r>
              <a:rPr lang="en-US" sz="3200" b="1" dirty="0">
                <a:solidFill>
                  <a:srgbClr val="0070C0"/>
                </a:solidFill>
              </a:rPr>
              <a:t>Users &amp; Stakeholders</a:t>
            </a:r>
          </a:p>
        </p:txBody>
      </p:sp>
    </p:spTree>
    <p:extLst>
      <p:ext uri="{BB962C8B-B14F-4D97-AF65-F5344CB8AC3E}">
        <p14:creationId xmlns:p14="http://schemas.microsoft.com/office/powerpoint/2010/main" val="1368329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AFF356-CC41-9111-8ED9-C5366BEC1EC3}"/>
              </a:ext>
            </a:extLst>
          </p:cNvPr>
          <p:cNvSpPr txBox="1"/>
          <p:nvPr/>
        </p:nvSpPr>
        <p:spPr>
          <a:xfrm>
            <a:off x="412955" y="503592"/>
            <a:ext cx="6096000" cy="584775"/>
          </a:xfrm>
          <a:prstGeom prst="rect">
            <a:avLst/>
          </a:prstGeom>
          <a:noFill/>
        </p:spPr>
        <p:txBody>
          <a:bodyPr wrap="square">
            <a:spAutoFit/>
          </a:bodyPr>
          <a:lstStyle/>
          <a:p>
            <a:r>
              <a:rPr lang="en-US" sz="3200" b="1">
                <a:solidFill>
                  <a:srgbClr val="0070C0"/>
                </a:solidFill>
              </a:rPr>
              <a:t>Motivation</a:t>
            </a:r>
            <a:endParaRPr lang="en-US" sz="3200" b="1" dirty="0">
              <a:solidFill>
                <a:srgbClr val="0070C0"/>
              </a:solidFill>
            </a:endParaRPr>
          </a:p>
        </p:txBody>
      </p:sp>
      <p:sp>
        <p:nvSpPr>
          <p:cNvPr id="6" name="Rectangle 3">
            <a:extLst>
              <a:ext uri="{FF2B5EF4-FFF2-40B4-BE49-F238E27FC236}">
                <a16:creationId xmlns:a16="http://schemas.microsoft.com/office/drawing/2014/main" id="{71287EA9-773F-CC71-36BC-353BEA23FC0C}"/>
              </a:ext>
            </a:extLst>
          </p:cNvPr>
          <p:cNvSpPr>
            <a:spLocks noChangeArrowheads="1"/>
          </p:cNvSpPr>
          <p:nvPr/>
        </p:nvSpPr>
        <p:spPr bwMode="auto">
          <a:xfrm>
            <a:off x="412955" y="1355688"/>
            <a:ext cx="8485239" cy="2932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a:ln>
                  <a:noFill/>
                </a:ln>
                <a:solidFill>
                  <a:schemeClr val="tx1"/>
                </a:solidFill>
                <a:effectLst/>
                <a:latin typeface="Arial" panose="020B0604020202020204" pitchFamily="34" charset="0"/>
              </a:rPr>
              <a:t>Falls are a major risk for elderly people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a:ln>
                  <a:noFill/>
                </a:ln>
                <a:solidFill>
                  <a:schemeClr val="tx1"/>
                </a:solidFill>
                <a:effectLst/>
                <a:latin typeface="Arial" panose="020B0604020202020204" pitchFamily="34" charset="0"/>
              </a:rPr>
              <a:t>Delayed help can lead to serious injuries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a:ln>
                  <a:noFill/>
                </a:ln>
                <a:solidFill>
                  <a:schemeClr val="tx1"/>
                </a:solidFill>
                <a:effectLst/>
                <a:latin typeface="Arial" panose="020B0604020202020204" pitchFamily="34" charset="0"/>
              </a:rPr>
              <a:t>Many elderly people live alone without support </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a:ln>
                  <a:noFill/>
                </a:ln>
                <a:solidFill>
                  <a:schemeClr val="tx1"/>
                </a:solidFill>
                <a:effectLst/>
                <a:latin typeface="Arial" panose="020B0604020202020204" pitchFamily="34" charset="0"/>
              </a:rPr>
              <a:t>Need for a fast and reliable alert system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C78F6AC7-FF39-EE3F-548C-2B31B9974BA8}"/>
              </a:ext>
            </a:extLst>
          </p:cNvPr>
          <p:cNvPicPr>
            <a:picLocks noChangeAspect="1"/>
          </p:cNvPicPr>
          <p:nvPr/>
        </p:nvPicPr>
        <p:blipFill>
          <a:blip r:embed="rId2"/>
          <a:stretch>
            <a:fillRect/>
          </a:stretch>
        </p:blipFill>
        <p:spPr>
          <a:xfrm>
            <a:off x="0" y="6357770"/>
            <a:ext cx="2600688" cy="504895"/>
          </a:xfrm>
          <a:prstGeom prst="rect">
            <a:avLst/>
          </a:prstGeom>
        </p:spPr>
      </p:pic>
      <p:sp>
        <p:nvSpPr>
          <p:cNvPr id="8" name="Subtitle 2">
            <a:extLst>
              <a:ext uri="{FF2B5EF4-FFF2-40B4-BE49-F238E27FC236}">
                <a16:creationId xmlns:a16="http://schemas.microsoft.com/office/drawing/2014/main" id="{E7C90C70-2130-C1CC-C0D6-E6FDB03C715B}"/>
              </a:ext>
            </a:extLst>
          </p:cNvPr>
          <p:cNvSpPr txBox="1">
            <a:spLocks/>
          </p:cNvSpPr>
          <p:nvPr/>
        </p:nvSpPr>
        <p:spPr>
          <a:xfrm>
            <a:off x="7049730" y="6492875"/>
            <a:ext cx="514227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pic>
        <p:nvPicPr>
          <p:cNvPr id="10" name="Picture 9">
            <a:extLst>
              <a:ext uri="{FF2B5EF4-FFF2-40B4-BE49-F238E27FC236}">
                <a16:creationId xmlns:a16="http://schemas.microsoft.com/office/drawing/2014/main" id="{397163CA-43E5-FB2F-87F8-6B7045425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5689" y="303673"/>
            <a:ext cx="4643356" cy="4745305"/>
          </a:xfrm>
          <a:prstGeom prst="rect">
            <a:avLst/>
          </a:prstGeom>
        </p:spPr>
      </p:pic>
    </p:spTree>
    <p:extLst>
      <p:ext uri="{BB962C8B-B14F-4D97-AF65-F5344CB8AC3E}">
        <p14:creationId xmlns:p14="http://schemas.microsoft.com/office/powerpoint/2010/main" val="3849635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7A1262-43C7-4170-4E61-6C8F4EB871C0}"/>
              </a:ext>
            </a:extLst>
          </p:cNvPr>
          <p:cNvPicPr>
            <a:picLocks noChangeAspect="1"/>
          </p:cNvPicPr>
          <p:nvPr/>
        </p:nvPicPr>
        <p:blipFill>
          <a:blip r:embed="rId2"/>
          <a:stretch>
            <a:fillRect/>
          </a:stretch>
        </p:blipFill>
        <p:spPr>
          <a:xfrm>
            <a:off x="0" y="6357770"/>
            <a:ext cx="2600688" cy="504895"/>
          </a:xfrm>
          <a:prstGeom prst="rect">
            <a:avLst/>
          </a:prstGeom>
        </p:spPr>
      </p:pic>
      <p:sp>
        <p:nvSpPr>
          <p:cNvPr id="3" name="Subtitle 2">
            <a:extLst>
              <a:ext uri="{FF2B5EF4-FFF2-40B4-BE49-F238E27FC236}">
                <a16:creationId xmlns:a16="http://schemas.microsoft.com/office/drawing/2014/main" id="{397EFD9C-4DC2-031C-363B-EBF02F8E041C}"/>
              </a:ext>
            </a:extLst>
          </p:cNvPr>
          <p:cNvSpPr txBox="1">
            <a:spLocks/>
          </p:cNvSpPr>
          <p:nvPr/>
        </p:nvSpPr>
        <p:spPr>
          <a:xfrm>
            <a:off x="7049730" y="6492875"/>
            <a:ext cx="514227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sp>
        <p:nvSpPr>
          <p:cNvPr id="5" name="TextBox 4">
            <a:extLst>
              <a:ext uri="{FF2B5EF4-FFF2-40B4-BE49-F238E27FC236}">
                <a16:creationId xmlns:a16="http://schemas.microsoft.com/office/drawing/2014/main" id="{6593A223-EA03-504F-1377-2FDFA2B73D59}"/>
              </a:ext>
            </a:extLst>
          </p:cNvPr>
          <p:cNvSpPr txBox="1"/>
          <p:nvPr/>
        </p:nvSpPr>
        <p:spPr>
          <a:xfrm>
            <a:off x="432618" y="0"/>
            <a:ext cx="8487861" cy="584775"/>
          </a:xfrm>
          <a:prstGeom prst="rect">
            <a:avLst/>
          </a:prstGeom>
          <a:noFill/>
        </p:spPr>
        <p:txBody>
          <a:bodyPr wrap="square">
            <a:spAutoFit/>
          </a:bodyPr>
          <a:lstStyle/>
          <a:p>
            <a:r>
              <a:rPr lang="en-US" sz="3200" b="1" dirty="0">
                <a:solidFill>
                  <a:srgbClr val="0070C0"/>
                </a:solidFill>
              </a:rPr>
              <a:t>Existing System vs Proposed System</a:t>
            </a:r>
          </a:p>
        </p:txBody>
      </p:sp>
      <p:pic>
        <p:nvPicPr>
          <p:cNvPr id="7" name="Picture 6">
            <a:extLst>
              <a:ext uri="{FF2B5EF4-FFF2-40B4-BE49-F238E27FC236}">
                <a16:creationId xmlns:a16="http://schemas.microsoft.com/office/drawing/2014/main" id="{AA6F3DD6-94CA-310E-6C28-74A4876CF8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779" y="1081836"/>
            <a:ext cx="10638442" cy="4694327"/>
          </a:xfrm>
          <a:prstGeom prst="rect">
            <a:avLst/>
          </a:prstGeom>
        </p:spPr>
      </p:pic>
    </p:spTree>
    <p:extLst>
      <p:ext uri="{BB962C8B-B14F-4D97-AF65-F5344CB8AC3E}">
        <p14:creationId xmlns:p14="http://schemas.microsoft.com/office/powerpoint/2010/main" val="3996159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B51F30-8D22-BFC2-FA02-645EFC26F51D}"/>
              </a:ext>
            </a:extLst>
          </p:cNvPr>
          <p:cNvSpPr txBox="1"/>
          <p:nvPr/>
        </p:nvSpPr>
        <p:spPr>
          <a:xfrm>
            <a:off x="609600" y="1158115"/>
            <a:ext cx="6096000" cy="3220562"/>
          </a:xfrm>
          <a:prstGeom prst="rect">
            <a:avLst/>
          </a:prstGeom>
          <a:noFill/>
        </p:spPr>
        <p:txBody>
          <a:bodyPr wrap="square">
            <a:spAutoFit/>
          </a:bodyPr>
          <a:lstStyle/>
          <a:p>
            <a:pPr>
              <a:buNone/>
            </a:pPr>
            <a:endParaRPr lang="en-US" dirty="0"/>
          </a:p>
          <a:p>
            <a:pPr marL="342900" indent="-342900">
              <a:lnSpc>
                <a:spcPct val="200000"/>
              </a:lnSpc>
              <a:buFont typeface="Wingdings" panose="05000000000000000000" pitchFamily="2" charset="2"/>
              <a:buChar char="q"/>
            </a:pPr>
            <a:r>
              <a:rPr lang="en-US" sz="2400" dirty="0"/>
              <a:t>Collects data from sensors / user input </a:t>
            </a:r>
          </a:p>
          <a:p>
            <a:pPr marL="342900" indent="-342900">
              <a:lnSpc>
                <a:spcPct val="200000"/>
              </a:lnSpc>
              <a:buFont typeface="Wingdings" panose="05000000000000000000" pitchFamily="2" charset="2"/>
              <a:buChar char="q"/>
            </a:pPr>
            <a:r>
              <a:rPr lang="en-US" sz="2400" dirty="0"/>
              <a:t>Processes the detected event </a:t>
            </a:r>
          </a:p>
          <a:p>
            <a:pPr marL="342900" indent="-342900">
              <a:lnSpc>
                <a:spcPct val="200000"/>
              </a:lnSpc>
              <a:buFont typeface="Wingdings" panose="05000000000000000000" pitchFamily="2" charset="2"/>
              <a:buChar char="q"/>
            </a:pPr>
            <a:r>
              <a:rPr lang="en-US" sz="2400" dirty="0"/>
              <a:t>Identifies emergency situations </a:t>
            </a:r>
          </a:p>
          <a:p>
            <a:pPr marL="342900" indent="-342900">
              <a:lnSpc>
                <a:spcPct val="200000"/>
              </a:lnSpc>
              <a:buFont typeface="Wingdings" panose="05000000000000000000" pitchFamily="2" charset="2"/>
              <a:buChar char="q"/>
            </a:pPr>
            <a:r>
              <a:rPr lang="en-US" sz="2400" dirty="0"/>
              <a:t>Sends alerts to connected users</a:t>
            </a:r>
          </a:p>
        </p:txBody>
      </p:sp>
      <p:sp>
        <p:nvSpPr>
          <p:cNvPr id="5" name="TextBox 4">
            <a:extLst>
              <a:ext uri="{FF2B5EF4-FFF2-40B4-BE49-F238E27FC236}">
                <a16:creationId xmlns:a16="http://schemas.microsoft.com/office/drawing/2014/main" id="{94E640FA-4D4F-74BE-2ADC-65F408A155A1}"/>
              </a:ext>
            </a:extLst>
          </p:cNvPr>
          <p:cNvSpPr txBox="1"/>
          <p:nvPr/>
        </p:nvSpPr>
        <p:spPr>
          <a:xfrm>
            <a:off x="609600" y="444598"/>
            <a:ext cx="6096000" cy="584775"/>
          </a:xfrm>
          <a:prstGeom prst="rect">
            <a:avLst/>
          </a:prstGeom>
          <a:noFill/>
        </p:spPr>
        <p:txBody>
          <a:bodyPr wrap="square">
            <a:spAutoFit/>
          </a:bodyPr>
          <a:lstStyle/>
          <a:p>
            <a:pPr>
              <a:buNone/>
            </a:pPr>
            <a:r>
              <a:rPr lang="en-US" sz="3200" b="1" dirty="0">
                <a:solidFill>
                  <a:srgbClr val="0070C0"/>
                </a:solidFill>
              </a:rPr>
              <a:t>System Overview</a:t>
            </a:r>
          </a:p>
        </p:txBody>
      </p:sp>
      <p:pic>
        <p:nvPicPr>
          <p:cNvPr id="6" name="Picture 5">
            <a:extLst>
              <a:ext uri="{FF2B5EF4-FFF2-40B4-BE49-F238E27FC236}">
                <a16:creationId xmlns:a16="http://schemas.microsoft.com/office/drawing/2014/main" id="{D773074A-DA2A-78FA-B3FD-C001035FEADC}"/>
              </a:ext>
            </a:extLst>
          </p:cNvPr>
          <p:cNvPicPr>
            <a:picLocks noChangeAspect="1"/>
          </p:cNvPicPr>
          <p:nvPr/>
        </p:nvPicPr>
        <p:blipFill>
          <a:blip r:embed="rId2"/>
          <a:stretch>
            <a:fillRect/>
          </a:stretch>
        </p:blipFill>
        <p:spPr>
          <a:xfrm>
            <a:off x="0" y="6353105"/>
            <a:ext cx="2600688" cy="504895"/>
          </a:xfrm>
          <a:prstGeom prst="rect">
            <a:avLst/>
          </a:prstGeom>
        </p:spPr>
      </p:pic>
      <p:sp>
        <p:nvSpPr>
          <p:cNvPr id="7" name="Subtitle 2">
            <a:extLst>
              <a:ext uri="{FF2B5EF4-FFF2-40B4-BE49-F238E27FC236}">
                <a16:creationId xmlns:a16="http://schemas.microsoft.com/office/drawing/2014/main" id="{094407F4-EFDF-5DC9-142C-A5B6C4D99637}"/>
              </a:ext>
            </a:extLst>
          </p:cNvPr>
          <p:cNvSpPr txBox="1">
            <a:spLocks/>
          </p:cNvSpPr>
          <p:nvPr/>
        </p:nvSpPr>
        <p:spPr>
          <a:xfrm>
            <a:off x="7049730" y="6492875"/>
            <a:ext cx="514227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pic>
        <p:nvPicPr>
          <p:cNvPr id="9" name="Picture 8">
            <a:extLst>
              <a:ext uri="{FF2B5EF4-FFF2-40B4-BE49-F238E27FC236}">
                <a16:creationId xmlns:a16="http://schemas.microsoft.com/office/drawing/2014/main" id="{6C9B278E-8C87-C7B6-E534-FB15889616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7212" y="989990"/>
            <a:ext cx="4587201" cy="4329261"/>
          </a:xfrm>
          <a:prstGeom prst="rect">
            <a:avLst/>
          </a:prstGeom>
        </p:spPr>
      </p:pic>
    </p:spTree>
    <p:extLst>
      <p:ext uri="{BB962C8B-B14F-4D97-AF65-F5344CB8AC3E}">
        <p14:creationId xmlns:p14="http://schemas.microsoft.com/office/powerpoint/2010/main" val="4200811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B94FE9-5DD9-EB0A-77EE-4C303E7E81C8}"/>
              </a:ext>
            </a:extLst>
          </p:cNvPr>
          <p:cNvPicPr>
            <a:picLocks noChangeAspect="1"/>
          </p:cNvPicPr>
          <p:nvPr/>
        </p:nvPicPr>
        <p:blipFill>
          <a:blip r:embed="rId2"/>
          <a:stretch>
            <a:fillRect/>
          </a:stretch>
        </p:blipFill>
        <p:spPr>
          <a:xfrm>
            <a:off x="0" y="6357770"/>
            <a:ext cx="2600688" cy="504895"/>
          </a:xfrm>
          <a:prstGeom prst="rect">
            <a:avLst/>
          </a:prstGeom>
        </p:spPr>
      </p:pic>
      <p:sp>
        <p:nvSpPr>
          <p:cNvPr id="3" name="Subtitle 2">
            <a:extLst>
              <a:ext uri="{FF2B5EF4-FFF2-40B4-BE49-F238E27FC236}">
                <a16:creationId xmlns:a16="http://schemas.microsoft.com/office/drawing/2014/main" id="{C18194CA-1E76-805D-E728-3393E29A6281}"/>
              </a:ext>
            </a:extLst>
          </p:cNvPr>
          <p:cNvSpPr txBox="1">
            <a:spLocks/>
          </p:cNvSpPr>
          <p:nvPr/>
        </p:nvSpPr>
        <p:spPr>
          <a:xfrm>
            <a:off x="7049730" y="6492875"/>
            <a:ext cx="514227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sp>
        <p:nvSpPr>
          <p:cNvPr id="5" name="TextBox 4">
            <a:extLst>
              <a:ext uri="{FF2B5EF4-FFF2-40B4-BE49-F238E27FC236}">
                <a16:creationId xmlns:a16="http://schemas.microsoft.com/office/drawing/2014/main" id="{18C68ED1-DDF8-595E-393F-2211F0A88AE7}"/>
              </a:ext>
            </a:extLst>
          </p:cNvPr>
          <p:cNvSpPr txBox="1"/>
          <p:nvPr/>
        </p:nvSpPr>
        <p:spPr>
          <a:xfrm>
            <a:off x="658764" y="0"/>
            <a:ext cx="6390966" cy="584775"/>
          </a:xfrm>
          <a:prstGeom prst="rect">
            <a:avLst/>
          </a:prstGeom>
          <a:noFill/>
        </p:spPr>
        <p:txBody>
          <a:bodyPr wrap="square">
            <a:spAutoFit/>
          </a:bodyPr>
          <a:lstStyle/>
          <a:p>
            <a:r>
              <a:rPr lang="en-US" sz="3200" b="1" dirty="0">
                <a:solidFill>
                  <a:srgbClr val="0070C0"/>
                </a:solidFill>
              </a:rPr>
              <a:t>System Architecture</a:t>
            </a:r>
          </a:p>
        </p:txBody>
      </p:sp>
      <p:pic>
        <p:nvPicPr>
          <p:cNvPr id="9" name="Picture 8">
            <a:extLst>
              <a:ext uri="{FF2B5EF4-FFF2-40B4-BE49-F238E27FC236}">
                <a16:creationId xmlns:a16="http://schemas.microsoft.com/office/drawing/2014/main" id="{2204CC74-5F50-FC4A-FA58-00F9AA49C7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1709" y="93162"/>
            <a:ext cx="4333150" cy="6264608"/>
          </a:xfrm>
          <a:prstGeom prst="rect">
            <a:avLst/>
          </a:prstGeom>
        </p:spPr>
      </p:pic>
    </p:spTree>
    <p:extLst>
      <p:ext uri="{BB962C8B-B14F-4D97-AF65-F5344CB8AC3E}">
        <p14:creationId xmlns:p14="http://schemas.microsoft.com/office/powerpoint/2010/main" val="1375758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99EA73-3617-6C73-D0D0-9838F5F71633}"/>
              </a:ext>
            </a:extLst>
          </p:cNvPr>
          <p:cNvSpPr txBox="1"/>
          <p:nvPr/>
        </p:nvSpPr>
        <p:spPr>
          <a:xfrm>
            <a:off x="737420" y="636158"/>
            <a:ext cx="6096000" cy="4420890"/>
          </a:xfrm>
          <a:prstGeom prst="rect">
            <a:avLst/>
          </a:prstGeom>
          <a:noFill/>
        </p:spPr>
        <p:txBody>
          <a:bodyPr wrap="square">
            <a:spAutoFit/>
          </a:bodyPr>
          <a:lstStyle/>
          <a:p>
            <a:pPr marL="285750" indent="-285750">
              <a:lnSpc>
                <a:spcPct val="200000"/>
              </a:lnSpc>
              <a:buFont typeface="Wingdings" panose="05000000000000000000" pitchFamily="2" charset="2"/>
              <a:buChar char="q"/>
            </a:pPr>
            <a:endParaRPr lang="en-US" sz="2400" dirty="0"/>
          </a:p>
          <a:p>
            <a:pPr marL="285750" indent="-285750">
              <a:lnSpc>
                <a:spcPct val="200000"/>
              </a:lnSpc>
              <a:buFont typeface="Wingdings" panose="05000000000000000000" pitchFamily="2" charset="2"/>
              <a:buChar char="q"/>
            </a:pPr>
            <a:r>
              <a:rPr lang="en-US" sz="2400" dirty="0"/>
              <a:t>Real-time emergency alerts </a:t>
            </a:r>
          </a:p>
          <a:p>
            <a:pPr marL="285750" indent="-285750">
              <a:lnSpc>
                <a:spcPct val="200000"/>
              </a:lnSpc>
              <a:buFont typeface="Wingdings" panose="05000000000000000000" pitchFamily="2" charset="2"/>
              <a:buChar char="q"/>
            </a:pPr>
            <a:r>
              <a:rPr lang="en-US" sz="2400" dirty="0"/>
              <a:t>Automatic fall detection </a:t>
            </a:r>
          </a:p>
          <a:p>
            <a:pPr marL="285750" indent="-285750">
              <a:lnSpc>
                <a:spcPct val="200000"/>
              </a:lnSpc>
              <a:buFont typeface="Wingdings" panose="05000000000000000000" pitchFamily="2" charset="2"/>
              <a:buChar char="q"/>
            </a:pPr>
            <a:r>
              <a:rPr lang="en-US" sz="2400" dirty="0"/>
              <a:t>Quick notification system </a:t>
            </a:r>
          </a:p>
          <a:p>
            <a:pPr marL="285750" indent="-285750">
              <a:lnSpc>
                <a:spcPct val="200000"/>
              </a:lnSpc>
              <a:buFont typeface="Wingdings" panose="05000000000000000000" pitchFamily="2" charset="2"/>
              <a:buChar char="q"/>
            </a:pPr>
            <a:r>
              <a:rPr lang="en-US" sz="2400" dirty="0"/>
              <a:t>Easy to use interface </a:t>
            </a:r>
          </a:p>
          <a:p>
            <a:pPr marL="285750" indent="-285750">
              <a:lnSpc>
                <a:spcPct val="200000"/>
              </a:lnSpc>
              <a:buFont typeface="Wingdings" panose="05000000000000000000" pitchFamily="2" charset="2"/>
              <a:buChar char="q"/>
            </a:pPr>
            <a:r>
              <a:rPr lang="en-US" sz="2400" dirty="0"/>
              <a:t>Reliable and fast response</a:t>
            </a:r>
          </a:p>
        </p:txBody>
      </p:sp>
      <p:sp>
        <p:nvSpPr>
          <p:cNvPr id="5" name="TextBox 4">
            <a:extLst>
              <a:ext uri="{FF2B5EF4-FFF2-40B4-BE49-F238E27FC236}">
                <a16:creationId xmlns:a16="http://schemas.microsoft.com/office/drawing/2014/main" id="{27132136-4C0A-EA6C-90BB-B7EA26E48A8B}"/>
              </a:ext>
            </a:extLst>
          </p:cNvPr>
          <p:cNvSpPr txBox="1"/>
          <p:nvPr/>
        </p:nvSpPr>
        <p:spPr>
          <a:xfrm>
            <a:off x="737420" y="483928"/>
            <a:ext cx="6096000" cy="584775"/>
          </a:xfrm>
          <a:prstGeom prst="rect">
            <a:avLst/>
          </a:prstGeom>
          <a:noFill/>
        </p:spPr>
        <p:txBody>
          <a:bodyPr wrap="square">
            <a:spAutoFit/>
          </a:bodyPr>
          <a:lstStyle/>
          <a:p>
            <a:pPr>
              <a:buNone/>
            </a:pPr>
            <a:r>
              <a:rPr lang="en-US" sz="3200" b="1" dirty="0">
                <a:solidFill>
                  <a:srgbClr val="0070C0"/>
                </a:solidFill>
              </a:rPr>
              <a:t>Key Features</a:t>
            </a:r>
          </a:p>
        </p:txBody>
      </p:sp>
      <p:pic>
        <p:nvPicPr>
          <p:cNvPr id="6" name="Picture 5">
            <a:extLst>
              <a:ext uri="{FF2B5EF4-FFF2-40B4-BE49-F238E27FC236}">
                <a16:creationId xmlns:a16="http://schemas.microsoft.com/office/drawing/2014/main" id="{8728413B-6E15-1BF6-86BA-DFCDF9529A8D}"/>
              </a:ext>
            </a:extLst>
          </p:cNvPr>
          <p:cNvPicPr>
            <a:picLocks noChangeAspect="1"/>
          </p:cNvPicPr>
          <p:nvPr/>
        </p:nvPicPr>
        <p:blipFill>
          <a:blip r:embed="rId2"/>
          <a:stretch>
            <a:fillRect/>
          </a:stretch>
        </p:blipFill>
        <p:spPr>
          <a:xfrm>
            <a:off x="0" y="6353105"/>
            <a:ext cx="2600688" cy="504895"/>
          </a:xfrm>
          <a:prstGeom prst="rect">
            <a:avLst/>
          </a:prstGeom>
        </p:spPr>
      </p:pic>
      <p:sp>
        <p:nvSpPr>
          <p:cNvPr id="7" name="Subtitle 2">
            <a:extLst>
              <a:ext uri="{FF2B5EF4-FFF2-40B4-BE49-F238E27FC236}">
                <a16:creationId xmlns:a16="http://schemas.microsoft.com/office/drawing/2014/main" id="{369FCB4A-3F16-1689-E21B-D9E45AE79070}"/>
              </a:ext>
            </a:extLst>
          </p:cNvPr>
          <p:cNvSpPr txBox="1">
            <a:spLocks/>
          </p:cNvSpPr>
          <p:nvPr/>
        </p:nvSpPr>
        <p:spPr>
          <a:xfrm>
            <a:off x="7118556" y="6492875"/>
            <a:ext cx="514227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pic>
        <p:nvPicPr>
          <p:cNvPr id="9" name="Picture 8">
            <a:extLst>
              <a:ext uri="{FF2B5EF4-FFF2-40B4-BE49-F238E27FC236}">
                <a16:creationId xmlns:a16="http://schemas.microsoft.com/office/drawing/2014/main" id="{9C9D8B38-58D7-5755-B1EA-D256E9B45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7805" y="245806"/>
            <a:ext cx="6853085" cy="6128266"/>
          </a:xfrm>
          <a:prstGeom prst="rect">
            <a:avLst/>
          </a:prstGeom>
        </p:spPr>
      </p:pic>
    </p:spTree>
    <p:extLst>
      <p:ext uri="{BB962C8B-B14F-4D97-AF65-F5344CB8AC3E}">
        <p14:creationId xmlns:p14="http://schemas.microsoft.com/office/powerpoint/2010/main" val="2530095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F400FD-9DA1-328C-D4B8-3CBAA8A3E255}"/>
              </a:ext>
            </a:extLst>
          </p:cNvPr>
          <p:cNvPicPr>
            <a:picLocks noChangeAspect="1"/>
          </p:cNvPicPr>
          <p:nvPr/>
        </p:nvPicPr>
        <p:blipFill>
          <a:blip r:embed="rId2"/>
          <a:stretch>
            <a:fillRect/>
          </a:stretch>
        </p:blipFill>
        <p:spPr>
          <a:xfrm>
            <a:off x="0" y="6357770"/>
            <a:ext cx="2600688" cy="504895"/>
          </a:xfrm>
          <a:prstGeom prst="rect">
            <a:avLst/>
          </a:prstGeom>
        </p:spPr>
      </p:pic>
      <p:sp>
        <p:nvSpPr>
          <p:cNvPr id="3" name="Subtitle 2">
            <a:extLst>
              <a:ext uri="{FF2B5EF4-FFF2-40B4-BE49-F238E27FC236}">
                <a16:creationId xmlns:a16="http://schemas.microsoft.com/office/drawing/2014/main" id="{57CD4E8B-CA48-5966-4B4D-4D2E2CE49049}"/>
              </a:ext>
            </a:extLst>
          </p:cNvPr>
          <p:cNvSpPr txBox="1">
            <a:spLocks/>
          </p:cNvSpPr>
          <p:nvPr/>
        </p:nvSpPr>
        <p:spPr>
          <a:xfrm>
            <a:off x="7049730" y="6492875"/>
            <a:ext cx="573321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sp>
        <p:nvSpPr>
          <p:cNvPr id="4" name="Title 1">
            <a:extLst>
              <a:ext uri="{FF2B5EF4-FFF2-40B4-BE49-F238E27FC236}">
                <a16:creationId xmlns:a16="http://schemas.microsoft.com/office/drawing/2014/main" id="{64B3E80A-75EA-A506-B17E-B5CD7C3FB3C5}"/>
              </a:ext>
            </a:extLst>
          </p:cNvPr>
          <p:cNvSpPr>
            <a:spLocks noGrp="1"/>
          </p:cNvSpPr>
          <p:nvPr/>
        </p:nvSpPr>
        <p:spPr>
          <a:xfrm>
            <a:off x="149323" y="233488"/>
            <a:ext cx="2302042" cy="5395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sz="3200" b="1" dirty="0">
                <a:solidFill>
                  <a:srgbClr val="0070C0"/>
                </a:solidFill>
                <a:latin typeface="+mn-lt"/>
              </a:rPr>
              <a:t>System Flow</a:t>
            </a:r>
          </a:p>
        </p:txBody>
      </p:sp>
      <p:sp>
        <p:nvSpPr>
          <p:cNvPr id="5" name="Content Placeholder 2">
            <a:extLst>
              <a:ext uri="{FF2B5EF4-FFF2-40B4-BE49-F238E27FC236}">
                <a16:creationId xmlns:a16="http://schemas.microsoft.com/office/drawing/2014/main" id="{D35C0BFD-EAD4-6978-D121-384A621A68CE}"/>
              </a:ext>
            </a:extLst>
          </p:cNvPr>
          <p:cNvSpPr>
            <a:spLocks noGrp="1"/>
          </p:cNvSpPr>
          <p:nvPr/>
        </p:nvSpPr>
        <p:spPr>
          <a:xfrm>
            <a:off x="296779" y="946483"/>
            <a:ext cx="6752951" cy="4525963"/>
          </a:xfrm>
          <a:prstGeom prst="rect">
            <a:avLst/>
          </a:prstGeom>
        </p:spPr>
        <p:txBody>
          <a:bodyPr vert="horz" lIns="91440" tIns="45720" rIns="91440" bIns="45720" rtlCol="0">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200000"/>
              </a:lnSpc>
              <a:buFont typeface="Wingdings" panose="05000000000000000000" pitchFamily="2" charset="2"/>
              <a:buChar char="q"/>
            </a:pPr>
            <a:r>
              <a:rPr sz="2800" dirty="0"/>
              <a:t>Input captured from sensors or manual trigger</a:t>
            </a:r>
          </a:p>
          <a:p>
            <a:pPr>
              <a:lnSpc>
                <a:spcPct val="200000"/>
              </a:lnSpc>
              <a:buFont typeface="Wingdings" panose="05000000000000000000" pitchFamily="2" charset="2"/>
              <a:buChar char="q"/>
            </a:pPr>
            <a:r>
              <a:rPr sz="2800" dirty="0"/>
              <a:t>System continuously monitors conditions</a:t>
            </a:r>
          </a:p>
          <a:p>
            <a:pPr>
              <a:lnSpc>
                <a:spcPct val="200000"/>
              </a:lnSpc>
              <a:buFont typeface="Wingdings" panose="05000000000000000000" pitchFamily="2" charset="2"/>
              <a:buChar char="q"/>
            </a:pPr>
            <a:r>
              <a:rPr sz="2800" dirty="0"/>
              <a:t>Emergency condition identified</a:t>
            </a:r>
          </a:p>
          <a:p>
            <a:pPr>
              <a:lnSpc>
                <a:spcPct val="200000"/>
              </a:lnSpc>
              <a:buFont typeface="Wingdings" panose="05000000000000000000" pitchFamily="2" charset="2"/>
              <a:buChar char="q"/>
            </a:pPr>
            <a:r>
              <a:rPr sz="2800" dirty="0"/>
              <a:t>Alert is generated instantly</a:t>
            </a:r>
          </a:p>
          <a:p>
            <a:pPr>
              <a:lnSpc>
                <a:spcPct val="200000"/>
              </a:lnSpc>
              <a:buFont typeface="Wingdings" panose="05000000000000000000" pitchFamily="2" charset="2"/>
              <a:buChar char="q"/>
            </a:pPr>
            <a:r>
              <a:rPr sz="2800" dirty="0"/>
              <a:t>Notifications sent to relevant users</a:t>
            </a:r>
          </a:p>
          <a:p>
            <a:pPr marL="0" indent="0">
              <a:buNone/>
            </a:pPr>
            <a:endParaRPr sz="2800" dirty="0"/>
          </a:p>
        </p:txBody>
      </p:sp>
    </p:spTree>
    <p:extLst>
      <p:ext uri="{BB962C8B-B14F-4D97-AF65-F5344CB8AC3E}">
        <p14:creationId xmlns:p14="http://schemas.microsoft.com/office/powerpoint/2010/main" val="3364087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ABA488-4CC3-5100-CDB9-8EE869CABC1F}"/>
              </a:ext>
            </a:extLst>
          </p:cNvPr>
          <p:cNvSpPr txBox="1"/>
          <p:nvPr/>
        </p:nvSpPr>
        <p:spPr>
          <a:xfrm>
            <a:off x="698090" y="646837"/>
            <a:ext cx="6096000" cy="3682226"/>
          </a:xfrm>
          <a:prstGeom prst="rect">
            <a:avLst/>
          </a:prstGeom>
          <a:noFill/>
        </p:spPr>
        <p:txBody>
          <a:bodyPr wrap="square">
            <a:spAutoFit/>
          </a:bodyPr>
          <a:lstStyle/>
          <a:p>
            <a:pPr marL="285750" indent="-285750">
              <a:lnSpc>
                <a:spcPct val="200000"/>
              </a:lnSpc>
              <a:buFont typeface="Wingdings" panose="05000000000000000000" pitchFamily="2" charset="2"/>
              <a:buChar char="q"/>
            </a:pPr>
            <a:endParaRPr lang="en-US" sz="2400" dirty="0"/>
          </a:p>
          <a:p>
            <a:pPr marL="285750" indent="-285750">
              <a:lnSpc>
                <a:spcPct val="200000"/>
              </a:lnSpc>
              <a:buFont typeface="Wingdings" panose="05000000000000000000" pitchFamily="2" charset="2"/>
              <a:buChar char="q"/>
            </a:pPr>
            <a:r>
              <a:rPr lang="en-US" sz="2400" dirty="0"/>
              <a:t>Faster emergency response </a:t>
            </a:r>
          </a:p>
          <a:p>
            <a:pPr marL="285750" indent="-285750">
              <a:lnSpc>
                <a:spcPct val="200000"/>
              </a:lnSpc>
              <a:buFont typeface="Wingdings" panose="05000000000000000000" pitchFamily="2" charset="2"/>
              <a:buChar char="q"/>
            </a:pPr>
            <a:r>
              <a:rPr lang="en-US" sz="2400" dirty="0"/>
              <a:t>Improved safety for elderly individuals </a:t>
            </a:r>
          </a:p>
          <a:p>
            <a:pPr marL="285750" indent="-285750">
              <a:lnSpc>
                <a:spcPct val="200000"/>
              </a:lnSpc>
              <a:buFont typeface="Wingdings" panose="05000000000000000000" pitchFamily="2" charset="2"/>
              <a:buChar char="q"/>
            </a:pPr>
            <a:r>
              <a:rPr lang="en-US" sz="2400" dirty="0"/>
              <a:t>Reduced risk of serious injury </a:t>
            </a:r>
          </a:p>
          <a:p>
            <a:pPr marL="285750" indent="-285750">
              <a:lnSpc>
                <a:spcPct val="200000"/>
              </a:lnSpc>
              <a:buFont typeface="Wingdings" panose="05000000000000000000" pitchFamily="2" charset="2"/>
              <a:buChar char="q"/>
            </a:pPr>
            <a:r>
              <a:rPr lang="en-US" sz="2400" dirty="0"/>
              <a:t>Increased confidence for caregivers </a:t>
            </a:r>
          </a:p>
        </p:txBody>
      </p:sp>
      <p:sp>
        <p:nvSpPr>
          <p:cNvPr id="5" name="TextBox 4">
            <a:extLst>
              <a:ext uri="{FF2B5EF4-FFF2-40B4-BE49-F238E27FC236}">
                <a16:creationId xmlns:a16="http://schemas.microsoft.com/office/drawing/2014/main" id="{DFED49A4-8102-314B-624E-0734A59D2145}"/>
              </a:ext>
            </a:extLst>
          </p:cNvPr>
          <p:cNvSpPr txBox="1"/>
          <p:nvPr/>
        </p:nvSpPr>
        <p:spPr>
          <a:xfrm>
            <a:off x="698090" y="542921"/>
            <a:ext cx="6096000" cy="584775"/>
          </a:xfrm>
          <a:prstGeom prst="rect">
            <a:avLst/>
          </a:prstGeom>
          <a:noFill/>
        </p:spPr>
        <p:txBody>
          <a:bodyPr wrap="square">
            <a:spAutoFit/>
          </a:bodyPr>
          <a:lstStyle/>
          <a:p>
            <a:pPr>
              <a:buNone/>
            </a:pPr>
            <a:r>
              <a:rPr lang="en-US" sz="3200" b="1" dirty="0">
                <a:solidFill>
                  <a:srgbClr val="0070C0"/>
                </a:solidFill>
              </a:rPr>
              <a:t>Expected Outcome</a:t>
            </a:r>
          </a:p>
        </p:txBody>
      </p:sp>
      <p:pic>
        <p:nvPicPr>
          <p:cNvPr id="6" name="Picture 5">
            <a:extLst>
              <a:ext uri="{FF2B5EF4-FFF2-40B4-BE49-F238E27FC236}">
                <a16:creationId xmlns:a16="http://schemas.microsoft.com/office/drawing/2014/main" id="{18DC77E8-2EEC-8BFA-A8CD-BA1C16B0C066}"/>
              </a:ext>
            </a:extLst>
          </p:cNvPr>
          <p:cNvPicPr>
            <a:picLocks noChangeAspect="1"/>
          </p:cNvPicPr>
          <p:nvPr/>
        </p:nvPicPr>
        <p:blipFill>
          <a:blip r:embed="rId2"/>
          <a:stretch>
            <a:fillRect/>
          </a:stretch>
        </p:blipFill>
        <p:spPr>
          <a:xfrm>
            <a:off x="0" y="6357770"/>
            <a:ext cx="2600688" cy="504895"/>
          </a:xfrm>
          <a:prstGeom prst="rect">
            <a:avLst/>
          </a:prstGeom>
        </p:spPr>
      </p:pic>
      <p:sp>
        <p:nvSpPr>
          <p:cNvPr id="9" name="Subtitle 2">
            <a:extLst>
              <a:ext uri="{FF2B5EF4-FFF2-40B4-BE49-F238E27FC236}">
                <a16:creationId xmlns:a16="http://schemas.microsoft.com/office/drawing/2014/main" id="{34357B79-660C-000B-39EC-CB03D001988D}"/>
              </a:ext>
            </a:extLst>
          </p:cNvPr>
          <p:cNvSpPr txBox="1">
            <a:spLocks/>
          </p:cNvSpPr>
          <p:nvPr/>
        </p:nvSpPr>
        <p:spPr>
          <a:xfrm>
            <a:off x="7049730" y="6492875"/>
            <a:ext cx="5142270" cy="3651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IT21066948|  Kulathunga E D K M| R26-IT-051</a:t>
            </a:r>
          </a:p>
        </p:txBody>
      </p:sp>
      <p:pic>
        <p:nvPicPr>
          <p:cNvPr id="11" name="Picture 10">
            <a:extLst>
              <a:ext uri="{FF2B5EF4-FFF2-40B4-BE49-F238E27FC236}">
                <a16:creationId xmlns:a16="http://schemas.microsoft.com/office/drawing/2014/main" id="{E1B54667-794C-DB03-EED1-085D69DC0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9187" y="646837"/>
            <a:ext cx="5889522" cy="5503606"/>
          </a:xfrm>
          <a:prstGeom prst="rect">
            <a:avLst/>
          </a:prstGeom>
        </p:spPr>
      </p:pic>
    </p:spTree>
    <p:extLst>
      <p:ext uri="{BB962C8B-B14F-4D97-AF65-F5344CB8AC3E}">
        <p14:creationId xmlns:p14="http://schemas.microsoft.com/office/powerpoint/2010/main" val="1525686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4F134-17BD-DB65-DB81-C50AA9EC87F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B95FCF9-481A-80D7-488F-F1B9B4402764}"/>
              </a:ext>
            </a:extLst>
          </p:cNvPr>
          <p:cNvPicPr>
            <a:picLocks noChangeAspect="1"/>
          </p:cNvPicPr>
          <p:nvPr/>
        </p:nvPicPr>
        <p:blipFill>
          <a:blip r:embed="rId2"/>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8CFA8EE3-E785-0376-CDF6-1B6D5C7317A3}"/>
              </a:ext>
            </a:extLst>
          </p:cNvPr>
          <p:cNvSpPr txBox="1">
            <a:spLocks/>
          </p:cNvSpPr>
          <p:nvPr/>
        </p:nvSpPr>
        <p:spPr>
          <a:xfrm>
            <a:off x="7294466" y="6463847"/>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IT22227690|  Divyanjalie W.A.H| R26-IT-051</a:t>
            </a:r>
          </a:p>
        </p:txBody>
      </p:sp>
      <p:sp>
        <p:nvSpPr>
          <p:cNvPr id="7" name="TextBox 6">
            <a:extLst>
              <a:ext uri="{FF2B5EF4-FFF2-40B4-BE49-F238E27FC236}">
                <a16:creationId xmlns:a16="http://schemas.microsoft.com/office/drawing/2014/main" id="{5327E832-27BE-BB97-D845-04A4D9CE1C34}"/>
              </a:ext>
            </a:extLst>
          </p:cNvPr>
          <p:cNvSpPr txBox="1"/>
          <p:nvPr/>
        </p:nvSpPr>
        <p:spPr>
          <a:xfrm>
            <a:off x="1645920" y="1658143"/>
            <a:ext cx="8097012" cy="667683"/>
          </a:xfrm>
          <a:prstGeom prst="rect">
            <a:avLst/>
          </a:prstGeom>
          <a:noFill/>
        </p:spPr>
        <p:txBody>
          <a:bodyPr wrap="square">
            <a:spAutoFit/>
          </a:bodyPr>
          <a:lstStyle/>
          <a:p>
            <a:pPr marL="0" marR="0" lvl="0" indent="0" algn="ctr" rtl="0">
              <a:lnSpc>
                <a:spcPct val="110000"/>
              </a:lnSpc>
              <a:spcBef>
                <a:spcPts val="0"/>
              </a:spcBef>
              <a:spcAft>
                <a:spcPts val="0"/>
              </a:spcAft>
              <a:buNone/>
            </a:pPr>
            <a:r>
              <a:rPr lang="en-US" sz="3600" b="1" i="0" u="none" strike="noStrike" cap="none" dirty="0">
                <a:latin typeface="Urbanist"/>
                <a:ea typeface="Urbanist"/>
                <a:cs typeface="Urbanist"/>
                <a:sym typeface="Urbanist"/>
              </a:rPr>
              <a:t>Intelligent Monitoring Dashboard</a:t>
            </a:r>
            <a:endParaRPr lang="en-US" sz="3600" dirty="0"/>
          </a:p>
        </p:txBody>
      </p:sp>
      <p:sp>
        <p:nvSpPr>
          <p:cNvPr id="9" name="TextBox 8">
            <a:extLst>
              <a:ext uri="{FF2B5EF4-FFF2-40B4-BE49-F238E27FC236}">
                <a16:creationId xmlns:a16="http://schemas.microsoft.com/office/drawing/2014/main" id="{2B2E0EBD-32C3-A207-2DFC-C09876FF8381}"/>
              </a:ext>
            </a:extLst>
          </p:cNvPr>
          <p:cNvSpPr txBox="1"/>
          <p:nvPr/>
        </p:nvSpPr>
        <p:spPr>
          <a:xfrm>
            <a:off x="1155954" y="2325826"/>
            <a:ext cx="9880092" cy="463075"/>
          </a:xfrm>
          <a:prstGeom prst="rect">
            <a:avLst/>
          </a:prstGeom>
          <a:noFill/>
        </p:spPr>
        <p:txBody>
          <a:bodyPr wrap="square">
            <a:spAutoFit/>
          </a:bodyPr>
          <a:lstStyle/>
          <a:p>
            <a:pPr marL="0" marR="0" lvl="0" indent="0" rtl="0">
              <a:lnSpc>
                <a:spcPct val="150000"/>
              </a:lnSpc>
              <a:spcBef>
                <a:spcPts val="0"/>
              </a:spcBef>
              <a:spcAft>
                <a:spcPts val="0"/>
              </a:spcAft>
              <a:buNone/>
            </a:pPr>
            <a:r>
              <a:rPr lang="en-US" sz="1800" b="0" i="0" u="none" strike="noStrike" cap="none" dirty="0">
                <a:latin typeface="Urbanist"/>
                <a:ea typeface="Urbanist"/>
                <a:cs typeface="Urbanist"/>
                <a:sym typeface="Urbanist"/>
              </a:rPr>
              <a:t>Component 4: Advanced Visualization &amp; Decision Support System for Hospital Clinical Staff.</a:t>
            </a:r>
            <a:endParaRPr lang="en-US" dirty="0"/>
          </a:p>
        </p:txBody>
      </p:sp>
      <p:sp>
        <p:nvSpPr>
          <p:cNvPr id="11" name="TextBox 10">
            <a:extLst>
              <a:ext uri="{FF2B5EF4-FFF2-40B4-BE49-F238E27FC236}">
                <a16:creationId xmlns:a16="http://schemas.microsoft.com/office/drawing/2014/main" id="{EAB175B5-44DA-84EB-1873-209E2672DFBA}"/>
              </a:ext>
            </a:extLst>
          </p:cNvPr>
          <p:cNvSpPr txBox="1"/>
          <p:nvPr/>
        </p:nvSpPr>
        <p:spPr>
          <a:xfrm>
            <a:off x="-883191" y="5221054"/>
            <a:ext cx="6391656" cy="369332"/>
          </a:xfrm>
          <a:prstGeom prst="rect">
            <a:avLst/>
          </a:prstGeom>
          <a:noFill/>
        </p:spPr>
        <p:txBody>
          <a:bodyPr wrap="square">
            <a:spAutoFit/>
          </a:bodyPr>
          <a:lstStyle/>
          <a:p>
            <a:pPr marL="0" marR="0" lvl="0" indent="0" algn="ctr" rtl="0">
              <a:spcBef>
                <a:spcPts val="0"/>
              </a:spcBef>
              <a:spcAft>
                <a:spcPts val="0"/>
              </a:spcAft>
              <a:buNone/>
            </a:pPr>
            <a:r>
              <a:rPr lang="en-US" sz="1800" b="1" i="0" u="none" strike="noStrike" cap="none" dirty="0">
                <a:latin typeface="Urbanist Medium"/>
                <a:ea typeface="Urbanist Medium"/>
                <a:cs typeface="Urbanist Medium"/>
                <a:sym typeface="Urbanist Medium"/>
              </a:rPr>
              <a:t>Strategic Objective</a:t>
            </a:r>
            <a:endParaRPr lang="en-US" sz="1800" b="1" dirty="0"/>
          </a:p>
        </p:txBody>
      </p:sp>
      <p:sp>
        <p:nvSpPr>
          <p:cNvPr id="13" name="TextBox 12">
            <a:extLst>
              <a:ext uri="{FF2B5EF4-FFF2-40B4-BE49-F238E27FC236}">
                <a16:creationId xmlns:a16="http://schemas.microsoft.com/office/drawing/2014/main" id="{05968718-DBA7-8BD4-8F05-370AC7F0E24E}"/>
              </a:ext>
            </a:extLst>
          </p:cNvPr>
          <p:cNvSpPr txBox="1"/>
          <p:nvPr/>
        </p:nvSpPr>
        <p:spPr>
          <a:xfrm>
            <a:off x="897636" y="5590386"/>
            <a:ext cx="10396728" cy="380682"/>
          </a:xfrm>
          <a:prstGeom prst="rect">
            <a:avLst/>
          </a:prstGeom>
          <a:noFill/>
        </p:spPr>
        <p:txBody>
          <a:bodyPr wrap="square">
            <a:spAutoFit/>
          </a:bodyPr>
          <a:lstStyle/>
          <a:p>
            <a:pPr marL="0" marR="0" lvl="0" indent="0" algn="ctr" rtl="0">
              <a:lnSpc>
                <a:spcPct val="150000"/>
              </a:lnSpc>
              <a:spcBef>
                <a:spcPts val="0"/>
              </a:spcBef>
              <a:spcAft>
                <a:spcPts val="0"/>
              </a:spcAft>
              <a:buNone/>
            </a:pPr>
            <a:r>
              <a:rPr lang="en-US" sz="1400" b="0" i="0" u="none" strike="noStrike" cap="none" dirty="0">
                <a:latin typeface="Urbanist"/>
                <a:ea typeface="Urbanist"/>
                <a:cs typeface="Urbanist"/>
                <a:sym typeface="Urbanist"/>
              </a:rPr>
              <a:t>Bridging the gap between AI-driven Gait Analysis and actionable Clinical Intervention through a high-fidelity monitoring interface.</a:t>
            </a:r>
            <a:endParaRPr lang="en-US" sz="1400" dirty="0"/>
          </a:p>
        </p:txBody>
      </p:sp>
    </p:spTree>
    <p:extLst>
      <p:ext uri="{BB962C8B-B14F-4D97-AF65-F5344CB8AC3E}">
        <p14:creationId xmlns:p14="http://schemas.microsoft.com/office/powerpoint/2010/main" val="4072227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7EAC7-857D-315A-7CBB-D899883B62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175FE99-EC23-0138-A5F0-26CEE2443AE8}"/>
              </a:ext>
            </a:extLst>
          </p:cNvPr>
          <p:cNvPicPr>
            <a:picLocks noChangeAspect="1"/>
          </p:cNvPicPr>
          <p:nvPr/>
        </p:nvPicPr>
        <p:blipFill>
          <a:blip r:embed="rId2"/>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CA0DBF13-25FC-D014-646C-C6702AE14C84}"/>
              </a:ext>
            </a:extLst>
          </p:cNvPr>
          <p:cNvSpPr txBox="1">
            <a:spLocks/>
          </p:cNvSpPr>
          <p:nvPr/>
        </p:nvSpPr>
        <p:spPr>
          <a:xfrm>
            <a:off x="7170381" y="6393016"/>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IT22227690|  Divyanjalie W.A.H | R26-IT-051</a:t>
            </a:r>
          </a:p>
        </p:txBody>
      </p:sp>
      <p:sp>
        <p:nvSpPr>
          <p:cNvPr id="3" name="TextBox 2">
            <a:extLst>
              <a:ext uri="{FF2B5EF4-FFF2-40B4-BE49-F238E27FC236}">
                <a16:creationId xmlns:a16="http://schemas.microsoft.com/office/drawing/2014/main" id="{770BC2E4-1916-37C7-6A85-4658230BFE16}"/>
              </a:ext>
            </a:extLst>
          </p:cNvPr>
          <p:cNvSpPr txBox="1"/>
          <p:nvPr/>
        </p:nvSpPr>
        <p:spPr>
          <a:xfrm>
            <a:off x="326009" y="1532781"/>
            <a:ext cx="6394450" cy="523220"/>
          </a:xfrm>
          <a:prstGeom prst="rect">
            <a:avLst/>
          </a:prstGeom>
          <a:noFill/>
        </p:spPr>
        <p:txBody>
          <a:bodyPr wrap="square">
            <a:spAutoFit/>
          </a:bodyPr>
          <a:lstStyle/>
          <a:p>
            <a:pPr marL="0" marR="0" lvl="0" indent="0" algn="l" rtl="0">
              <a:spcBef>
                <a:spcPts val="0"/>
              </a:spcBef>
              <a:spcAft>
                <a:spcPts val="0"/>
              </a:spcAft>
              <a:buNone/>
            </a:pPr>
            <a:r>
              <a:rPr lang="en-US" sz="2800" b="1" i="0" u="none" strike="noStrike" cap="none" dirty="0">
                <a:latin typeface="Urbanist Medium"/>
                <a:ea typeface="Urbanist Medium"/>
                <a:cs typeface="Urbanist Medium"/>
                <a:sym typeface="Urbanist Medium"/>
              </a:rPr>
              <a:t>Primary User: Hospital Staff</a:t>
            </a:r>
            <a:endParaRPr lang="en-US" sz="2800" b="1" dirty="0"/>
          </a:p>
        </p:txBody>
      </p:sp>
      <p:pic>
        <p:nvPicPr>
          <p:cNvPr id="6" name="Google Shape;106;p15" descr="image.png">
            <a:extLst>
              <a:ext uri="{FF2B5EF4-FFF2-40B4-BE49-F238E27FC236}">
                <a16:creationId xmlns:a16="http://schemas.microsoft.com/office/drawing/2014/main" id="{0F708F6A-9F27-3CA5-9755-B80E0A689D50}"/>
              </a:ext>
            </a:extLst>
          </p:cNvPr>
          <p:cNvPicPr preferRelativeResize="0"/>
          <p:nvPr/>
        </p:nvPicPr>
        <p:blipFill rotWithShape="1">
          <a:blip r:embed="rId3">
            <a:alphaModFix/>
          </a:blip>
          <a:srcRect/>
          <a:stretch/>
        </p:blipFill>
        <p:spPr>
          <a:xfrm>
            <a:off x="6096000" y="1794391"/>
            <a:ext cx="5219700" cy="3790950"/>
          </a:xfrm>
          <a:prstGeom prst="rect">
            <a:avLst/>
          </a:prstGeom>
          <a:noFill/>
          <a:ln>
            <a:noFill/>
          </a:ln>
        </p:spPr>
      </p:pic>
      <p:sp>
        <p:nvSpPr>
          <p:cNvPr id="8" name="Google Shape;101;p15">
            <a:extLst>
              <a:ext uri="{FF2B5EF4-FFF2-40B4-BE49-F238E27FC236}">
                <a16:creationId xmlns:a16="http://schemas.microsoft.com/office/drawing/2014/main" id="{112C6E94-A5FC-181B-CAF0-D4A29C9ABDF9}"/>
              </a:ext>
            </a:extLst>
          </p:cNvPr>
          <p:cNvSpPr txBox="1"/>
          <p:nvPr/>
        </p:nvSpPr>
        <p:spPr>
          <a:xfrm>
            <a:off x="571500" y="2885182"/>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latin typeface="Urbanist"/>
                <a:ea typeface="Urbanist"/>
                <a:cs typeface="Urbanist"/>
                <a:sym typeface="Urbanist"/>
              </a:rPr>
              <a:t>Designed for Clinicians</a:t>
            </a:r>
            <a:endParaRPr dirty="0"/>
          </a:p>
        </p:txBody>
      </p:sp>
      <p:sp>
        <p:nvSpPr>
          <p:cNvPr id="10" name="Google Shape;102;p15">
            <a:extLst>
              <a:ext uri="{FF2B5EF4-FFF2-40B4-BE49-F238E27FC236}">
                <a16:creationId xmlns:a16="http://schemas.microsoft.com/office/drawing/2014/main" id="{0F60BF30-435E-1A18-856D-BA5DBCDA4C29}"/>
              </a:ext>
            </a:extLst>
          </p:cNvPr>
          <p:cNvSpPr txBox="1"/>
          <p:nvPr/>
        </p:nvSpPr>
        <p:spPr>
          <a:xfrm>
            <a:off x="809625" y="3351907"/>
            <a:ext cx="500062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latin typeface="Urbanist"/>
                <a:ea typeface="Urbanist"/>
                <a:cs typeface="Urbanist"/>
                <a:sym typeface="Urbanist"/>
              </a:rPr>
              <a:t>Real-time monitoring of multiple patient wards.</a:t>
            </a:r>
            <a:endParaRPr dirty="0"/>
          </a:p>
        </p:txBody>
      </p:sp>
      <p:sp>
        <p:nvSpPr>
          <p:cNvPr id="12" name="Google Shape;103;p15">
            <a:extLst>
              <a:ext uri="{FF2B5EF4-FFF2-40B4-BE49-F238E27FC236}">
                <a16:creationId xmlns:a16="http://schemas.microsoft.com/office/drawing/2014/main" id="{D40272AE-23A3-D269-8CDD-DFABD15877A6}"/>
              </a:ext>
            </a:extLst>
          </p:cNvPr>
          <p:cNvSpPr txBox="1"/>
          <p:nvPr/>
        </p:nvSpPr>
        <p:spPr>
          <a:xfrm>
            <a:off x="809625" y="3740497"/>
            <a:ext cx="500062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latin typeface="Urbanist"/>
                <a:ea typeface="Urbanist"/>
                <a:cs typeface="Urbanist"/>
                <a:sym typeface="Urbanist"/>
              </a:rPr>
              <a:t>Detailed Gait parameters for professional diagnosis.</a:t>
            </a:r>
            <a:endParaRPr dirty="0"/>
          </a:p>
        </p:txBody>
      </p:sp>
      <p:sp>
        <p:nvSpPr>
          <p:cNvPr id="14" name="Google Shape;104;p15">
            <a:extLst>
              <a:ext uri="{FF2B5EF4-FFF2-40B4-BE49-F238E27FC236}">
                <a16:creationId xmlns:a16="http://schemas.microsoft.com/office/drawing/2014/main" id="{896AD227-617C-B9D9-616A-9823BE2822D3}"/>
              </a:ext>
            </a:extLst>
          </p:cNvPr>
          <p:cNvSpPr txBox="1"/>
          <p:nvPr/>
        </p:nvSpPr>
        <p:spPr>
          <a:xfrm>
            <a:off x="809625" y="4129087"/>
            <a:ext cx="500062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latin typeface="Urbanist"/>
                <a:ea typeface="Urbanist"/>
                <a:cs typeface="Urbanist"/>
                <a:sym typeface="Urbanist"/>
              </a:rPr>
              <a:t>High-priority visual and audible alerts for fall risks.</a:t>
            </a:r>
            <a:endParaRPr dirty="0"/>
          </a:p>
        </p:txBody>
      </p:sp>
      <p:sp>
        <p:nvSpPr>
          <p:cNvPr id="15" name="Google Shape;105;p15">
            <a:extLst>
              <a:ext uri="{FF2B5EF4-FFF2-40B4-BE49-F238E27FC236}">
                <a16:creationId xmlns:a16="http://schemas.microsoft.com/office/drawing/2014/main" id="{40A24541-5AC6-16DA-2EB2-FDFC7FAC86B2}"/>
              </a:ext>
            </a:extLst>
          </p:cNvPr>
          <p:cNvSpPr txBox="1"/>
          <p:nvPr/>
        </p:nvSpPr>
        <p:spPr>
          <a:xfrm>
            <a:off x="809625" y="4517677"/>
            <a:ext cx="500062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latin typeface="Urbanist"/>
                <a:ea typeface="Urbanist"/>
                <a:cs typeface="Urbanist"/>
                <a:sym typeface="Urbanist"/>
              </a:rPr>
              <a:t>Intuitive design to reduce cognitive load on nurses.</a:t>
            </a:r>
            <a:endParaRPr dirty="0"/>
          </a:p>
        </p:txBody>
      </p:sp>
      <p:sp>
        <p:nvSpPr>
          <p:cNvPr id="16" name="Google Shape;107;p15">
            <a:extLst>
              <a:ext uri="{FF2B5EF4-FFF2-40B4-BE49-F238E27FC236}">
                <a16:creationId xmlns:a16="http://schemas.microsoft.com/office/drawing/2014/main" id="{4B75E527-2C71-B87F-FADC-678A1A5A27F0}"/>
              </a:ext>
            </a:extLst>
          </p:cNvPr>
          <p:cNvSpPr txBox="1"/>
          <p:nvPr/>
        </p:nvSpPr>
        <p:spPr>
          <a:xfrm>
            <a:off x="571500" y="3304282"/>
            <a:ext cx="381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latin typeface="Urbanist"/>
                <a:ea typeface="Urbanist"/>
                <a:cs typeface="Urbanist"/>
                <a:sym typeface="Urbanist"/>
              </a:rPr>
              <a:t>•</a:t>
            </a:r>
            <a:endParaRPr/>
          </a:p>
        </p:txBody>
      </p:sp>
      <p:sp>
        <p:nvSpPr>
          <p:cNvPr id="17" name="Google Shape;110;p15">
            <a:extLst>
              <a:ext uri="{FF2B5EF4-FFF2-40B4-BE49-F238E27FC236}">
                <a16:creationId xmlns:a16="http://schemas.microsoft.com/office/drawing/2014/main" id="{DC0567CA-4618-569A-6CCE-AE97CF336C44}"/>
              </a:ext>
            </a:extLst>
          </p:cNvPr>
          <p:cNvSpPr txBox="1"/>
          <p:nvPr/>
        </p:nvSpPr>
        <p:spPr>
          <a:xfrm>
            <a:off x="571500" y="4470052"/>
            <a:ext cx="381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latin typeface="Urbanist"/>
                <a:ea typeface="Urbanist"/>
                <a:cs typeface="Urbanist"/>
                <a:sym typeface="Urbanist"/>
              </a:rPr>
              <a:t>•</a:t>
            </a:r>
            <a:endParaRPr dirty="0"/>
          </a:p>
        </p:txBody>
      </p:sp>
      <p:sp>
        <p:nvSpPr>
          <p:cNvPr id="19" name="TextBox 18">
            <a:extLst>
              <a:ext uri="{FF2B5EF4-FFF2-40B4-BE49-F238E27FC236}">
                <a16:creationId xmlns:a16="http://schemas.microsoft.com/office/drawing/2014/main" id="{AE4F917F-027E-B861-50DD-131BBDB26404}"/>
              </a:ext>
            </a:extLst>
          </p:cNvPr>
          <p:cNvSpPr txBox="1"/>
          <p:nvPr/>
        </p:nvSpPr>
        <p:spPr>
          <a:xfrm>
            <a:off x="483870" y="3645237"/>
            <a:ext cx="6393180" cy="483850"/>
          </a:xfrm>
          <a:prstGeom prst="rect">
            <a:avLst/>
          </a:prstGeom>
          <a:noFill/>
        </p:spPr>
        <p:txBody>
          <a:bodyPr wrap="square">
            <a:spAutoFit/>
          </a:bodyPr>
          <a:lstStyle/>
          <a:p>
            <a:pPr marL="0" marR="0" lvl="0" indent="0" algn="l" rtl="0">
              <a:lnSpc>
                <a:spcPct val="159944"/>
              </a:lnSpc>
              <a:spcBef>
                <a:spcPts val="0"/>
              </a:spcBef>
              <a:spcAft>
                <a:spcPts val="0"/>
              </a:spcAft>
              <a:buNone/>
            </a:pPr>
            <a:r>
              <a:rPr lang="en-US" sz="1800" b="0" i="0" u="none" strike="noStrike" cap="none" dirty="0">
                <a:latin typeface="Urbanist"/>
                <a:ea typeface="Urbanist"/>
                <a:cs typeface="Urbanist"/>
                <a:sym typeface="Urbanist"/>
              </a:rPr>
              <a:t>•</a:t>
            </a:r>
            <a:endParaRPr lang="en-US" dirty="0"/>
          </a:p>
        </p:txBody>
      </p:sp>
      <p:sp>
        <p:nvSpPr>
          <p:cNvPr id="21" name="TextBox 20">
            <a:extLst>
              <a:ext uri="{FF2B5EF4-FFF2-40B4-BE49-F238E27FC236}">
                <a16:creationId xmlns:a16="http://schemas.microsoft.com/office/drawing/2014/main" id="{6532EB6D-143C-1D9A-B986-9FDF4D045DC9}"/>
              </a:ext>
            </a:extLst>
          </p:cNvPr>
          <p:cNvSpPr txBox="1"/>
          <p:nvPr/>
        </p:nvSpPr>
        <p:spPr>
          <a:xfrm>
            <a:off x="483870" y="4010967"/>
            <a:ext cx="6393180" cy="483850"/>
          </a:xfrm>
          <a:prstGeom prst="rect">
            <a:avLst/>
          </a:prstGeom>
          <a:noFill/>
        </p:spPr>
        <p:txBody>
          <a:bodyPr wrap="square">
            <a:spAutoFit/>
          </a:bodyPr>
          <a:lstStyle/>
          <a:p>
            <a:pPr marL="0" marR="0" lvl="0" indent="0" algn="l" rtl="0">
              <a:lnSpc>
                <a:spcPct val="159944"/>
              </a:lnSpc>
              <a:spcBef>
                <a:spcPts val="0"/>
              </a:spcBef>
              <a:spcAft>
                <a:spcPts val="0"/>
              </a:spcAft>
              <a:buNone/>
            </a:pPr>
            <a:r>
              <a:rPr lang="en-US" sz="1800" b="0" i="0" u="none" strike="noStrike" cap="none" dirty="0">
                <a:latin typeface="Urbanist"/>
                <a:ea typeface="Urbanist"/>
                <a:cs typeface="Urbanist"/>
                <a:sym typeface="Urbanist"/>
              </a:rPr>
              <a:t>•</a:t>
            </a:r>
            <a:endParaRPr lang="en-US" dirty="0"/>
          </a:p>
        </p:txBody>
      </p:sp>
    </p:spTree>
    <p:extLst>
      <p:ext uri="{BB962C8B-B14F-4D97-AF65-F5344CB8AC3E}">
        <p14:creationId xmlns:p14="http://schemas.microsoft.com/office/powerpoint/2010/main" val="662627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F04E5-A795-4FF3-FC7B-64675592C1A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618204-AEF5-D894-F29E-35CB73C860E2}"/>
              </a:ext>
            </a:extLst>
          </p:cNvPr>
          <p:cNvPicPr>
            <a:picLocks noChangeAspect="1"/>
          </p:cNvPicPr>
          <p:nvPr/>
        </p:nvPicPr>
        <p:blipFill>
          <a:blip r:embed="rId3"/>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9593C1EB-9458-7EA8-1166-FAAF93F8D045}"/>
              </a:ext>
            </a:extLst>
          </p:cNvPr>
          <p:cNvSpPr txBox="1">
            <a:spLocks/>
          </p:cNvSpPr>
          <p:nvPr/>
        </p:nvSpPr>
        <p:spPr>
          <a:xfrm>
            <a:off x="7294466" y="6463847"/>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IT22227690|  Divyanjalie W.A.H| R26-IT-051</a:t>
            </a:r>
          </a:p>
        </p:txBody>
      </p:sp>
      <p:sp>
        <p:nvSpPr>
          <p:cNvPr id="3" name="TextBox 2">
            <a:extLst>
              <a:ext uri="{FF2B5EF4-FFF2-40B4-BE49-F238E27FC236}">
                <a16:creationId xmlns:a16="http://schemas.microsoft.com/office/drawing/2014/main" id="{2CBEBEE2-C544-D6DB-5837-041EA2F742EF}"/>
              </a:ext>
            </a:extLst>
          </p:cNvPr>
          <p:cNvSpPr txBox="1"/>
          <p:nvPr/>
        </p:nvSpPr>
        <p:spPr>
          <a:xfrm>
            <a:off x="177800" y="1269976"/>
            <a:ext cx="6299200" cy="523220"/>
          </a:xfrm>
          <a:prstGeom prst="rect">
            <a:avLst/>
          </a:prstGeom>
          <a:noFill/>
        </p:spPr>
        <p:txBody>
          <a:bodyPr wrap="square">
            <a:spAutoFit/>
          </a:bodyPr>
          <a:lstStyle/>
          <a:p>
            <a:pPr marL="0" marR="0" lvl="0" indent="0" algn="l" rtl="0">
              <a:spcBef>
                <a:spcPts val="0"/>
              </a:spcBef>
              <a:spcAft>
                <a:spcPts val="0"/>
              </a:spcAft>
              <a:buNone/>
            </a:pPr>
            <a:r>
              <a:rPr lang="en-US" sz="2800" b="1" i="0" u="none" strike="noStrike" cap="none" dirty="0">
                <a:latin typeface="Urbanist Medium"/>
                <a:ea typeface="Urbanist Medium"/>
                <a:cs typeface="Urbanist Medium"/>
                <a:sym typeface="Urbanist Medium"/>
              </a:rPr>
              <a:t>Centralized Ward View</a:t>
            </a:r>
            <a:endParaRPr lang="en-US" sz="2800" b="1" dirty="0"/>
          </a:p>
        </p:txBody>
      </p:sp>
      <p:pic>
        <p:nvPicPr>
          <p:cNvPr id="6" name="Google Shape;140;p17" descr="image.png">
            <a:extLst>
              <a:ext uri="{FF2B5EF4-FFF2-40B4-BE49-F238E27FC236}">
                <a16:creationId xmlns:a16="http://schemas.microsoft.com/office/drawing/2014/main" id="{A92DF760-441C-B457-5F5C-3FCA5D9126A9}"/>
              </a:ext>
            </a:extLst>
          </p:cNvPr>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10" name="TextBox 9">
            <a:extLst>
              <a:ext uri="{FF2B5EF4-FFF2-40B4-BE49-F238E27FC236}">
                <a16:creationId xmlns:a16="http://schemas.microsoft.com/office/drawing/2014/main" id="{A0C202C7-8278-3433-0035-42F171AFFFC4}"/>
              </a:ext>
            </a:extLst>
          </p:cNvPr>
          <p:cNvSpPr txBox="1"/>
          <p:nvPr/>
        </p:nvSpPr>
        <p:spPr>
          <a:xfrm>
            <a:off x="44450" y="2352395"/>
            <a:ext cx="6299200" cy="3235629"/>
          </a:xfrm>
          <a:prstGeom prst="rect">
            <a:avLst/>
          </a:prstGeom>
          <a:noFill/>
        </p:spPr>
        <p:txBody>
          <a:bodyPr wrap="square">
            <a:spAutoFit/>
          </a:bodyPr>
          <a:lstStyle/>
          <a:p>
            <a:pPr marL="285750" marR="0" lvl="0" indent="-285750" algn="l" rtl="0">
              <a:lnSpc>
                <a:spcPct val="150000"/>
              </a:lnSpc>
              <a:spcBef>
                <a:spcPts val="0"/>
              </a:spcBef>
              <a:spcAft>
                <a:spcPts val="0"/>
              </a:spcAft>
              <a:buClr>
                <a:schemeClr val="tx1"/>
              </a:buClr>
              <a:buFont typeface="Wingdings" panose="05000000000000000000" pitchFamily="2" charset="2"/>
              <a:buChar char="§"/>
            </a:pPr>
            <a:r>
              <a:rPr lang="en-US" sz="1700" b="0" i="0" u="none" strike="noStrike" cap="none" dirty="0">
                <a:latin typeface="Urbanist"/>
                <a:ea typeface="Urbanist"/>
                <a:cs typeface="Urbanist"/>
                <a:sym typeface="Urbanist"/>
              </a:rPr>
              <a:t>The ward-level monitoring interface allows nursing staff to oversee all patients simultaneously. </a:t>
            </a:r>
          </a:p>
          <a:p>
            <a:pPr marR="0" lvl="0" algn="l" rtl="0">
              <a:lnSpc>
                <a:spcPct val="150000"/>
              </a:lnSpc>
              <a:spcBef>
                <a:spcPts val="0"/>
              </a:spcBef>
              <a:spcAft>
                <a:spcPts val="0"/>
              </a:spcAft>
              <a:buClr>
                <a:schemeClr val="tx1"/>
              </a:buClr>
            </a:pPr>
            <a:endParaRPr lang="en-US" sz="1800" dirty="0">
              <a:latin typeface="Urbanist"/>
              <a:ea typeface="Urbanist"/>
              <a:cs typeface="Urbanist"/>
              <a:sym typeface="Urbanist"/>
            </a:endParaRPr>
          </a:p>
          <a:p>
            <a:pPr marL="285750" marR="0" lvl="0" indent="-285750" algn="l" rtl="0">
              <a:lnSpc>
                <a:spcPct val="150000"/>
              </a:lnSpc>
              <a:spcBef>
                <a:spcPts val="0"/>
              </a:spcBef>
              <a:spcAft>
                <a:spcPts val="0"/>
              </a:spcAft>
              <a:buClr>
                <a:schemeClr val="tx1"/>
              </a:buClr>
              <a:buFont typeface="Wingdings" panose="05000000000000000000" pitchFamily="2" charset="2"/>
              <a:buChar char="§"/>
            </a:pPr>
            <a:r>
              <a:rPr lang="en-US" sz="1700" b="0" i="0" u="none" strike="noStrike" cap="none" dirty="0">
                <a:latin typeface="Urbanist"/>
                <a:ea typeface="Urbanist"/>
                <a:cs typeface="Urbanist"/>
                <a:sym typeface="Urbanist"/>
              </a:rPr>
              <a:t>High-risk candidates are automatically moved to the top of the grid with distinct visual warnings.</a:t>
            </a:r>
          </a:p>
          <a:p>
            <a:pPr marL="285750" marR="0" lvl="0" indent="-285750" algn="l" rtl="0">
              <a:lnSpc>
                <a:spcPct val="150000"/>
              </a:lnSpc>
              <a:spcBef>
                <a:spcPts val="0"/>
              </a:spcBef>
              <a:spcAft>
                <a:spcPts val="0"/>
              </a:spcAft>
              <a:buClr>
                <a:schemeClr val="tx1"/>
              </a:buClr>
              <a:buFont typeface="Wingdings" panose="05000000000000000000" pitchFamily="2" charset="2"/>
              <a:buChar char="§"/>
            </a:pPr>
            <a:endParaRPr lang="en-US" sz="1800" b="0" i="0" u="none" strike="noStrike" cap="none" dirty="0">
              <a:latin typeface="Urbanist"/>
              <a:ea typeface="Urbanist"/>
              <a:cs typeface="Urbanist"/>
              <a:sym typeface="Urbanist"/>
            </a:endParaRPr>
          </a:p>
          <a:p>
            <a:pPr marL="285750" indent="-285750">
              <a:lnSpc>
                <a:spcPct val="150000"/>
              </a:lnSpc>
              <a:buClr>
                <a:schemeClr val="tx1"/>
              </a:buClr>
              <a:buFont typeface="Wingdings" panose="05000000000000000000" pitchFamily="2" charset="2"/>
              <a:buChar char="§"/>
            </a:pPr>
            <a:r>
              <a:rPr lang="en-US" sz="1700" dirty="0">
                <a:latin typeface="Urbanist"/>
                <a:ea typeface="Urbanist"/>
                <a:cs typeface="Urbanist"/>
                <a:sym typeface="Urbanist"/>
              </a:rPr>
              <a:t>Eliminating the need for manual hourly checks, the system provides 24/7 proactive surveillance.</a:t>
            </a:r>
            <a:endParaRPr lang="en-US" sz="1700" dirty="0"/>
          </a:p>
        </p:txBody>
      </p:sp>
    </p:spTree>
    <p:extLst>
      <p:ext uri="{BB962C8B-B14F-4D97-AF65-F5344CB8AC3E}">
        <p14:creationId xmlns:p14="http://schemas.microsoft.com/office/powerpoint/2010/main" val="2700453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566EA-7CAB-6972-F35D-0FD7EC8E9BD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C3D2F4-5FE0-511B-5344-2CB0A8B8C434}"/>
              </a:ext>
            </a:extLst>
          </p:cNvPr>
          <p:cNvPicPr>
            <a:picLocks noChangeAspect="1"/>
          </p:cNvPicPr>
          <p:nvPr/>
        </p:nvPicPr>
        <p:blipFill>
          <a:blip r:embed="rId3"/>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27376E0A-FD89-5E95-34C7-0DA39156B478}"/>
              </a:ext>
            </a:extLst>
          </p:cNvPr>
          <p:cNvSpPr txBox="1">
            <a:spLocks/>
          </p:cNvSpPr>
          <p:nvPr/>
        </p:nvSpPr>
        <p:spPr>
          <a:xfrm>
            <a:off x="7294466" y="6463847"/>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IT22227690|  Divyanjalie W.A.H| R26-IT-051</a:t>
            </a:r>
          </a:p>
        </p:txBody>
      </p:sp>
      <p:sp>
        <p:nvSpPr>
          <p:cNvPr id="3" name="TextBox 2">
            <a:extLst>
              <a:ext uri="{FF2B5EF4-FFF2-40B4-BE49-F238E27FC236}">
                <a16:creationId xmlns:a16="http://schemas.microsoft.com/office/drawing/2014/main" id="{A23E739C-D61F-175D-8F54-61F40F17FDA1}"/>
              </a:ext>
            </a:extLst>
          </p:cNvPr>
          <p:cNvSpPr txBox="1"/>
          <p:nvPr/>
        </p:nvSpPr>
        <p:spPr>
          <a:xfrm>
            <a:off x="4144866" y="804383"/>
            <a:ext cx="6299200" cy="523220"/>
          </a:xfrm>
          <a:prstGeom prst="rect">
            <a:avLst/>
          </a:prstGeom>
          <a:noFill/>
        </p:spPr>
        <p:txBody>
          <a:bodyPr wrap="square">
            <a:spAutoFit/>
          </a:bodyPr>
          <a:lstStyle/>
          <a:p>
            <a:pPr marL="0" marR="0" lvl="0" indent="0" algn="l" rtl="0">
              <a:spcBef>
                <a:spcPts val="0"/>
              </a:spcBef>
              <a:spcAft>
                <a:spcPts val="0"/>
              </a:spcAft>
              <a:buNone/>
            </a:pPr>
            <a:r>
              <a:rPr lang="en-US" sz="2800" b="1" i="0" u="none" strike="noStrike" cap="none" dirty="0">
                <a:latin typeface="Urbanist Medium"/>
                <a:ea typeface="Urbanist Medium"/>
                <a:cs typeface="Urbanist Medium"/>
                <a:sym typeface="Urbanist Medium"/>
              </a:rPr>
              <a:t>Core Dashboard Pillars</a:t>
            </a:r>
            <a:endParaRPr lang="en-US" sz="2800" b="1" dirty="0"/>
          </a:p>
        </p:txBody>
      </p:sp>
      <p:pic>
        <p:nvPicPr>
          <p:cNvPr id="21" name="Google Shape;117;p16" descr="image.png">
            <a:extLst>
              <a:ext uri="{FF2B5EF4-FFF2-40B4-BE49-F238E27FC236}">
                <a16:creationId xmlns:a16="http://schemas.microsoft.com/office/drawing/2014/main" id="{865CC7C0-1F58-5018-FC6F-BC55333B0AFB}"/>
              </a:ext>
            </a:extLst>
          </p:cNvPr>
          <p:cNvPicPr preferRelativeResize="0"/>
          <p:nvPr/>
        </p:nvPicPr>
        <p:blipFill rotWithShape="1">
          <a:blip r:embed="rId4">
            <a:alphaModFix/>
          </a:blip>
          <a:srcRect/>
          <a:stretch/>
        </p:blipFill>
        <p:spPr>
          <a:xfrm>
            <a:off x="571500" y="2438400"/>
            <a:ext cx="3492549" cy="2914650"/>
          </a:xfrm>
          <a:prstGeom prst="rect">
            <a:avLst/>
          </a:prstGeom>
          <a:noFill/>
          <a:ln>
            <a:noFill/>
          </a:ln>
        </p:spPr>
      </p:pic>
      <p:pic>
        <p:nvPicPr>
          <p:cNvPr id="22" name="Google Shape;118;p16" descr="image.png">
            <a:extLst>
              <a:ext uri="{FF2B5EF4-FFF2-40B4-BE49-F238E27FC236}">
                <a16:creationId xmlns:a16="http://schemas.microsoft.com/office/drawing/2014/main" id="{1882F9A2-816D-DBB2-B119-8598D93E2D36}"/>
              </a:ext>
            </a:extLst>
          </p:cNvPr>
          <p:cNvPicPr preferRelativeResize="0"/>
          <p:nvPr/>
        </p:nvPicPr>
        <p:blipFill rotWithShape="1">
          <a:blip r:embed="rId5">
            <a:alphaModFix/>
          </a:blip>
          <a:srcRect/>
          <a:stretch/>
        </p:blipFill>
        <p:spPr>
          <a:xfrm>
            <a:off x="4349799" y="2438400"/>
            <a:ext cx="3492549" cy="2914650"/>
          </a:xfrm>
          <a:prstGeom prst="rect">
            <a:avLst/>
          </a:prstGeom>
          <a:noFill/>
          <a:ln>
            <a:noFill/>
          </a:ln>
        </p:spPr>
      </p:pic>
      <p:pic>
        <p:nvPicPr>
          <p:cNvPr id="23" name="Google Shape;119;p16" descr="image.png">
            <a:extLst>
              <a:ext uri="{FF2B5EF4-FFF2-40B4-BE49-F238E27FC236}">
                <a16:creationId xmlns:a16="http://schemas.microsoft.com/office/drawing/2014/main" id="{7F3D76BA-B0FD-55D8-4796-9E44FD11AC66}"/>
              </a:ext>
            </a:extLst>
          </p:cNvPr>
          <p:cNvPicPr preferRelativeResize="0"/>
          <p:nvPr/>
        </p:nvPicPr>
        <p:blipFill rotWithShape="1">
          <a:blip r:embed="rId6">
            <a:alphaModFix/>
          </a:blip>
          <a:srcRect/>
          <a:stretch/>
        </p:blipFill>
        <p:spPr>
          <a:xfrm>
            <a:off x="8128099" y="2438400"/>
            <a:ext cx="3492549" cy="2914650"/>
          </a:xfrm>
          <a:prstGeom prst="rect">
            <a:avLst/>
          </a:prstGeom>
          <a:noFill/>
          <a:ln>
            <a:noFill/>
          </a:ln>
        </p:spPr>
      </p:pic>
      <p:pic>
        <p:nvPicPr>
          <p:cNvPr id="24" name="Google Shape;120;p16" descr="image.png">
            <a:extLst>
              <a:ext uri="{FF2B5EF4-FFF2-40B4-BE49-F238E27FC236}">
                <a16:creationId xmlns:a16="http://schemas.microsoft.com/office/drawing/2014/main" id="{456A2413-95C4-F8F8-4633-7869796B192A}"/>
              </a:ext>
            </a:extLst>
          </p:cNvPr>
          <p:cNvPicPr preferRelativeResize="0"/>
          <p:nvPr/>
        </p:nvPicPr>
        <p:blipFill rotWithShape="1">
          <a:blip r:embed="rId7">
            <a:alphaModFix/>
          </a:blip>
          <a:srcRect/>
          <a:stretch/>
        </p:blipFill>
        <p:spPr>
          <a:xfrm>
            <a:off x="962025" y="2828925"/>
            <a:ext cx="571500" cy="571500"/>
          </a:xfrm>
          <a:prstGeom prst="rect">
            <a:avLst/>
          </a:prstGeom>
          <a:noFill/>
          <a:ln>
            <a:noFill/>
          </a:ln>
        </p:spPr>
      </p:pic>
      <p:sp>
        <p:nvSpPr>
          <p:cNvPr id="25" name="Google Shape;121;p16">
            <a:extLst>
              <a:ext uri="{FF2B5EF4-FFF2-40B4-BE49-F238E27FC236}">
                <a16:creationId xmlns:a16="http://schemas.microsoft.com/office/drawing/2014/main" id="{92657CBF-F3CE-4E8A-7BD2-8E164486027B}"/>
              </a:ext>
            </a:extLst>
          </p:cNvPr>
          <p:cNvSpPr txBox="1"/>
          <p:nvPr/>
        </p:nvSpPr>
        <p:spPr>
          <a:xfrm>
            <a:off x="962025" y="3638550"/>
            <a:ext cx="2847074"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DEFF9A"/>
                </a:solidFill>
                <a:latin typeface="Urbanist"/>
                <a:ea typeface="Urbanist"/>
                <a:cs typeface="Urbanist"/>
                <a:sym typeface="Urbanist"/>
              </a:rPr>
              <a:t>Live Risk Meter</a:t>
            </a:r>
            <a:endParaRPr dirty="0"/>
          </a:p>
        </p:txBody>
      </p:sp>
      <p:sp>
        <p:nvSpPr>
          <p:cNvPr id="26" name="Google Shape;122;p16">
            <a:extLst>
              <a:ext uri="{FF2B5EF4-FFF2-40B4-BE49-F238E27FC236}">
                <a16:creationId xmlns:a16="http://schemas.microsoft.com/office/drawing/2014/main" id="{73804A31-5AFF-B138-A9DB-EB88E82231F2}"/>
              </a:ext>
            </a:extLst>
          </p:cNvPr>
          <p:cNvSpPr txBox="1"/>
          <p:nvPr/>
        </p:nvSpPr>
        <p:spPr>
          <a:xfrm>
            <a:off x="962025" y="4105275"/>
            <a:ext cx="2711499"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DAFFDE"/>
                </a:solidFill>
                <a:latin typeface="Urbanist"/>
                <a:ea typeface="Urbanist"/>
                <a:cs typeface="Urbanist"/>
                <a:sym typeface="Urbanist"/>
              </a:rPr>
              <a:t>Real-time probability score derived from Single-Sensor IMU data streams.</a:t>
            </a:r>
            <a:endParaRPr dirty="0"/>
          </a:p>
        </p:txBody>
      </p:sp>
      <p:pic>
        <p:nvPicPr>
          <p:cNvPr id="27" name="Google Shape;123;p16" descr="image.png">
            <a:extLst>
              <a:ext uri="{FF2B5EF4-FFF2-40B4-BE49-F238E27FC236}">
                <a16:creationId xmlns:a16="http://schemas.microsoft.com/office/drawing/2014/main" id="{CF31F12D-7203-9B43-1C23-DE0C6F6F9714}"/>
              </a:ext>
            </a:extLst>
          </p:cNvPr>
          <p:cNvPicPr preferRelativeResize="0"/>
          <p:nvPr/>
        </p:nvPicPr>
        <p:blipFill rotWithShape="1">
          <a:blip r:embed="rId8">
            <a:alphaModFix/>
          </a:blip>
          <a:srcRect/>
          <a:stretch/>
        </p:blipFill>
        <p:spPr>
          <a:xfrm>
            <a:off x="4740324" y="2828925"/>
            <a:ext cx="571500" cy="571500"/>
          </a:xfrm>
          <a:prstGeom prst="rect">
            <a:avLst/>
          </a:prstGeom>
          <a:noFill/>
          <a:ln>
            <a:noFill/>
          </a:ln>
        </p:spPr>
      </p:pic>
      <p:sp>
        <p:nvSpPr>
          <p:cNvPr id="28" name="Google Shape;124;p16">
            <a:extLst>
              <a:ext uri="{FF2B5EF4-FFF2-40B4-BE49-F238E27FC236}">
                <a16:creationId xmlns:a16="http://schemas.microsoft.com/office/drawing/2014/main" id="{BC375A87-00C5-114A-0178-BA0D0F757E94}"/>
              </a:ext>
            </a:extLst>
          </p:cNvPr>
          <p:cNvSpPr txBox="1"/>
          <p:nvPr/>
        </p:nvSpPr>
        <p:spPr>
          <a:xfrm>
            <a:off x="4740324" y="3638550"/>
            <a:ext cx="2847074"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DEFF9A"/>
                </a:solidFill>
                <a:latin typeface="Urbanist"/>
                <a:ea typeface="Urbanist"/>
                <a:cs typeface="Urbanist"/>
                <a:sym typeface="Urbanist"/>
              </a:rPr>
              <a:t>Gait Analytics</a:t>
            </a:r>
            <a:endParaRPr dirty="0"/>
          </a:p>
        </p:txBody>
      </p:sp>
      <p:sp>
        <p:nvSpPr>
          <p:cNvPr id="29" name="Google Shape;125;p16">
            <a:extLst>
              <a:ext uri="{FF2B5EF4-FFF2-40B4-BE49-F238E27FC236}">
                <a16:creationId xmlns:a16="http://schemas.microsoft.com/office/drawing/2014/main" id="{EB40104F-8075-7DAA-0410-6AD7B602D5EA}"/>
              </a:ext>
            </a:extLst>
          </p:cNvPr>
          <p:cNvSpPr txBox="1"/>
          <p:nvPr/>
        </p:nvSpPr>
        <p:spPr>
          <a:xfrm>
            <a:off x="4740324" y="4105275"/>
            <a:ext cx="2711499"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DAFFDE"/>
                </a:solidFill>
                <a:latin typeface="Urbanist"/>
                <a:ea typeface="Urbanist"/>
                <a:cs typeface="Urbanist"/>
                <a:sym typeface="Urbanist"/>
              </a:rPr>
              <a:t>Visualization of Tilt, Balance, and Speed metrics for clinical deep-dives.</a:t>
            </a:r>
            <a:endParaRPr/>
          </a:p>
        </p:txBody>
      </p:sp>
      <p:pic>
        <p:nvPicPr>
          <p:cNvPr id="30" name="Google Shape;126;p16" descr="image.png">
            <a:extLst>
              <a:ext uri="{FF2B5EF4-FFF2-40B4-BE49-F238E27FC236}">
                <a16:creationId xmlns:a16="http://schemas.microsoft.com/office/drawing/2014/main" id="{B577E004-8EBB-0C65-3EEE-ABD779E0DCBC}"/>
              </a:ext>
            </a:extLst>
          </p:cNvPr>
          <p:cNvPicPr preferRelativeResize="0"/>
          <p:nvPr/>
        </p:nvPicPr>
        <p:blipFill rotWithShape="1">
          <a:blip r:embed="rId9">
            <a:alphaModFix/>
          </a:blip>
          <a:srcRect/>
          <a:stretch/>
        </p:blipFill>
        <p:spPr>
          <a:xfrm>
            <a:off x="8518624" y="2828925"/>
            <a:ext cx="571500" cy="571500"/>
          </a:xfrm>
          <a:prstGeom prst="rect">
            <a:avLst/>
          </a:prstGeom>
          <a:noFill/>
          <a:ln>
            <a:noFill/>
          </a:ln>
        </p:spPr>
      </p:pic>
      <p:sp>
        <p:nvSpPr>
          <p:cNvPr id="31" name="Google Shape;127;p16">
            <a:extLst>
              <a:ext uri="{FF2B5EF4-FFF2-40B4-BE49-F238E27FC236}">
                <a16:creationId xmlns:a16="http://schemas.microsoft.com/office/drawing/2014/main" id="{2ACCCAE8-9382-FC6B-5401-BAFAA4C895AC}"/>
              </a:ext>
            </a:extLst>
          </p:cNvPr>
          <p:cNvSpPr txBox="1"/>
          <p:nvPr/>
        </p:nvSpPr>
        <p:spPr>
          <a:xfrm>
            <a:off x="8518624" y="3638550"/>
            <a:ext cx="2847074"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XAI Engine</a:t>
            </a:r>
            <a:endParaRPr/>
          </a:p>
        </p:txBody>
      </p:sp>
      <p:sp>
        <p:nvSpPr>
          <p:cNvPr id="32" name="Google Shape;128;p16">
            <a:extLst>
              <a:ext uri="{FF2B5EF4-FFF2-40B4-BE49-F238E27FC236}">
                <a16:creationId xmlns:a16="http://schemas.microsoft.com/office/drawing/2014/main" id="{F7443D10-9810-4024-3BE0-95AC04675688}"/>
              </a:ext>
            </a:extLst>
          </p:cNvPr>
          <p:cNvSpPr txBox="1"/>
          <p:nvPr/>
        </p:nvSpPr>
        <p:spPr>
          <a:xfrm>
            <a:off x="8518624" y="4105275"/>
            <a:ext cx="2711499"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DAFFDE"/>
                </a:solidFill>
                <a:latin typeface="Urbanist"/>
                <a:ea typeface="Urbanist"/>
                <a:cs typeface="Urbanist"/>
                <a:sym typeface="Urbanist"/>
              </a:rPr>
              <a:t>Explainable AI insights providing the "Why" behind every high-risk prediction.</a:t>
            </a:r>
            <a:endParaRPr/>
          </a:p>
        </p:txBody>
      </p:sp>
      <p:pic>
        <p:nvPicPr>
          <p:cNvPr id="33" name="Google Shape;129;p16" descr="image.png">
            <a:extLst>
              <a:ext uri="{FF2B5EF4-FFF2-40B4-BE49-F238E27FC236}">
                <a16:creationId xmlns:a16="http://schemas.microsoft.com/office/drawing/2014/main" id="{39055F4D-392E-7262-29C1-7EA7F3AB97D5}"/>
              </a:ext>
            </a:extLst>
          </p:cNvPr>
          <p:cNvPicPr preferRelativeResize="0"/>
          <p:nvPr/>
        </p:nvPicPr>
        <p:blipFill rotWithShape="1">
          <a:blip r:embed="rId10">
            <a:alphaModFix/>
          </a:blip>
          <a:srcRect/>
          <a:stretch/>
        </p:blipFill>
        <p:spPr>
          <a:xfrm>
            <a:off x="1133475" y="3000375"/>
            <a:ext cx="228600" cy="228600"/>
          </a:xfrm>
          <a:prstGeom prst="rect">
            <a:avLst/>
          </a:prstGeom>
          <a:noFill/>
          <a:ln>
            <a:noFill/>
          </a:ln>
        </p:spPr>
      </p:pic>
      <p:pic>
        <p:nvPicPr>
          <p:cNvPr id="34" name="Google Shape;130;p16" descr="image.png">
            <a:extLst>
              <a:ext uri="{FF2B5EF4-FFF2-40B4-BE49-F238E27FC236}">
                <a16:creationId xmlns:a16="http://schemas.microsoft.com/office/drawing/2014/main" id="{F053ECCE-B8EA-1C86-CF5D-BB67A764F2C5}"/>
              </a:ext>
            </a:extLst>
          </p:cNvPr>
          <p:cNvPicPr preferRelativeResize="0"/>
          <p:nvPr/>
        </p:nvPicPr>
        <p:blipFill rotWithShape="1">
          <a:blip r:embed="rId11">
            <a:alphaModFix/>
          </a:blip>
          <a:srcRect/>
          <a:stretch/>
        </p:blipFill>
        <p:spPr>
          <a:xfrm>
            <a:off x="4911774" y="3000375"/>
            <a:ext cx="228600" cy="228600"/>
          </a:xfrm>
          <a:prstGeom prst="rect">
            <a:avLst/>
          </a:prstGeom>
          <a:noFill/>
          <a:ln>
            <a:noFill/>
          </a:ln>
        </p:spPr>
      </p:pic>
      <p:pic>
        <p:nvPicPr>
          <p:cNvPr id="35" name="Google Shape;131;p16" descr="image.png">
            <a:extLst>
              <a:ext uri="{FF2B5EF4-FFF2-40B4-BE49-F238E27FC236}">
                <a16:creationId xmlns:a16="http://schemas.microsoft.com/office/drawing/2014/main" id="{D8F288B2-A71B-33E6-5D01-147D35358224}"/>
              </a:ext>
            </a:extLst>
          </p:cNvPr>
          <p:cNvPicPr preferRelativeResize="0"/>
          <p:nvPr/>
        </p:nvPicPr>
        <p:blipFill rotWithShape="1">
          <a:blip r:embed="rId12">
            <a:alphaModFix/>
          </a:blip>
          <a:srcRect/>
          <a:stretch/>
        </p:blipFill>
        <p:spPr>
          <a:xfrm>
            <a:off x="8675786" y="3000375"/>
            <a:ext cx="257175" cy="228600"/>
          </a:xfrm>
          <a:prstGeom prst="rect">
            <a:avLst/>
          </a:prstGeom>
          <a:noFill/>
          <a:ln>
            <a:noFill/>
          </a:ln>
        </p:spPr>
      </p:pic>
    </p:spTree>
    <p:extLst>
      <p:ext uri="{BB962C8B-B14F-4D97-AF65-F5344CB8AC3E}">
        <p14:creationId xmlns:p14="http://schemas.microsoft.com/office/powerpoint/2010/main" val="18906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CAA40-A441-3D3C-2304-9E014D38B59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E8D1A9-2197-FD20-0A97-39CB59150C41}"/>
              </a:ext>
            </a:extLst>
          </p:cNvPr>
          <p:cNvPicPr>
            <a:picLocks noChangeAspect="1"/>
          </p:cNvPicPr>
          <p:nvPr/>
        </p:nvPicPr>
        <p:blipFill>
          <a:blip r:embed="rId3"/>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C04DF202-4881-DB47-80CE-827D62FF41F7}"/>
              </a:ext>
            </a:extLst>
          </p:cNvPr>
          <p:cNvSpPr txBox="1">
            <a:spLocks/>
          </p:cNvSpPr>
          <p:nvPr/>
        </p:nvSpPr>
        <p:spPr>
          <a:xfrm>
            <a:off x="7294466" y="6463847"/>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IT22227690|  Divyanjalie W.A.H| R26-IT-051</a:t>
            </a:r>
          </a:p>
        </p:txBody>
      </p:sp>
      <p:pic>
        <p:nvPicPr>
          <p:cNvPr id="6" name="Picture 5">
            <a:extLst>
              <a:ext uri="{FF2B5EF4-FFF2-40B4-BE49-F238E27FC236}">
                <a16:creationId xmlns:a16="http://schemas.microsoft.com/office/drawing/2014/main" id="{E94CA98B-8AC5-325A-0517-F33B5D1BD8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845" y="131544"/>
            <a:ext cx="10150310" cy="6332303"/>
          </a:xfrm>
          <a:prstGeom prst="rect">
            <a:avLst/>
          </a:prstGeom>
        </p:spPr>
      </p:pic>
    </p:spTree>
    <p:extLst>
      <p:ext uri="{BB962C8B-B14F-4D97-AF65-F5344CB8AC3E}">
        <p14:creationId xmlns:p14="http://schemas.microsoft.com/office/powerpoint/2010/main" val="3007544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D2984-F1AE-BCF4-DC11-FC984F698EE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7E6868-4C2B-1BF6-5226-9329DE9EA2A0}"/>
              </a:ext>
            </a:extLst>
          </p:cNvPr>
          <p:cNvPicPr>
            <a:picLocks noChangeAspect="1"/>
          </p:cNvPicPr>
          <p:nvPr/>
        </p:nvPicPr>
        <p:blipFill>
          <a:blip r:embed="rId2"/>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0179B449-F820-C871-79B6-9EB03787E88A}"/>
              </a:ext>
            </a:extLst>
          </p:cNvPr>
          <p:cNvSpPr txBox="1">
            <a:spLocks/>
          </p:cNvSpPr>
          <p:nvPr/>
        </p:nvSpPr>
        <p:spPr>
          <a:xfrm>
            <a:off x="7294466" y="6463847"/>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t>IT22227690|  Divyanjalie W.A.H| R26-IT-051</a:t>
            </a:r>
            <a:endParaRPr lang="en-US" sz="2000" b="1" dirty="0"/>
          </a:p>
        </p:txBody>
      </p:sp>
      <p:pic>
        <p:nvPicPr>
          <p:cNvPr id="10" name="Picture 9">
            <a:extLst>
              <a:ext uri="{FF2B5EF4-FFF2-40B4-BE49-F238E27FC236}">
                <a16:creationId xmlns:a16="http://schemas.microsoft.com/office/drawing/2014/main" id="{0896C40F-631B-194F-BF35-E58C504A9C17}"/>
              </a:ext>
            </a:extLst>
          </p:cNvPr>
          <p:cNvPicPr>
            <a:picLocks noChangeAspect="1"/>
          </p:cNvPicPr>
          <p:nvPr/>
        </p:nvPicPr>
        <p:blipFill>
          <a:blip r:embed="rId3"/>
          <a:stretch>
            <a:fillRect/>
          </a:stretch>
        </p:blipFill>
        <p:spPr>
          <a:xfrm>
            <a:off x="2266820" y="885185"/>
            <a:ext cx="7658359" cy="4647832"/>
          </a:xfrm>
          <a:prstGeom prst="rect">
            <a:avLst/>
          </a:prstGeom>
        </p:spPr>
      </p:pic>
    </p:spTree>
    <p:extLst>
      <p:ext uri="{BB962C8B-B14F-4D97-AF65-F5344CB8AC3E}">
        <p14:creationId xmlns:p14="http://schemas.microsoft.com/office/powerpoint/2010/main" val="3423486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C6E9-5A41-683E-EA36-CAC2648778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26643F9-4E23-7951-E1F8-98994494BB25}"/>
              </a:ext>
            </a:extLst>
          </p:cNvPr>
          <p:cNvPicPr>
            <a:picLocks noChangeAspect="1"/>
          </p:cNvPicPr>
          <p:nvPr/>
        </p:nvPicPr>
        <p:blipFill>
          <a:blip r:embed="rId3"/>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7F06EEAF-5C3E-29EC-4F51-94E45E3391C3}"/>
              </a:ext>
            </a:extLst>
          </p:cNvPr>
          <p:cNvSpPr txBox="1">
            <a:spLocks/>
          </p:cNvSpPr>
          <p:nvPr/>
        </p:nvSpPr>
        <p:spPr>
          <a:xfrm>
            <a:off x="7294466" y="6463847"/>
            <a:ext cx="5299787"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IT22227690|  Divyanjalie W.A.H| R26-IT-051</a:t>
            </a:r>
          </a:p>
        </p:txBody>
      </p:sp>
      <p:pic>
        <p:nvPicPr>
          <p:cNvPr id="3" name="Picture 2">
            <a:extLst>
              <a:ext uri="{FF2B5EF4-FFF2-40B4-BE49-F238E27FC236}">
                <a16:creationId xmlns:a16="http://schemas.microsoft.com/office/drawing/2014/main" id="{9D9B91A0-7F29-0AB1-CB13-DD792D3810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3909"/>
            <a:ext cx="12192000" cy="6650182"/>
          </a:xfrm>
          <a:prstGeom prst="rect">
            <a:avLst/>
          </a:prstGeom>
        </p:spPr>
      </p:pic>
    </p:spTree>
    <p:extLst>
      <p:ext uri="{BB962C8B-B14F-4D97-AF65-F5344CB8AC3E}">
        <p14:creationId xmlns:p14="http://schemas.microsoft.com/office/powerpoint/2010/main" val="3960358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a:extLst>
            <a:ext uri="{FF2B5EF4-FFF2-40B4-BE49-F238E27FC236}">
              <a16:creationId xmlns:a16="http://schemas.microsoft.com/office/drawing/2014/main" id="{6D919BA4-3B2E-677A-D8F1-2409E2B0721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CF82F2-D737-B39E-57BA-056BF909CBC3}"/>
              </a:ext>
            </a:extLst>
          </p:cNvPr>
          <p:cNvPicPr>
            <a:picLocks noChangeAspect="1"/>
          </p:cNvPicPr>
          <p:nvPr/>
        </p:nvPicPr>
        <p:blipFill>
          <a:blip r:embed="rId3"/>
          <a:stretch>
            <a:fillRect/>
          </a:stretch>
        </p:blipFill>
        <p:spPr>
          <a:xfrm>
            <a:off x="0" y="6357770"/>
            <a:ext cx="2600688" cy="504895"/>
          </a:xfrm>
          <a:prstGeom prst="rect">
            <a:avLst/>
          </a:prstGeom>
        </p:spPr>
      </p:pic>
      <p:sp>
        <p:nvSpPr>
          <p:cNvPr id="5" name="Subtitle 2">
            <a:extLst>
              <a:ext uri="{FF2B5EF4-FFF2-40B4-BE49-F238E27FC236}">
                <a16:creationId xmlns:a16="http://schemas.microsoft.com/office/drawing/2014/main" id="{34BEEA03-2261-76A0-F78F-F08471663F91}"/>
              </a:ext>
            </a:extLst>
          </p:cNvPr>
          <p:cNvSpPr txBox="1">
            <a:spLocks/>
          </p:cNvSpPr>
          <p:nvPr/>
        </p:nvSpPr>
        <p:spPr>
          <a:xfrm>
            <a:off x="10868791" y="6495395"/>
            <a:ext cx="1624466" cy="52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R26-IT-051</a:t>
            </a:r>
          </a:p>
        </p:txBody>
      </p:sp>
      <p:sp>
        <p:nvSpPr>
          <p:cNvPr id="2" name="Subtitle 2">
            <a:extLst>
              <a:ext uri="{FF2B5EF4-FFF2-40B4-BE49-F238E27FC236}">
                <a16:creationId xmlns:a16="http://schemas.microsoft.com/office/drawing/2014/main" id="{D99A7382-5AD2-53BC-468C-5F8A7334AF35}"/>
              </a:ext>
            </a:extLst>
          </p:cNvPr>
          <p:cNvSpPr txBox="1">
            <a:spLocks/>
          </p:cNvSpPr>
          <p:nvPr/>
        </p:nvSpPr>
        <p:spPr>
          <a:xfrm>
            <a:off x="4342323" y="2244797"/>
            <a:ext cx="5299787" cy="8877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b="1" dirty="0"/>
              <a:t>Thank You</a:t>
            </a:r>
          </a:p>
        </p:txBody>
      </p:sp>
      <p:sp>
        <p:nvSpPr>
          <p:cNvPr id="8" name="TextBox 5">
            <a:extLst>
              <a:ext uri="{FF2B5EF4-FFF2-40B4-BE49-F238E27FC236}">
                <a16:creationId xmlns:a16="http://schemas.microsoft.com/office/drawing/2014/main" id="{2D3CC837-BB98-1EA2-2C22-E1CDF9B10ACA}"/>
              </a:ext>
            </a:extLst>
          </p:cNvPr>
          <p:cNvSpPr txBox="1"/>
          <p:nvPr/>
        </p:nvSpPr>
        <p:spPr>
          <a:xfrm rot="16200000">
            <a:off x="6785781" y="-4215918"/>
            <a:ext cx="4285608" cy="18718836"/>
          </a:xfrm>
          <a:prstGeom prst="rect">
            <a:avLst/>
          </a:prstGeom>
        </p:spPr>
        <p:txBody>
          <a:bodyPr lIns="50800" tIns="50800" rIns="50800" bIns="50800" rtlCol="0" anchor="ctr"/>
          <a:lstStyle/>
          <a:p>
            <a:pPr algn="ctr">
              <a:lnSpc>
                <a:spcPts val="2659"/>
              </a:lnSpc>
              <a:spcBef>
                <a:spcPct val="0"/>
              </a:spcBef>
            </a:pPr>
            <a:endParaRPr/>
          </a:p>
        </p:txBody>
      </p:sp>
    </p:spTree>
    <p:extLst>
      <p:ext uri="{BB962C8B-B14F-4D97-AF65-F5344CB8AC3E}">
        <p14:creationId xmlns:p14="http://schemas.microsoft.com/office/powerpoint/2010/main" val="4034290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4B5B827-8F15-48E6-B047-B3BA66DC5555}"/>
</file>

<file path=customXml/itemProps2.xml><?xml version="1.0" encoding="utf-8"?>
<ds:datastoreItem xmlns:ds="http://schemas.openxmlformats.org/officeDocument/2006/customXml" ds:itemID="{A36332B1-A5AF-4157-B8D7-4F389A2868D2}"/>
</file>

<file path=customXml/itemProps3.xml><?xml version="1.0" encoding="utf-8"?>
<ds:datastoreItem xmlns:ds="http://schemas.openxmlformats.org/officeDocument/2006/customXml" ds:itemID="{22EED9F3-B19A-4395-8A48-904CD5CBCBEC}"/>
</file>

<file path=docProps/app.xml><?xml version="1.0" encoding="utf-8"?>
<Properties xmlns="http://schemas.openxmlformats.org/officeDocument/2006/extended-properties" xmlns:vt="http://schemas.openxmlformats.org/officeDocument/2006/docPropsVTypes">
  <Template>Wisp</Template>
  <TotalTime>4977</TotalTime>
  <Words>1822</Words>
  <Application>Microsoft Office PowerPoint</Application>
  <PresentationFormat>Widescreen</PresentationFormat>
  <Paragraphs>231</Paragraphs>
  <Slides>34</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Calibri Light</vt:lpstr>
      <vt:lpstr>Canva Sans Bold</vt:lpstr>
      <vt:lpstr>Times New Roman</vt:lpstr>
      <vt:lpstr>Urbanist</vt:lpstr>
      <vt:lpstr>Urbanist Medium</vt:lpstr>
      <vt:lpstr>Wingdings</vt:lpstr>
      <vt:lpstr>Office Theme</vt:lpstr>
      <vt:lpstr>Multimodal Intelligent Fall Monitoring System for  Elderly Care</vt:lpstr>
      <vt:lpstr>Main Components </vt:lpstr>
      <vt:lpstr>TEAM</vt:lpstr>
      <vt:lpstr>Comments received &amp; Improvements </vt:lpstr>
      <vt:lpstr>Context-Aware Activity Recognition for Elderly  Fall Risk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Intelligent Fall Monitoring System for  Elderly Care</dc:title>
  <dc:creator>Kavindya Chathuri</dc:creator>
  <cp:lastModifiedBy>Kavindya Chathuri</cp:lastModifiedBy>
  <cp:revision>30</cp:revision>
  <dcterms:created xsi:type="dcterms:W3CDTF">2026-05-03T04:59:51Z</dcterms:created>
  <dcterms:modified xsi:type="dcterms:W3CDTF">2026-05-26T02:45:38Z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